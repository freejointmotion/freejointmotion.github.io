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64" r:id="rId2"/>
    <p:sldId id="263" r:id="rId3"/>
    <p:sldId id="257" r:id="rId4"/>
    <p:sldId id="258" r:id="rId5"/>
    <p:sldId id="265" r:id="rId6"/>
    <p:sldId id="259" r:id="rId7"/>
    <p:sldId id="271" r:id="rId8"/>
    <p:sldId id="260" r:id="rId9"/>
    <p:sldId id="267" r:id="rId10"/>
    <p:sldId id="268" r:id="rId11"/>
    <p:sldId id="274" r:id="rId12"/>
    <p:sldId id="269" r:id="rId13"/>
    <p:sldId id="266" r:id="rId14"/>
    <p:sldId id="277" r:id="rId15"/>
    <p:sldId id="278" r:id="rId16"/>
    <p:sldId id="262" r:id="rId17"/>
    <p:sldId id="273" r:id="rId18"/>
    <p:sldId id="276"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7A0134-D896-4C6D-BCAE-24C5947D6F6E}" v="92" dt="2022-06-30T21:01:21.732"/>
    <p1510:client id="{268DC7A1-385C-F058-8729-F2DCF8776033}" v="208" dt="2022-06-30T21:52:14.192"/>
    <p1510:client id="{2BEC2632-26BD-E060-2633-F5AFE09C79E8}" v="567" dt="2022-06-27T23:14:02.082"/>
    <p1510:client id="{312879B8-D5F2-2EF3-D349-678D7493B051}" v="10" dt="2022-06-26T19:18:18.848"/>
    <p1510:client id="{3D257DB3-A73B-6ED2-73EB-6BEFBC222287}" v="276" dt="2022-06-30T18:54:49.070"/>
    <p1510:client id="{6315DAFD-4A05-FC77-2652-8F564ECC6E68}" v="39" dt="2022-06-29T00:17:27.354"/>
    <p1510:client id="{74A26391-4846-BDDE-3A58-D0DFC37B1C3E}" v="1574" dt="2022-06-26T18:53:27.228"/>
    <p1510:client id="{9451F394-B58E-1FFC-183B-932930A5351C}" v="78" dt="2022-06-28T00:06:30.508"/>
    <p1510:client id="{A5C7E105-80BE-440F-A13F-19C618901275}" v="11" dt="2022-06-22T23:29:02.420"/>
    <p1510:client id="{AFFFFF08-408B-9D61-046D-FD8B170B2D08}" v="7" dt="2022-06-26T18:36:34.021"/>
    <p1510:client id="{CEE8CB16-EFA6-E2F1-480C-23AAD2F8671A}" v="748" dt="2022-06-27T18:47:27.293"/>
    <p1510:client id="{D85E06DC-7AD2-10A4-C8C9-D900717EEE4D}" v="125" dt="2022-06-27T23:10:31.092"/>
    <p1510:client id="{DFA83EB2-BF66-4428-92EF-FE9E7036CB96}" v="4" dt="2022-06-27T01:28:00.296"/>
    <p1510:client id="{FC836713-2CA5-C4C9-CFA9-411583AA7274}" v="641" dt="2022-06-30T17:24:10.489"/>
    <p1510:client id="{FE60075E-8C6C-6742-FD03-9F1693A953B7}" v="380" dt="2022-06-26T02:02:55.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2"/>
  </p:normalViewPr>
  <p:slideViewPr>
    <p:cSldViewPr snapToGrid="0">
      <p:cViewPr varScale="1">
        <p:scale>
          <a:sx n="77" d="100"/>
          <a:sy n="77" d="100"/>
        </p:scale>
        <p:origin x="62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7DE576-EDCE-43BB-9DB5-507B49EF1689}"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3F1DB61-3669-45DF-9852-EDCDB1E1A309}">
      <dgm:prSet/>
      <dgm:spPr/>
      <dgm:t>
        <a:bodyPr/>
        <a:lstStyle/>
        <a:p>
          <a:r>
            <a:rPr lang="en-US"/>
            <a:t>Mission centered around the promotion and education of athletic training</a:t>
          </a:r>
        </a:p>
      </dgm:t>
    </dgm:pt>
    <dgm:pt modelId="{62887D32-4A9A-4FB8-AF05-221D0517B96A}" type="parTrans" cxnId="{12363E46-47A9-4631-B050-7C71624EBDFD}">
      <dgm:prSet/>
      <dgm:spPr/>
      <dgm:t>
        <a:bodyPr/>
        <a:lstStyle/>
        <a:p>
          <a:endParaRPr lang="en-US"/>
        </a:p>
      </dgm:t>
    </dgm:pt>
    <dgm:pt modelId="{C7041DF5-1E4B-47DE-A8A7-6A66336C087A}" type="sibTrans" cxnId="{12363E46-47A9-4631-B050-7C71624EBDFD}">
      <dgm:prSet/>
      <dgm:spPr/>
      <dgm:t>
        <a:bodyPr/>
        <a:lstStyle/>
        <a:p>
          <a:endParaRPr lang="en-US"/>
        </a:p>
      </dgm:t>
    </dgm:pt>
    <dgm:pt modelId="{5D14CCD4-823F-4BAA-8839-28266CE99D3B}">
      <dgm:prSet/>
      <dgm:spPr/>
      <dgm:t>
        <a:bodyPr/>
        <a:lstStyle/>
        <a:p>
          <a:r>
            <a:rPr lang="en-US"/>
            <a:t>Provide high quality healthcare to the National Football League</a:t>
          </a:r>
        </a:p>
      </dgm:t>
    </dgm:pt>
    <dgm:pt modelId="{CF2307E3-451B-4557-8A5C-E115D6C0DA63}" type="parTrans" cxnId="{37E06710-9950-4210-808B-28C04EDA5906}">
      <dgm:prSet/>
      <dgm:spPr/>
      <dgm:t>
        <a:bodyPr/>
        <a:lstStyle/>
        <a:p>
          <a:endParaRPr lang="en-US"/>
        </a:p>
      </dgm:t>
    </dgm:pt>
    <dgm:pt modelId="{31EE9670-69B5-4371-B40E-910FA23C605B}" type="sibTrans" cxnId="{37E06710-9950-4210-808B-28C04EDA5906}">
      <dgm:prSet/>
      <dgm:spPr/>
      <dgm:t>
        <a:bodyPr/>
        <a:lstStyle/>
        <a:p>
          <a:endParaRPr lang="en-US"/>
        </a:p>
      </dgm:t>
    </dgm:pt>
    <dgm:pt modelId="{3234EEB6-FAB4-43C9-BB62-474F9040797A}">
      <dgm:prSet/>
      <dgm:spPr/>
      <dgm:t>
        <a:bodyPr/>
        <a:lstStyle/>
        <a:p>
          <a:r>
            <a:rPr lang="en-US"/>
            <a:t>Always looking to the newest technology and resources to advance the certified athletic trainer profession</a:t>
          </a:r>
        </a:p>
      </dgm:t>
    </dgm:pt>
    <dgm:pt modelId="{0A068E89-B5A9-45D4-B1FB-F3DB92964EB8}" type="parTrans" cxnId="{E3FDEC56-D820-45BC-9A92-EAF6634D5737}">
      <dgm:prSet/>
      <dgm:spPr/>
      <dgm:t>
        <a:bodyPr/>
        <a:lstStyle/>
        <a:p>
          <a:endParaRPr lang="en-US"/>
        </a:p>
      </dgm:t>
    </dgm:pt>
    <dgm:pt modelId="{A7987C0F-5979-4673-AC19-E9969590C406}" type="sibTrans" cxnId="{E3FDEC56-D820-45BC-9A92-EAF6634D5737}">
      <dgm:prSet/>
      <dgm:spPr/>
      <dgm:t>
        <a:bodyPr/>
        <a:lstStyle/>
        <a:p>
          <a:endParaRPr lang="en-US"/>
        </a:p>
      </dgm:t>
    </dgm:pt>
    <dgm:pt modelId="{8E999029-F419-47A5-9B32-6F3458DD0E0C}">
      <dgm:prSet/>
      <dgm:spPr/>
      <dgm:t>
        <a:bodyPr/>
        <a:lstStyle/>
        <a:p>
          <a:r>
            <a:rPr lang="en-US"/>
            <a:t>Currently partners with Alert Services Sports Medicine, KT Tape (Kinesiology Therapeutic Tape), Protect 3D</a:t>
          </a:r>
        </a:p>
      </dgm:t>
    </dgm:pt>
    <dgm:pt modelId="{113D6421-4F6B-42D0-901A-C1F17AF83ED9}" type="parTrans" cxnId="{4303BE6C-E484-4C0E-AB6D-EF263ECA3295}">
      <dgm:prSet/>
      <dgm:spPr/>
      <dgm:t>
        <a:bodyPr/>
        <a:lstStyle/>
        <a:p>
          <a:endParaRPr lang="en-US"/>
        </a:p>
      </dgm:t>
    </dgm:pt>
    <dgm:pt modelId="{8ABBE9E9-E166-4E7E-B01D-A59A7C8C073B}" type="sibTrans" cxnId="{4303BE6C-E484-4C0E-AB6D-EF263ECA3295}">
      <dgm:prSet/>
      <dgm:spPr/>
      <dgm:t>
        <a:bodyPr/>
        <a:lstStyle/>
        <a:p>
          <a:endParaRPr lang="en-US"/>
        </a:p>
      </dgm:t>
    </dgm:pt>
    <dgm:pt modelId="{9566338A-B626-4990-9E81-4383D78A933E}" type="pres">
      <dgm:prSet presAssocID="{257DE576-EDCE-43BB-9DB5-507B49EF1689}" presName="vert0" presStyleCnt="0">
        <dgm:presLayoutVars>
          <dgm:dir/>
          <dgm:animOne val="branch"/>
          <dgm:animLvl val="lvl"/>
        </dgm:presLayoutVars>
      </dgm:prSet>
      <dgm:spPr/>
    </dgm:pt>
    <dgm:pt modelId="{B829ACF4-A17F-4CB0-8CAD-8D374D3CFCA3}" type="pres">
      <dgm:prSet presAssocID="{53F1DB61-3669-45DF-9852-EDCDB1E1A309}" presName="thickLine" presStyleLbl="alignNode1" presStyleIdx="0" presStyleCnt="4"/>
      <dgm:spPr/>
    </dgm:pt>
    <dgm:pt modelId="{3DB63EEE-0933-4126-A784-C7AD9D4CC955}" type="pres">
      <dgm:prSet presAssocID="{53F1DB61-3669-45DF-9852-EDCDB1E1A309}" presName="horz1" presStyleCnt="0"/>
      <dgm:spPr/>
    </dgm:pt>
    <dgm:pt modelId="{F1BDD9F9-E644-49D0-843C-E7BE0B1CA96D}" type="pres">
      <dgm:prSet presAssocID="{53F1DB61-3669-45DF-9852-EDCDB1E1A309}" presName="tx1" presStyleLbl="revTx" presStyleIdx="0" presStyleCnt="4"/>
      <dgm:spPr/>
    </dgm:pt>
    <dgm:pt modelId="{FC56DFC5-4149-431F-893F-8D8AC13703C0}" type="pres">
      <dgm:prSet presAssocID="{53F1DB61-3669-45DF-9852-EDCDB1E1A309}" presName="vert1" presStyleCnt="0"/>
      <dgm:spPr/>
    </dgm:pt>
    <dgm:pt modelId="{CA128143-B0FE-4958-8A8D-C8A70A960B1D}" type="pres">
      <dgm:prSet presAssocID="{5D14CCD4-823F-4BAA-8839-28266CE99D3B}" presName="thickLine" presStyleLbl="alignNode1" presStyleIdx="1" presStyleCnt="4"/>
      <dgm:spPr/>
    </dgm:pt>
    <dgm:pt modelId="{45F817E2-A716-4CCF-9062-7FFAEF86DF7F}" type="pres">
      <dgm:prSet presAssocID="{5D14CCD4-823F-4BAA-8839-28266CE99D3B}" presName="horz1" presStyleCnt="0"/>
      <dgm:spPr/>
    </dgm:pt>
    <dgm:pt modelId="{98269F52-9CBB-4CAF-A661-EAE9EFD3FF58}" type="pres">
      <dgm:prSet presAssocID="{5D14CCD4-823F-4BAA-8839-28266CE99D3B}" presName="tx1" presStyleLbl="revTx" presStyleIdx="1" presStyleCnt="4"/>
      <dgm:spPr/>
    </dgm:pt>
    <dgm:pt modelId="{7D68AE7C-2D2F-4A67-BAA6-C7ECF96AF193}" type="pres">
      <dgm:prSet presAssocID="{5D14CCD4-823F-4BAA-8839-28266CE99D3B}" presName="vert1" presStyleCnt="0"/>
      <dgm:spPr/>
    </dgm:pt>
    <dgm:pt modelId="{F796D4B0-D33D-4461-BA36-104E9E62D850}" type="pres">
      <dgm:prSet presAssocID="{3234EEB6-FAB4-43C9-BB62-474F9040797A}" presName="thickLine" presStyleLbl="alignNode1" presStyleIdx="2" presStyleCnt="4"/>
      <dgm:spPr/>
    </dgm:pt>
    <dgm:pt modelId="{9C82A7D1-2314-447C-B78E-D434C57BCC51}" type="pres">
      <dgm:prSet presAssocID="{3234EEB6-FAB4-43C9-BB62-474F9040797A}" presName="horz1" presStyleCnt="0"/>
      <dgm:spPr/>
    </dgm:pt>
    <dgm:pt modelId="{0E96A557-FDB3-4821-9F6A-1C32E35B9130}" type="pres">
      <dgm:prSet presAssocID="{3234EEB6-FAB4-43C9-BB62-474F9040797A}" presName="tx1" presStyleLbl="revTx" presStyleIdx="2" presStyleCnt="4"/>
      <dgm:spPr/>
    </dgm:pt>
    <dgm:pt modelId="{08B8BBFA-67D5-49E4-9673-676105FEF13A}" type="pres">
      <dgm:prSet presAssocID="{3234EEB6-FAB4-43C9-BB62-474F9040797A}" presName="vert1" presStyleCnt="0"/>
      <dgm:spPr/>
    </dgm:pt>
    <dgm:pt modelId="{688C2618-A864-4D37-82E2-D5B20F3ACB7A}" type="pres">
      <dgm:prSet presAssocID="{8E999029-F419-47A5-9B32-6F3458DD0E0C}" presName="thickLine" presStyleLbl="alignNode1" presStyleIdx="3" presStyleCnt="4"/>
      <dgm:spPr/>
    </dgm:pt>
    <dgm:pt modelId="{C11EBA4E-BDB1-4877-A32C-A7D84ED4152E}" type="pres">
      <dgm:prSet presAssocID="{8E999029-F419-47A5-9B32-6F3458DD0E0C}" presName="horz1" presStyleCnt="0"/>
      <dgm:spPr/>
    </dgm:pt>
    <dgm:pt modelId="{A333443A-9442-47A0-85FA-000861E10557}" type="pres">
      <dgm:prSet presAssocID="{8E999029-F419-47A5-9B32-6F3458DD0E0C}" presName="tx1" presStyleLbl="revTx" presStyleIdx="3" presStyleCnt="4"/>
      <dgm:spPr/>
    </dgm:pt>
    <dgm:pt modelId="{23E1441A-ED89-48A7-97ED-B76C6214C648}" type="pres">
      <dgm:prSet presAssocID="{8E999029-F419-47A5-9B32-6F3458DD0E0C}" presName="vert1" presStyleCnt="0"/>
      <dgm:spPr/>
    </dgm:pt>
  </dgm:ptLst>
  <dgm:cxnLst>
    <dgm:cxn modelId="{37E06710-9950-4210-808B-28C04EDA5906}" srcId="{257DE576-EDCE-43BB-9DB5-507B49EF1689}" destId="{5D14CCD4-823F-4BAA-8839-28266CE99D3B}" srcOrd="1" destOrd="0" parTransId="{CF2307E3-451B-4557-8A5C-E115D6C0DA63}" sibTransId="{31EE9670-69B5-4371-B40E-910FA23C605B}"/>
    <dgm:cxn modelId="{FBE26D1B-630B-487E-8E1C-E4E961972B9D}" type="presOf" srcId="{5D14CCD4-823F-4BAA-8839-28266CE99D3B}" destId="{98269F52-9CBB-4CAF-A661-EAE9EFD3FF58}" srcOrd="0" destOrd="0" presId="urn:microsoft.com/office/officeart/2008/layout/LinedList"/>
    <dgm:cxn modelId="{12363E46-47A9-4631-B050-7C71624EBDFD}" srcId="{257DE576-EDCE-43BB-9DB5-507B49EF1689}" destId="{53F1DB61-3669-45DF-9852-EDCDB1E1A309}" srcOrd="0" destOrd="0" parTransId="{62887D32-4A9A-4FB8-AF05-221D0517B96A}" sibTransId="{C7041DF5-1E4B-47DE-A8A7-6A66336C087A}"/>
    <dgm:cxn modelId="{19CDA966-C855-466F-BAF0-32099D80614B}" type="presOf" srcId="{53F1DB61-3669-45DF-9852-EDCDB1E1A309}" destId="{F1BDD9F9-E644-49D0-843C-E7BE0B1CA96D}" srcOrd="0" destOrd="0" presId="urn:microsoft.com/office/officeart/2008/layout/LinedList"/>
    <dgm:cxn modelId="{4303BE6C-E484-4C0E-AB6D-EF263ECA3295}" srcId="{257DE576-EDCE-43BB-9DB5-507B49EF1689}" destId="{8E999029-F419-47A5-9B32-6F3458DD0E0C}" srcOrd="3" destOrd="0" parTransId="{113D6421-4F6B-42D0-901A-C1F17AF83ED9}" sibTransId="{8ABBE9E9-E166-4E7E-B01D-A59A7C8C073B}"/>
    <dgm:cxn modelId="{5CEEA473-C300-4F46-9E37-AAA1096694BB}" type="presOf" srcId="{257DE576-EDCE-43BB-9DB5-507B49EF1689}" destId="{9566338A-B626-4990-9E81-4383D78A933E}" srcOrd="0" destOrd="0" presId="urn:microsoft.com/office/officeart/2008/layout/LinedList"/>
    <dgm:cxn modelId="{E3FDEC56-D820-45BC-9A92-EAF6634D5737}" srcId="{257DE576-EDCE-43BB-9DB5-507B49EF1689}" destId="{3234EEB6-FAB4-43C9-BB62-474F9040797A}" srcOrd="2" destOrd="0" parTransId="{0A068E89-B5A9-45D4-B1FB-F3DB92964EB8}" sibTransId="{A7987C0F-5979-4673-AC19-E9969590C406}"/>
    <dgm:cxn modelId="{3FAE70B9-0E0D-425A-9E3C-C9175053385E}" type="presOf" srcId="{3234EEB6-FAB4-43C9-BB62-474F9040797A}" destId="{0E96A557-FDB3-4821-9F6A-1C32E35B9130}" srcOrd="0" destOrd="0" presId="urn:microsoft.com/office/officeart/2008/layout/LinedList"/>
    <dgm:cxn modelId="{3E513DF0-B44C-4D8D-8C1F-7A753E0C456D}" type="presOf" srcId="{8E999029-F419-47A5-9B32-6F3458DD0E0C}" destId="{A333443A-9442-47A0-85FA-000861E10557}" srcOrd="0" destOrd="0" presId="urn:microsoft.com/office/officeart/2008/layout/LinedList"/>
    <dgm:cxn modelId="{CC707D8D-9955-4D0B-8A03-3886E396299E}" type="presParOf" srcId="{9566338A-B626-4990-9E81-4383D78A933E}" destId="{B829ACF4-A17F-4CB0-8CAD-8D374D3CFCA3}" srcOrd="0" destOrd="0" presId="urn:microsoft.com/office/officeart/2008/layout/LinedList"/>
    <dgm:cxn modelId="{79D861FD-8857-40DB-A81D-51A4290E6125}" type="presParOf" srcId="{9566338A-B626-4990-9E81-4383D78A933E}" destId="{3DB63EEE-0933-4126-A784-C7AD9D4CC955}" srcOrd="1" destOrd="0" presId="urn:microsoft.com/office/officeart/2008/layout/LinedList"/>
    <dgm:cxn modelId="{F20243BC-F9E3-46F9-B439-EB06A9B818C9}" type="presParOf" srcId="{3DB63EEE-0933-4126-A784-C7AD9D4CC955}" destId="{F1BDD9F9-E644-49D0-843C-E7BE0B1CA96D}" srcOrd="0" destOrd="0" presId="urn:microsoft.com/office/officeart/2008/layout/LinedList"/>
    <dgm:cxn modelId="{6FC041EC-1B24-48DB-96AB-ACDC4FB22458}" type="presParOf" srcId="{3DB63EEE-0933-4126-A784-C7AD9D4CC955}" destId="{FC56DFC5-4149-431F-893F-8D8AC13703C0}" srcOrd="1" destOrd="0" presId="urn:microsoft.com/office/officeart/2008/layout/LinedList"/>
    <dgm:cxn modelId="{E9C35F07-91E9-41EF-8A32-F32FC50E4729}" type="presParOf" srcId="{9566338A-B626-4990-9E81-4383D78A933E}" destId="{CA128143-B0FE-4958-8A8D-C8A70A960B1D}" srcOrd="2" destOrd="0" presId="urn:microsoft.com/office/officeart/2008/layout/LinedList"/>
    <dgm:cxn modelId="{CF1D3358-F81F-4116-9F76-8534437BF1CE}" type="presParOf" srcId="{9566338A-B626-4990-9E81-4383D78A933E}" destId="{45F817E2-A716-4CCF-9062-7FFAEF86DF7F}" srcOrd="3" destOrd="0" presId="urn:microsoft.com/office/officeart/2008/layout/LinedList"/>
    <dgm:cxn modelId="{E26240E5-5844-4580-9DA1-AEF444AECD25}" type="presParOf" srcId="{45F817E2-A716-4CCF-9062-7FFAEF86DF7F}" destId="{98269F52-9CBB-4CAF-A661-EAE9EFD3FF58}" srcOrd="0" destOrd="0" presId="urn:microsoft.com/office/officeart/2008/layout/LinedList"/>
    <dgm:cxn modelId="{2C20EF34-963A-4250-B8A2-31B112CE6E40}" type="presParOf" srcId="{45F817E2-A716-4CCF-9062-7FFAEF86DF7F}" destId="{7D68AE7C-2D2F-4A67-BAA6-C7ECF96AF193}" srcOrd="1" destOrd="0" presId="urn:microsoft.com/office/officeart/2008/layout/LinedList"/>
    <dgm:cxn modelId="{AA22E233-5593-4F5C-AF97-E247DC3460B5}" type="presParOf" srcId="{9566338A-B626-4990-9E81-4383D78A933E}" destId="{F796D4B0-D33D-4461-BA36-104E9E62D850}" srcOrd="4" destOrd="0" presId="urn:microsoft.com/office/officeart/2008/layout/LinedList"/>
    <dgm:cxn modelId="{2DEA211C-F757-4CE9-BC3A-D826646642CF}" type="presParOf" srcId="{9566338A-B626-4990-9E81-4383D78A933E}" destId="{9C82A7D1-2314-447C-B78E-D434C57BCC51}" srcOrd="5" destOrd="0" presId="urn:microsoft.com/office/officeart/2008/layout/LinedList"/>
    <dgm:cxn modelId="{CD8D2CC2-99C6-4E9C-883D-D97CC68A0E30}" type="presParOf" srcId="{9C82A7D1-2314-447C-B78E-D434C57BCC51}" destId="{0E96A557-FDB3-4821-9F6A-1C32E35B9130}" srcOrd="0" destOrd="0" presId="urn:microsoft.com/office/officeart/2008/layout/LinedList"/>
    <dgm:cxn modelId="{D326516E-5A0F-4048-9FBC-C96AC2C4AC45}" type="presParOf" srcId="{9C82A7D1-2314-447C-B78E-D434C57BCC51}" destId="{08B8BBFA-67D5-49E4-9673-676105FEF13A}" srcOrd="1" destOrd="0" presId="urn:microsoft.com/office/officeart/2008/layout/LinedList"/>
    <dgm:cxn modelId="{7141CE99-893F-4FC0-B3BF-464554B3CE71}" type="presParOf" srcId="{9566338A-B626-4990-9E81-4383D78A933E}" destId="{688C2618-A864-4D37-82E2-D5B20F3ACB7A}" srcOrd="6" destOrd="0" presId="urn:microsoft.com/office/officeart/2008/layout/LinedList"/>
    <dgm:cxn modelId="{CC25C66E-1A7C-4EE9-B696-5A7D77071575}" type="presParOf" srcId="{9566338A-B626-4990-9E81-4383D78A933E}" destId="{C11EBA4E-BDB1-4877-A32C-A7D84ED4152E}" srcOrd="7" destOrd="0" presId="urn:microsoft.com/office/officeart/2008/layout/LinedList"/>
    <dgm:cxn modelId="{C7AAE72C-30F3-43F8-83B7-450EBC55FD39}" type="presParOf" srcId="{C11EBA4E-BDB1-4877-A32C-A7D84ED4152E}" destId="{A333443A-9442-47A0-85FA-000861E10557}" srcOrd="0" destOrd="0" presId="urn:microsoft.com/office/officeart/2008/layout/LinedList"/>
    <dgm:cxn modelId="{2C905F5B-13AF-4E76-A991-46AE2997A0D3}" type="presParOf" srcId="{C11EBA4E-BDB1-4877-A32C-A7D84ED4152E}" destId="{23E1441A-ED89-48A7-97ED-B76C6214C64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4FCFE2-894C-47A0-A2B0-CD18FF37FA7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39397D1-823B-449B-8A94-10503C6CFBB6}">
      <dgm:prSet/>
      <dgm:spPr/>
      <dgm:t>
        <a:bodyPr/>
        <a:lstStyle/>
        <a:p>
          <a:r>
            <a:rPr lang="en-US"/>
            <a:t>Academic OneFile</a:t>
          </a:r>
        </a:p>
      </dgm:t>
    </dgm:pt>
    <dgm:pt modelId="{95532A5A-20B1-440E-B14E-F7F95DF0E9CD}" type="parTrans" cxnId="{E04C9FB7-06C2-4E71-95C4-E65DFB63CE1A}">
      <dgm:prSet/>
      <dgm:spPr/>
      <dgm:t>
        <a:bodyPr/>
        <a:lstStyle/>
        <a:p>
          <a:endParaRPr lang="en-US"/>
        </a:p>
      </dgm:t>
    </dgm:pt>
    <dgm:pt modelId="{7EFEECD3-6B0D-49B6-B331-E2705CDCE0C0}" type="sibTrans" cxnId="{E04C9FB7-06C2-4E71-95C4-E65DFB63CE1A}">
      <dgm:prSet/>
      <dgm:spPr/>
      <dgm:t>
        <a:bodyPr/>
        <a:lstStyle/>
        <a:p>
          <a:endParaRPr lang="en-US"/>
        </a:p>
      </dgm:t>
    </dgm:pt>
    <dgm:pt modelId="{C8106CC6-65EB-4C08-A374-D11A95545E8D}">
      <dgm:prSet/>
      <dgm:spPr/>
      <dgm:t>
        <a:bodyPr/>
        <a:lstStyle/>
        <a:p>
          <a:r>
            <a:rPr lang="en-US"/>
            <a:t>Google</a:t>
          </a:r>
        </a:p>
      </dgm:t>
    </dgm:pt>
    <dgm:pt modelId="{F9AD0CCE-15ED-4E97-94DB-E7B12D755455}" type="parTrans" cxnId="{F8E6C7A2-55AC-4D2A-AF5D-5F7F35120D95}">
      <dgm:prSet/>
      <dgm:spPr/>
      <dgm:t>
        <a:bodyPr/>
        <a:lstStyle/>
        <a:p>
          <a:endParaRPr lang="en-US"/>
        </a:p>
      </dgm:t>
    </dgm:pt>
    <dgm:pt modelId="{1B0563C3-5725-4DF7-8181-A26EC66F0924}" type="sibTrans" cxnId="{F8E6C7A2-55AC-4D2A-AF5D-5F7F35120D95}">
      <dgm:prSet/>
      <dgm:spPr/>
      <dgm:t>
        <a:bodyPr/>
        <a:lstStyle/>
        <a:p>
          <a:endParaRPr lang="en-US"/>
        </a:p>
      </dgm:t>
    </dgm:pt>
    <dgm:pt modelId="{5E41CAD2-C517-4B50-8676-E798F89B5130}">
      <dgm:prSet/>
      <dgm:spPr/>
      <dgm:t>
        <a:bodyPr/>
        <a:lstStyle/>
        <a:p>
          <a:r>
            <a:rPr lang="en-US"/>
            <a:t>Google Scholar</a:t>
          </a:r>
        </a:p>
      </dgm:t>
    </dgm:pt>
    <dgm:pt modelId="{25ADA9C8-E010-4DB6-A30D-6F318CBD89A4}" type="parTrans" cxnId="{0F469DA5-DBEE-4C96-A2D7-804820FDE413}">
      <dgm:prSet/>
      <dgm:spPr/>
      <dgm:t>
        <a:bodyPr/>
        <a:lstStyle/>
        <a:p>
          <a:endParaRPr lang="en-US"/>
        </a:p>
      </dgm:t>
    </dgm:pt>
    <dgm:pt modelId="{C3039606-0942-4B3B-9F20-43119B908D63}" type="sibTrans" cxnId="{0F469DA5-DBEE-4C96-A2D7-804820FDE413}">
      <dgm:prSet/>
      <dgm:spPr/>
      <dgm:t>
        <a:bodyPr/>
        <a:lstStyle/>
        <a:p>
          <a:endParaRPr lang="en-US"/>
        </a:p>
      </dgm:t>
    </dgm:pt>
    <dgm:pt modelId="{69D21E44-507F-4701-9785-F89411641569}">
      <dgm:prSet/>
      <dgm:spPr/>
      <dgm:t>
        <a:bodyPr/>
        <a:lstStyle/>
        <a:p>
          <a:r>
            <a:rPr lang="en-US"/>
            <a:t>Harvard Business School Online</a:t>
          </a:r>
        </a:p>
      </dgm:t>
    </dgm:pt>
    <dgm:pt modelId="{5B299A93-1975-41D4-9742-6DA215C32EDE}" type="parTrans" cxnId="{35F25F43-3951-4B5C-883A-D393FA7C93DC}">
      <dgm:prSet/>
      <dgm:spPr/>
      <dgm:t>
        <a:bodyPr/>
        <a:lstStyle/>
        <a:p>
          <a:endParaRPr lang="en-US"/>
        </a:p>
      </dgm:t>
    </dgm:pt>
    <dgm:pt modelId="{E0EB063F-CA91-474B-B985-F25F44258622}" type="sibTrans" cxnId="{35F25F43-3951-4B5C-883A-D393FA7C93DC}">
      <dgm:prSet/>
      <dgm:spPr/>
      <dgm:t>
        <a:bodyPr/>
        <a:lstStyle/>
        <a:p>
          <a:endParaRPr lang="en-US"/>
        </a:p>
      </dgm:t>
    </dgm:pt>
    <dgm:pt modelId="{61AF5091-A6EE-40CE-AE40-0CF1FB807E1D}">
      <dgm:prSet/>
      <dgm:spPr/>
      <dgm:t>
        <a:bodyPr/>
        <a:lstStyle/>
        <a:p>
          <a:r>
            <a:rPr lang="en-US"/>
            <a:t>U.S. Food &amp; Drug Administration</a:t>
          </a:r>
        </a:p>
      </dgm:t>
    </dgm:pt>
    <dgm:pt modelId="{0024BE4E-799B-4455-B028-2D94A6B96490}" type="parTrans" cxnId="{CE18CD4B-35A0-426F-A33D-B96DB55BE696}">
      <dgm:prSet/>
      <dgm:spPr/>
      <dgm:t>
        <a:bodyPr/>
        <a:lstStyle/>
        <a:p>
          <a:endParaRPr lang="en-US"/>
        </a:p>
      </dgm:t>
    </dgm:pt>
    <dgm:pt modelId="{44CD12E5-ED9C-468B-A8F3-0D02C1ABA702}" type="sibTrans" cxnId="{CE18CD4B-35A0-426F-A33D-B96DB55BE696}">
      <dgm:prSet/>
      <dgm:spPr/>
      <dgm:t>
        <a:bodyPr/>
        <a:lstStyle/>
        <a:p>
          <a:endParaRPr lang="en-US"/>
        </a:p>
      </dgm:t>
    </dgm:pt>
    <dgm:pt modelId="{C099FE9D-E029-4469-A828-0CD03D1B7EEC}">
      <dgm:prSet/>
      <dgm:spPr/>
      <dgm:t>
        <a:bodyPr/>
        <a:lstStyle/>
        <a:p>
          <a:r>
            <a:rPr lang="en-US"/>
            <a:t>U.S. National Library of Medicine</a:t>
          </a:r>
        </a:p>
      </dgm:t>
    </dgm:pt>
    <dgm:pt modelId="{545FEC99-2AC2-4C0A-8E0B-7EC9795074CB}" type="parTrans" cxnId="{E526DE3F-6CE4-42EB-A60F-E21A274B74AD}">
      <dgm:prSet/>
      <dgm:spPr/>
      <dgm:t>
        <a:bodyPr/>
        <a:lstStyle/>
        <a:p>
          <a:endParaRPr lang="en-US"/>
        </a:p>
      </dgm:t>
    </dgm:pt>
    <dgm:pt modelId="{1914C2BC-C380-4DD7-B959-1A0FF5B9F345}" type="sibTrans" cxnId="{E526DE3F-6CE4-42EB-A60F-E21A274B74AD}">
      <dgm:prSet/>
      <dgm:spPr/>
      <dgm:t>
        <a:bodyPr/>
        <a:lstStyle/>
        <a:p>
          <a:endParaRPr lang="en-US"/>
        </a:p>
      </dgm:t>
    </dgm:pt>
    <dgm:pt modelId="{2DD393A9-DCE8-4657-87B7-E8A3720093D7}" type="pres">
      <dgm:prSet presAssocID="{274FCFE2-894C-47A0-A2B0-CD18FF37FA7B}" presName="linear" presStyleCnt="0">
        <dgm:presLayoutVars>
          <dgm:animLvl val="lvl"/>
          <dgm:resizeHandles val="exact"/>
        </dgm:presLayoutVars>
      </dgm:prSet>
      <dgm:spPr/>
    </dgm:pt>
    <dgm:pt modelId="{A528C859-9B9C-4456-A503-08F90CB7FC86}" type="pres">
      <dgm:prSet presAssocID="{739397D1-823B-449B-8A94-10503C6CFBB6}" presName="parentText" presStyleLbl="node1" presStyleIdx="0" presStyleCnt="6">
        <dgm:presLayoutVars>
          <dgm:chMax val="0"/>
          <dgm:bulletEnabled val="1"/>
        </dgm:presLayoutVars>
      </dgm:prSet>
      <dgm:spPr/>
    </dgm:pt>
    <dgm:pt modelId="{A76D2E70-8228-4D61-896C-EA4B8CFB2D91}" type="pres">
      <dgm:prSet presAssocID="{7EFEECD3-6B0D-49B6-B331-E2705CDCE0C0}" presName="spacer" presStyleCnt="0"/>
      <dgm:spPr/>
    </dgm:pt>
    <dgm:pt modelId="{70A03848-FB8A-4FE8-A076-07B6313E1C96}" type="pres">
      <dgm:prSet presAssocID="{C8106CC6-65EB-4C08-A374-D11A95545E8D}" presName="parentText" presStyleLbl="node1" presStyleIdx="1" presStyleCnt="6">
        <dgm:presLayoutVars>
          <dgm:chMax val="0"/>
          <dgm:bulletEnabled val="1"/>
        </dgm:presLayoutVars>
      </dgm:prSet>
      <dgm:spPr/>
    </dgm:pt>
    <dgm:pt modelId="{F00DE417-93F4-4DD2-A773-43A044167D4C}" type="pres">
      <dgm:prSet presAssocID="{1B0563C3-5725-4DF7-8181-A26EC66F0924}" presName="spacer" presStyleCnt="0"/>
      <dgm:spPr/>
    </dgm:pt>
    <dgm:pt modelId="{D1749D55-3C48-486C-B5E0-E13895BCBB4C}" type="pres">
      <dgm:prSet presAssocID="{5E41CAD2-C517-4B50-8676-E798F89B5130}" presName="parentText" presStyleLbl="node1" presStyleIdx="2" presStyleCnt="6">
        <dgm:presLayoutVars>
          <dgm:chMax val="0"/>
          <dgm:bulletEnabled val="1"/>
        </dgm:presLayoutVars>
      </dgm:prSet>
      <dgm:spPr/>
    </dgm:pt>
    <dgm:pt modelId="{89BB103E-8765-4143-BE46-61B62AD15E27}" type="pres">
      <dgm:prSet presAssocID="{C3039606-0942-4B3B-9F20-43119B908D63}" presName="spacer" presStyleCnt="0"/>
      <dgm:spPr/>
    </dgm:pt>
    <dgm:pt modelId="{11F33511-A37E-4A1A-A262-757A89663A9D}" type="pres">
      <dgm:prSet presAssocID="{69D21E44-507F-4701-9785-F89411641569}" presName="parentText" presStyleLbl="node1" presStyleIdx="3" presStyleCnt="6">
        <dgm:presLayoutVars>
          <dgm:chMax val="0"/>
          <dgm:bulletEnabled val="1"/>
        </dgm:presLayoutVars>
      </dgm:prSet>
      <dgm:spPr/>
    </dgm:pt>
    <dgm:pt modelId="{8B6A3AB4-4805-4E22-9577-A94F22B7D516}" type="pres">
      <dgm:prSet presAssocID="{E0EB063F-CA91-474B-B985-F25F44258622}" presName="spacer" presStyleCnt="0"/>
      <dgm:spPr/>
    </dgm:pt>
    <dgm:pt modelId="{0DC26B1B-3B42-4456-92F9-7100D51D24BC}" type="pres">
      <dgm:prSet presAssocID="{61AF5091-A6EE-40CE-AE40-0CF1FB807E1D}" presName="parentText" presStyleLbl="node1" presStyleIdx="4" presStyleCnt="6">
        <dgm:presLayoutVars>
          <dgm:chMax val="0"/>
          <dgm:bulletEnabled val="1"/>
        </dgm:presLayoutVars>
      </dgm:prSet>
      <dgm:spPr/>
    </dgm:pt>
    <dgm:pt modelId="{C8604635-13D0-489D-9149-61EA8D457488}" type="pres">
      <dgm:prSet presAssocID="{44CD12E5-ED9C-468B-A8F3-0D02C1ABA702}" presName="spacer" presStyleCnt="0"/>
      <dgm:spPr/>
    </dgm:pt>
    <dgm:pt modelId="{F113BEAF-E501-48A7-8E33-F06570369211}" type="pres">
      <dgm:prSet presAssocID="{C099FE9D-E029-4469-A828-0CD03D1B7EEC}" presName="parentText" presStyleLbl="node1" presStyleIdx="5" presStyleCnt="6">
        <dgm:presLayoutVars>
          <dgm:chMax val="0"/>
          <dgm:bulletEnabled val="1"/>
        </dgm:presLayoutVars>
      </dgm:prSet>
      <dgm:spPr/>
    </dgm:pt>
  </dgm:ptLst>
  <dgm:cxnLst>
    <dgm:cxn modelId="{94897207-2A08-485E-BEEF-ED2B1DE2681C}" type="presOf" srcId="{C099FE9D-E029-4469-A828-0CD03D1B7EEC}" destId="{F113BEAF-E501-48A7-8E33-F06570369211}" srcOrd="0" destOrd="0" presId="urn:microsoft.com/office/officeart/2005/8/layout/vList2"/>
    <dgm:cxn modelId="{0F0AA616-48DE-4AE0-AF9F-A837071ED0AF}" type="presOf" srcId="{739397D1-823B-449B-8A94-10503C6CFBB6}" destId="{A528C859-9B9C-4456-A503-08F90CB7FC86}" srcOrd="0" destOrd="0" presId="urn:microsoft.com/office/officeart/2005/8/layout/vList2"/>
    <dgm:cxn modelId="{E526DE3F-6CE4-42EB-A60F-E21A274B74AD}" srcId="{274FCFE2-894C-47A0-A2B0-CD18FF37FA7B}" destId="{C099FE9D-E029-4469-A828-0CD03D1B7EEC}" srcOrd="5" destOrd="0" parTransId="{545FEC99-2AC2-4C0A-8E0B-7EC9795074CB}" sibTransId="{1914C2BC-C380-4DD7-B959-1A0FF5B9F345}"/>
    <dgm:cxn modelId="{35F25F43-3951-4B5C-883A-D393FA7C93DC}" srcId="{274FCFE2-894C-47A0-A2B0-CD18FF37FA7B}" destId="{69D21E44-507F-4701-9785-F89411641569}" srcOrd="3" destOrd="0" parTransId="{5B299A93-1975-41D4-9742-6DA215C32EDE}" sibTransId="{E0EB063F-CA91-474B-B985-F25F44258622}"/>
    <dgm:cxn modelId="{57256464-D3B6-4EF7-8038-052EAA65E02E}" type="presOf" srcId="{274FCFE2-894C-47A0-A2B0-CD18FF37FA7B}" destId="{2DD393A9-DCE8-4657-87B7-E8A3720093D7}" srcOrd="0" destOrd="0" presId="urn:microsoft.com/office/officeart/2005/8/layout/vList2"/>
    <dgm:cxn modelId="{CE18CD4B-35A0-426F-A33D-B96DB55BE696}" srcId="{274FCFE2-894C-47A0-A2B0-CD18FF37FA7B}" destId="{61AF5091-A6EE-40CE-AE40-0CF1FB807E1D}" srcOrd="4" destOrd="0" parTransId="{0024BE4E-799B-4455-B028-2D94A6B96490}" sibTransId="{44CD12E5-ED9C-468B-A8F3-0D02C1ABA702}"/>
    <dgm:cxn modelId="{E7D43D51-87AE-47E7-B9DE-1C749141E6CE}" type="presOf" srcId="{69D21E44-507F-4701-9785-F89411641569}" destId="{11F33511-A37E-4A1A-A262-757A89663A9D}" srcOrd="0" destOrd="0" presId="urn:microsoft.com/office/officeart/2005/8/layout/vList2"/>
    <dgm:cxn modelId="{ABB1729F-1C3E-4D8A-9624-86AA598F109A}" type="presOf" srcId="{61AF5091-A6EE-40CE-AE40-0CF1FB807E1D}" destId="{0DC26B1B-3B42-4456-92F9-7100D51D24BC}" srcOrd="0" destOrd="0" presId="urn:microsoft.com/office/officeart/2005/8/layout/vList2"/>
    <dgm:cxn modelId="{F8E6C7A2-55AC-4D2A-AF5D-5F7F35120D95}" srcId="{274FCFE2-894C-47A0-A2B0-CD18FF37FA7B}" destId="{C8106CC6-65EB-4C08-A374-D11A95545E8D}" srcOrd="1" destOrd="0" parTransId="{F9AD0CCE-15ED-4E97-94DB-E7B12D755455}" sibTransId="{1B0563C3-5725-4DF7-8181-A26EC66F0924}"/>
    <dgm:cxn modelId="{0F469DA5-DBEE-4C96-A2D7-804820FDE413}" srcId="{274FCFE2-894C-47A0-A2B0-CD18FF37FA7B}" destId="{5E41CAD2-C517-4B50-8676-E798F89B5130}" srcOrd="2" destOrd="0" parTransId="{25ADA9C8-E010-4DB6-A30D-6F318CBD89A4}" sibTransId="{C3039606-0942-4B3B-9F20-43119B908D63}"/>
    <dgm:cxn modelId="{E04C9FB7-06C2-4E71-95C4-E65DFB63CE1A}" srcId="{274FCFE2-894C-47A0-A2B0-CD18FF37FA7B}" destId="{739397D1-823B-449B-8A94-10503C6CFBB6}" srcOrd="0" destOrd="0" parTransId="{95532A5A-20B1-440E-B14E-F7F95DF0E9CD}" sibTransId="{7EFEECD3-6B0D-49B6-B331-E2705CDCE0C0}"/>
    <dgm:cxn modelId="{C0EF41CA-63A7-4DA9-BDDA-EA18D56D663C}" type="presOf" srcId="{C8106CC6-65EB-4C08-A374-D11A95545E8D}" destId="{70A03848-FB8A-4FE8-A076-07B6313E1C96}" srcOrd="0" destOrd="0" presId="urn:microsoft.com/office/officeart/2005/8/layout/vList2"/>
    <dgm:cxn modelId="{655EB0DD-EE3F-440C-9313-E8CD05291D20}" type="presOf" srcId="{5E41CAD2-C517-4B50-8676-E798F89B5130}" destId="{D1749D55-3C48-486C-B5E0-E13895BCBB4C}" srcOrd="0" destOrd="0" presId="urn:microsoft.com/office/officeart/2005/8/layout/vList2"/>
    <dgm:cxn modelId="{A8D9BBD9-5AAA-4713-B250-A759AA3270C8}" type="presParOf" srcId="{2DD393A9-DCE8-4657-87B7-E8A3720093D7}" destId="{A528C859-9B9C-4456-A503-08F90CB7FC86}" srcOrd="0" destOrd="0" presId="urn:microsoft.com/office/officeart/2005/8/layout/vList2"/>
    <dgm:cxn modelId="{6D2447EA-92DE-4BFD-A2C3-3ECEBD016607}" type="presParOf" srcId="{2DD393A9-DCE8-4657-87B7-E8A3720093D7}" destId="{A76D2E70-8228-4D61-896C-EA4B8CFB2D91}" srcOrd="1" destOrd="0" presId="urn:microsoft.com/office/officeart/2005/8/layout/vList2"/>
    <dgm:cxn modelId="{F900DB41-90D1-4AD6-BE38-90197AC9327F}" type="presParOf" srcId="{2DD393A9-DCE8-4657-87B7-E8A3720093D7}" destId="{70A03848-FB8A-4FE8-A076-07B6313E1C96}" srcOrd="2" destOrd="0" presId="urn:microsoft.com/office/officeart/2005/8/layout/vList2"/>
    <dgm:cxn modelId="{B25497F9-C906-4FF1-BD5D-EA43B543E84B}" type="presParOf" srcId="{2DD393A9-DCE8-4657-87B7-E8A3720093D7}" destId="{F00DE417-93F4-4DD2-A773-43A044167D4C}" srcOrd="3" destOrd="0" presId="urn:microsoft.com/office/officeart/2005/8/layout/vList2"/>
    <dgm:cxn modelId="{65834194-9A16-4C86-9709-394DB8657CD5}" type="presParOf" srcId="{2DD393A9-DCE8-4657-87B7-E8A3720093D7}" destId="{D1749D55-3C48-486C-B5E0-E13895BCBB4C}" srcOrd="4" destOrd="0" presId="urn:microsoft.com/office/officeart/2005/8/layout/vList2"/>
    <dgm:cxn modelId="{38AD88CF-8405-4AFF-A46E-B2BB1158D210}" type="presParOf" srcId="{2DD393A9-DCE8-4657-87B7-E8A3720093D7}" destId="{89BB103E-8765-4143-BE46-61B62AD15E27}" srcOrd="5" destOrd="0" presId="urn:microsoft.com/office/officeart/2005/8/layout/vList2"/>
    <dgm:cxn modelId="{968C4213-8914-483E-B42C-06014BB5EBB8}" type="presParOf" srcId="{2DD393A9-DCE8-4657-87B7-E8A3720093D7}" destId="{11F33511-A37E-4A1A-A262-757A89663A9D}" srcOrd="6" destOrd="0" presId="urn:microsoft.com/office/officeart/2005/8/layout/vList2"/>
    <dgm:cxn modelId="{D1959834-6093-40A4-B0A0-E46BF1A87B65}" type="presParOf" srcId="{2DD393A9-DCE8-4657-87B7-E8A3720093D7}" destId="{8B6A3AB4-4805-4E22-9577-A94F22B7D516}" srcOrd="7" destOrd="0" presId="urn:microsoft.com/office/officeart/2005/8/layout/vList2"/>
    <dgm:cxn modelId="{ADB8A62C-818F-4B7B-B36C-F3B55C413033}" type="presParOf" srcId="{2DD393A9-DCE8-4657-87B7-E8A3720093D7}" destId="{0DC26B1B-3B42-4456-92F9-7100D51D24BC}" srcOrd="8" destOrd="0" presId="urn:microsoft.com/office/officeart/2005/8/layout/vList2"/>
    <dgm:cxn modelId="{014DCC79-47FF-4069-BF9A-C8F56278B5B5}" type="presParOf" srcId="{2DD393A9-DCE8-4657-87B7-E8A3720093D7}" destId="{C8604635-13D0-489D-9149-61EA8D457488}" srcOrd="9" destOrd="0" presId="urn:microsoft.com/office/officeart/2005/8/layout/vList2"/>
    <dgm:cxn modelId="{7F26E5C1-12EF-4088-B3D3-A676F222F10F}" type="presParOf" srcId="{2DD393A9-DCE8-4657-87B7-E8A3720093D7}" destId="{F113BEAF-E501-48A7-8E33-F0657036921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9ACF4-A17F-4CB0-8CAD-8D374D3CFCA3}">
      <dsp:nvSpPr>
        <dsp:cNvPr id="0" name=""/>
        <dsp:cNvSpPr/>
      </dsp:nvSpPr>
      <dsp:spPr>
        <a:xfrm>
          <a:off x="0" y="0"/>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BDD9F9-E644-49D0-843C-E7BE0B1CA96D}">
      <dsp:nvSpPr>
        <dsp:cNvPr id="0" name=""/>
        <dsp:cNvSpPr/>
      </dsp:nvSpPr>
      <dsp:spPr>
        <a:xfrm>
          <a:off x="0" y="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Mission centered around the promotion and education of athletic training</a:t>
          </a:r>
        </a:p>
      </dsp:txBody>
      <dsp:txXfrm>
        <a:off x="0" y="0"/>
        <a:ext cx="6492875" cy="1276350"/>
      </dsp:txXfrm>
    </dsp:sp>
    <dsp:sp modelId="{CA128143-B0FE-4958-8A8D-C8A70A960B1D}">
      <dsp:nvSpPr>
        <dsp:cNvPr id="0" name=""/>
        <dsp:cNvSpPr/>
      </dsp:nvSpPr>
      <dsp:spPr>
        <a:xfrm>
          <a:off x="0" y="1276350"/>
          <a:ext cx="6492875"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269F52-9CBB-4CAF-A661-EAE9EFD3FF58}">
      <dsp:nvSpPr>
        <dsp:cNvPr id="0" name=""/>
        <dsp:cNvSpPr/>
      </dsp:nvSpPr>
      <dsp:spPr>
        <a:xfrm>
          <a:off x="0" y="12763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Provide high quality healthcare to the National Football League</a:t>
          </a:r>
        </a:p>
      </dsp:txBody>
      <dsp:txXfrm>
        <a:off x="0" y="1276350"/>
        <a:ext cx="6492875" cy="1276350"/>
      </dsp:txXfrm>
    </dsp:sp>
    <dsp:sp modelId="{F796D4B0-D33D-4461-BA36-104E9E62D850}">
      <dsp:nvSpPr>
        <dsp:cNvPr id="0" name=""/>
        <dsp:cNvSpPr/>
      </dsp:nvSpPr>
      <dsp:spPr>
        <a:xfrm>
          <a:off x="0" y="2552700"/>
          <a:ext cx="6492875"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96A557-FDB3-4821-9F6A-1C32E35B9130}">
      <dsp:nvSpPr>
        <dsp:cNvPr id="0" name=""/>
        <dsp:cNvSpPr/>
      </dsp:nvSpPr>
      <dsp:spPr>
        <a:xfrm>
          <a:off x="0" y="255270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Always looking to the newest technology and resources to advance the certified athletic trainer profession</a:t>
          </a:r>
        </a:p>
      </dsp:txBody>
      <dsp:txXfrm>
        <a:off x="0" y="2552700"/>
        <a:ext cx="6492875" cy="1276350"/>
      </dsp:txXfrm>
    </dsp:sp>
    <dsp:sp modelId="{688C2618-A864-4D37-82E2-D5B20F3ACB7A}">
      <dsp:nvSpPr>
        <dsp:cNvPr id="0" name=""/>
        <dsp:cNvSpPr/>
      </dsp:nvSpPr>
      <dsp:spPr>
        <a:xfrm>
          <a:off x="0" y="3829050"/>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33443A-9442-47A0-85FA-000861E10557}">
      <dsp:nvSpPr>
        <dsp:cNvPr id="0" name=""/>
        <dsp:cNvSpPr/>
      </dsp:nvSpPr>
      <dsp:spPr>
        <a:xfrm>
          <a:off x="0" y="38290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Currently partners with Alert Services Sports Medicine, KT Tape (Kinesiology Therapeutic Tape), Protect 3D</a:t>
          </a:r>
        </a:p>
      </dsp:txBody>
      <dsp:txXfrm>
        <a:off x="0" y="3829050"/>
        <a:ext cx="6492875" cy="12763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8C859-9B9C-4456-A503-08F90CB7FC86}">
      <dsp:nvSpPr>
        <dsp:cNvPr id="0" name=""/>
        <dsp:cNvSpPr/>
      </dsp:nvSpPr>
      <dsp:spPr>
        <a:xfrm>
          <a:off x="0" y="38484"/>
          <a:ext cx="10515600"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Academic OneFile</a:t>
          </a:r>
        </a:p>
      </dsp:txBody>
      <dsp:txXfrm>
        <a:off x="31613" y="70097"/>
        <a:ext cx="10452374" cy="584369"/>
      </dsp:txXfrm>
    </dsp:sp>
    <dsp:sp modelId="{70A03848-FB8A-4FE8-A076-07B6313E1C96}">
      <dsp:nvSpPr>
        <dsp:cNvPr id="0" name=""/>
        <dsp:cNvSpPr/>
      </dsp:nvSpPr>
      <dsp:spPr>
        <a:xfrm>
          <a:off x="0" y="763839"/>
          <a:ext cx="10515600"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Google</a:t>
          </a:r>
        </a:p>
      </dsp:txBody>
      <dsp:txXfrm>
        <a:off x="31613" y="795452"/>
        <a:ext cx="10452374" cy="584369"/>
      </dsp:txXfrm>
    </dsp:sp>
    <dsp:sp modelId="{D1749D55-3C48-486C-B5E0-E13895BCBB4C}">
      <dsp:nvSpPr>
        <dsp:cNvPr id="0" name=""/>
        <dsp:cNvSpPr/>
      </dsp:nvSpPr>
      <dsp:spPr>
        <a:xfrm>
          <a:off x="0" y="1489194"/>
          <a:ext cx="10515600"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Google Scholar</a:t>
          </a:r>
        </a:p>
      </dsp:txBody>
      <dsp:txXfrm>
        <a:off x="31613" y="1520807"/>
        <a:ext cx="10452374" cy="584369"/>
      </dsp:txXfrm>
    </dsp:sp>
    <dsp:sp modelId="{11F33511-A37E-4A1A-A262-757A89663A9D}">
      <dsp:nvSpPr>
        <dsp:cNvPr id="0" name=""/>
        <dsp:cNvSpPr/>
      </dsp:nvSpPr>
      <dsp:spPr>
        <a:xfrm>
          <a:off x="0" y="2214549"/>
          <a:ext cx="10515600"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Harvard Business School Online</a:t>
          </a:r>
        </a:p>
      </dsp:txBody>
      <dsp:txXfrm>
        <a:off x="31613" y="2246162"/>
        <a:ext cx="10452374" cy="584369"/>
      </dsp:txXfrm>
    </dsp:sp>
    <dsp:sp modelId="{0DC26B1B-3B42-4456-92F9-7100D51D24BC}">
      <dsp:nvSpPr>
        <dsp:cNvPr id="0" name=""/>
        <dsp:cNvSpPr/>
      </dsp:nvSpPr>
      <dsp:spPr>
        <a:xfrm>
          <a:off x="0" y="2939904"/>
          <a:ext cx="10515600"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U.S. Food &amp; Drug Administration</a:t>
          </a:r>
        </a:p>
      </dsp:txBody>
      <dsp:txXfrm>
        <a:off x="31613" y="2971517"/>
        <a:ext cx="10452374" cy="584369"/>
      </dsp:txXfrm>
    </dsp:sp>
    <dsp:sp modelId="{F113BEAF-E501-48A7-8E33-F06570369211}">
      <dsp:nvSpPr>
        <dsp:cNvPr id="0" name=""/>
        <dsp:cNvSpPr/>
      </dsp:nvSpPr>
      <dsp:spPr>
        <a:xfrm>
          <a:off x="0" y="3665259"/>
          <a:ext cx="10515600"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U.S. National Library of Medicine</a:t>
          </a:r>
        </a:p>
      </dsp:txBody>
      <dsp:txXfrm>
        <a:off x="31613" y="3696872"/>
        <a:ext cx="10452374" cy="5843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B405A8-2B4F-4B5E-825B-33E4D37A6A70}" type="datetimeFigureOut">
              <a:t>7/3/2022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9B1A0-B3FE-4DAE-8912-F1A5FF55019A}" type="slidenum">
              <a:t>‹#›</a:t>
            </a:fld>
            <a:endParaRPr lang="en-US"/>
          </a:p>
        </p:txBody>
      </p:sp>
    </p:spTree>
    <p:extLst>
      <p:ext uri="{BB962C8B-B14F-4D97-AF65-F5344CB8AC3E}">
        <p14:creationId xmlns:p14="http://schemas.microsoft.com/office/powerpoint/2010/main" val="3610917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clinicaltrials.gov/ct2/help/for-manager"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clinicaltrials.gov/ct2/manage-recs/background" TargetMode="External"/><Relationship Id="rId4" Type="http://schemas.openxmlformats.org/officeDocument/2006/relationships/hyperlink" Target="https://clinicaltrials.gov/ct2/manage-recs/how-register#StepsForRegistering"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fda.gov/media/131738/download"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pfats.com/about/partner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odtmag.com/issues/2017-10-01/view_columns/orthopedic-device-price-strategies-who-is-going-to-pay-for-it"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www.profitwell.com/recur/all/value-based-pricing" TargetMode="External"/><Relationship Id="rId4" Type="http://schemas.openxmlformats.org/officeDocument/2006/relationships/hyperlink" Target="https://online.hbs.edu/blog/post/what-is-conjoint-analysis#:~:text=Conjoint%20Analysis%20in%20Pricing,to%20develop%20its%20pricing%20strategy"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market is predicted to grow to 7.5 billion by 2027 with a compound annual growth rate of 7.9 percent in the time from now till 2027. We also saw North America held the greatest market share globally last year, at 39%. In starting to research professional sports clubs and professional sports that would align with your company, we found that not surprisingly, football is one of the leading sports in ankle injuries. Football is huge in the U.S. and there are thousands of football players from the collegiate level to the NFL.</a:t>
            </a:r>
          </a:p>
        </p:txBody>
      </p:sp>
      <p:sp>
        <p:nvSpPr>
          <p:cNvPr id="4" name="Slide Number Placeholder 3"/>
          <p:cNvSpPr>
            <a:spLocks noGrp="1"/>
          </p:cNvSpPr>
          <p:nvPr>
            <p:ph type="sldNum" sz="quarter" idx="5"/>
          </p:nvPr>
        </p:nvSpPr>
        <p:spPr/>
        <p:txBody>
          <a:bodyPr/>
          <a:lstStyle/>
          <a:p>
            <a:fld id="{0729B1A0-B3FE-4DAE-8912-F1A5FF55019A}" type="slidenum">
              <a:rPr lang="en-US"/>
              <a:t>4</a:t>
            </a:fld>
            <a:endParaRPr lang="en-US"/>
          </a:p>
        </p:txBody>
      </p:sp>
    </p:spTree>
    <p:extLst>
      <p:ext uri="{BB962C8B-B14F-4D97-AF65-F5344CB8AC3E}">
        <p14:creationId xmlns:p14="http://schemas.microsoft.com/office/powerpoint/2010/main" val="3574384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0729B1A0-B3FE-4DAE-8912-F1A5FF55019A}" type="slidenum">
              <a:rPr lang="en-US"/>
              <a:t>5</a:t>
            </a:fld>
            <a:endParaRPr lang="en-US"/>
          </a:p>
        </p:txBody>
      </p:sp>
    </p:spTree>
    <p:extLst>
      <p:ext uri="{BB962C8B-B14F-4D97-AF65-F5344CB8AC3E}">
        <p14:creationId xmlns:p14="http://schemas.microsoft.com/office/powerpoint/2010/main" val="2968211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https://clinicaltrials.gov/ct2/help/for-manager</a:t>
            </a:r>
            <a:r>
              <a:rPr lang="en-US"/>
              <a:t> </a:t>
            </a:r>
          </a:p>
          <a:p>
            <a:r>
              <a:rPr lang="en-US">
                <a:hlinkClick r:id="rId4"/>
              </a:rPr>
              <a:t>https://clinicaltrials.gov/ct2/manage-recs/how-register#StepsForRegistering</a:t>
            </a:r>
            <a:r>
              <a:rPr lang="en-US"/>
              <a:t> </a:t>
            </a:r>
            <a:endParaRPr lang="en-US">
              <a:cs typeface="Calibri"/>
            </a:endParaRPr>
          </a:p>
          <a:p>
            <a:r>
              <a:rPr lang="en-US">
                <a:hlinkClick r:id="rId5"/>
              </a:rPr>
              <a:t>https://clinicaltrials.gov/ct2/manage-recs/background</a:t>
            </a:r>
            <a:r>
              <a:rPr lang="en-US"/>
              <a:t> </a:t>
            </a:r>
            <a:endParaRPr lang="en-US">
              <a:cs typeface="Calibri"/>
            </a:endParaRPr>
          </a:p>
        </p:txBody>
      </p:sp>
      <p:sp>
        <p:nvSpPr>
          <p:cNvPr id="4" name="Slide Number Placeholder 3"/>
          <p:cNvSpPr>
            <a:spLocks noGrp="1"/>
          </p:cNvSpPr>
          <p:nvPr>
            <p:ph type="sldNum" sz="quarter" idx="5"/>
          </p:nvPr>
        </p:nvSpPr>
        <p:spPr/>
        <p:txBody>
          <a:bodyPr/>
          <a:lstStyle/>
          <a:p>
            <a:fld id="{0729B1A0-B3FE-4DAE-8912-F1A5FF55019A}" type="slidenum">
              <a:rPr lang="en-US"/>
              <a:t>6</a:t>
            </a:fld>
            <a:endParaRPr lang="en-US"/>
          </a:p>
        </p:txBody>
      </p:sp>
    </p:spTree>
    <p:extLst>
      <p:ext uri="{BB962C8B-B14F-4D97-AF65-F5344CB8AC3E}">
        <p14:creationId xmlns:p14="http://schemas.microsoft.com/office/powerpoint/2010/main" val="4054596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https://www.fda.gov/media/131738/download</a:t>
            </a:r>
            <a:r>
              <a:rPr lang="en-US"/>
              <a:t> </a:t>
            </a:r>
          </a:p>
        </p:txBody>
      </p:sp>
      <p:sp>
        <p:nvSpPr>
          <p:cNvPr id="4" name="Slide Number Placeholder 3"/>
          <p:cNvSpPr>
            <a:spLocks noGrp="1"/>
          </p:cNvSpPr>
          <p:nvPr>
            <p:ph type="sldNum" sz="quarter" idx="5"/>
          </p:nvPr>
        </p:nvSpPr>
        <p:spPr/>
        <p:txBody>
          <a:bodyPr/>
          <a:lstStyle/>
          <a:p>
            <a:fld id="{0729B1A0-B3FE-4DAE-8912-F1A5FF55019A}" type="slidenum">
              <a:rPr lang="en-US"/>
              <a:t>7</a:t>
            </a:fld>
            <a:endParaRPr lang="en-US"/>
          </a:p>
        </p:txBody>
      </p:sp>
    </p:spTree>
    <p:extLst>
      <p:ext uri="{BB962C8B-B14F-4D97-AF65-F5344CB8AC3E}">
        <p14:creationId xmlns:p14="http://schemas.microsoft.com/office/powerpoint/2010/main" val="3643146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PFATS Partners are at the core of our organization. We value our relationships and collaboration to provide our membership with the most up-to-date technology and resources to advance our profession.</a:t>
            </a:r>
          </a:p>
          <a:p>
            <a:pPr algn="ctr"/>
            <a:r>
              <a:rPr lang="en-US">
                <a:hlinkClick r:id="rId3"/>
              </a:rPr>
              <a:t>https://www.pfats.com/about/partners/</a:t>
            </a:r>
            <a:endParaRPr lang="en-US">
              <a:cs typeface="Calibri"/>
            </a:endParaRPr>
          </a:p>
          <a:p>
            <a:pPr algn="ctr"/>
            <a:br>
              <a:rPr lang="en-US">
                <a:cs typeface="+mn-lt"/>
              </a:rPr>
            </a:b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729B1A0-B3FE-4DAE-8912-F1A5FF55019A}" type="slidenum">
              <a:t>9</a:t>
            </a:fld>
            <a:endParaRPr lang="en-US"/>
          </a:p>
        </p:txBody>
      </p:sp>
    </p:spTree>
    <p:extLst>
      <p:ext uri="{BB962C8B-B14F-4D97-AF65-F5344CB8AC3E}">
        <p14:creationId xmlns:p14="http://schemas.microsoft.com/office/powerpoint/2010/main" val="178880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https://www.odtmag.com/issues/2017-10-01/view_columns/orthopedic-device-price-strategies-who-is-going-to-pay-for-it</a:t>
            </a:r>
            <a:endParaRPr lang="en-US"/>
          </a:p>
          <a:p>
            <a:r>
              <a:rPr lang="en-US">
                <a:hlinkClick r:id="rId4"/>
              </a:rPr>
              <a:t>https://online.hbs.edu/blog/post/what-is-conjoint-analysis#:~:text=Conjoint%20Analysis%20in%20Pricing,to%20develop%20its%20pricing%20strategy</a:t>
            </a:r>
            <a:r>
              <a:rPr lang="en-US"/>
              <a:t>.</a:t>
            </a:r>
            <a:endParaRPr lang="en-US">
              <a:cs typeface="Calibri" panose="020F0502020204030204"/>
            </a:endParaRPr>
          </a:p>
          <a:p>
            <a:r>
              <a:rPr lang="en-US">
                <a:hlinkClick r:id="rId5"/>
              </a:rPr>
              <a:t>https://www.profitwell.com/recur/all/value-based-pricing</a:t>
            </a:r>
          </a:p>
          <a:p>
            <a:endParaRPr lang="en-US"/>
          </a:p>
        </p:txBody>
      </p:sp>
      <p:sp>
        <p:nvSpPr>
          <p:cNvPr id="4" name="Slide Number Placeholder 3"/>
          <p:cNvSpPr>
            <a:spLocks noGrp="1"/>
          </p:cNvSpPr>
          <p:nvPr>
            <p:ph type="sldNum" sz="quarter" idx="5"/>
          </p:nvPr>
        </p:nvSpPr>
        <p:spPr/>
        <p:txBody>
          <a:bodyPr/>
          <a:lstStyle/>
          <a:p>
            <a:fld id="{0729B1A0-B3FE-4DAE-8912-F1A5FF55019A}" type="slidenum">
              <a:t>10</a:t>
            </a:fld>
            <a:endParaRPr lang="en-US"/>
          </a:p>
        </p:txBody>
      </p:sp>
    </p:spTree>
    <p:extLst>
      <p:ext uri="{BB962C8B-B14F-4D97-AF65-F5344CB8AC3E}">
        <p14:creationId xmlns:p14="http://schemas.microsoft.com/office/powerpoint/2010/main" val="2446326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7/3/2022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sv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sv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hyperlink" Target="https://www.profitwell.com/recur/all/value-based-pricing" TargetMode="External"/><Relationship Id="rId7" Type="http://schemas.openxmlformats.org/officeDocument/2006/relationships/hyperlink" Target="https://www.sports-king.com/how-many-college-football-teams-3338/" TargetMode="External"/><Relationship Id="rId2" Type="http://schemas.openxmlformats.org/officeDocument/2006/relationships/hyperlink" Target="https://www.csmsportsmedicine.com/#locations-cards_g=42.3624704|-71.0639616&amp;locations-cards_o=Distance%2CAscending" TargetMode="External"/><Relationship Id="rId1" Type="http://schemas.openxmlformats.org/officeDocument/2006/relationships/slideLayout" Target="../slideLayouts/slideLayout2.xml"/><Relationship Id="rId6" Type="http://schemas.openxmlformats.org/officeDocument/2006/relationships/hyperlink" Target="https://medcitynews.com/2021/08/top-7-challenges-facing-the-medical-device-market/" TargetMode="External"/><Relationship Id="rId5" Type="http://schemas.openxmlformats.org/officeDocument/2006/relationships/hyperlink" Target="https://www.fda.gov/media/131738/download" TargetMode="External"/><Relationship Id="rId4" Type="http://schemas.openxmlformats.org/officeDocument/2006/relationships/hyperlink" Target="https://www.medicaldesignandoutsourcing.com/5-tips-to-raise-funding-for-your-medical-devi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pfats.com/about/partners/" TargetMode="External"/><Relationship Id="rId2" Type="http://schemas.openxmlformats.org/officeDocument/2006/relationships/hyperlink" Target="https://www.ncaa.com/news/football/article/2021-09-06/nfl-players-college-2021-rosters" TargetMode="External"/><Relationship Id="rId1" Type="http://schemas.openxmlformats.org/officeDocument/2006/relationships/slideLayout" Target="../slideLayouts/slideLayout2.xml"/><Relationship Id="rId6" Type="http://schemas.openxmlformats.org/officeDocument/2006/relationships/hyperlink" Target="https://search-ebscohost-com.ezproxysuf.flo.org/login.aspx?direct=true&amp;db=edsgih&amp;AN=edsgcl.698727734&amp;site=eds-live" TargetMode="External"/><Relationship Id="rId5" Type="http://schemas.openxmlformats.org/officeDocument/2006/relationships/hyperlink" Target="https://www.odtmag.com/issues/2017-10-01/view_columns/orthopedic-device-price-strategies-who-is-going-to-pay-for-it" TargetMode="External"/><Relationship Id="rId4" Type="http://schemas.openxmlformats.org/officeDocument/2006/relationships/hyperlink" Target="https://www.alliedmarketresearch.com/sports-medicine-devices-market"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clinicaltrials.gov/ct2/manage-recs/how-register#StepsForRegistering" TargetMode="External"/><Relationship Id="rId2" Type="http://schemas.openxmlformats.org/officeDocument/2006/relationships/hyperlink" Target="https://online.hbs.edu/blog/post/what-is-conjoint-analysis#:~:text=Conjoint%20Analysis%20in%20Pricing,to%20develop%20its%20pricing%20strategy" TargetMode="External"/><Relationship Id="rId1" Type="http://schemas.openxmlformats.org/officeDocument/2006/relationships/slideLayout" Target="../slideLayouts/slideLayout2.xml"/><Relationship Id="rId5" Type="http://schemas.openxmlformats.org/officeDocument/2006/relationships/hyperlink" Target="https://georgiadogs.com/sports/2017/6/17/ot-sports-medicine-sports-med-facilities-html.aspx" TargetMode="External"/><Relationship Id="rId4" Type="http://schemas.openxmlformats.org/officeDocument/2006/relationships/hyperlink" Target="https://www.statista.com/topics/963/national-football-league/#topicHeader__wrapper"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signpost.mywebermedia.com/2022/04/18/inside-the-big-business-of-college-sports/" TargetMode="External"/><Relationship Id="rId2" Type="http://schemas.openxmlformats.org/officeDocument/2006/relationships/hyperlink" Target="https://www.ncaa.org/sports/2014/7/8/athletics-health-care-administration-best-practices.aspx"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ogo, company name&#10;&#10;Description automatically generated">
            <a:extLst>
              <a:ext uri="{FF2B5EF4-FFF2-40B4-BE49-F238E27FC236}">
                <a16:creationId xmlns:a16="http://schemas.microsoft.com/office/drawing/2014/main" id="{384EDB55-834E-B9F5-3DB5-16823FF146F3}"/>
              </a:ext>
            </a:extLst>
          </p:cNvPr>
          <p:cNvPicPr>
            <a:picLocks noChangeAspect="1"/>
          </p:cNvPicPr>
          <p:nvPr/>
        </p:nvPicPr>
        <p:blipFill rotWithShape="1">
          <a:blip r:embed="rId2"/>
          <a:srcRect l="9375" t="3560" r="7813" b="971"/>
          <a:stretch/>
        </p:blipFill>
        <p:spPr>
          <a:xfrm>
            <a:off x="1401955" y="1286934"/>
            <a:ext cx="5374211" cy="4259480"/>
          </a:xfrm>
          <a:prstGeom prst="rect">
            <a:avLst/>
          </a:prstGeom>
        </p:spPr>
      </p:pic>
      <p:sp>
        <p:nvSpPr>
          <p:cNvPr id="21" name="Rectangle 20">
            <a:extLst>
              <a:ext uri="{FF2B5EF4-FFF2-40B4-BE49-F238E27FC236}">
                <a16:creationId xmlns:a16="http://schemas.microsoft.com/office/drawing/2014/main" id="{F5493CFF-E43B-4B10-ACE1-C8A124662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3" y="0"/>
            <a:ext cx="4062127"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Subtitle 2">
            <a:extLst>
              <a:ext uri="{FF2B5EF4-FFF2-40B4-BE49-F238E27FC236}">
                <a16:creationId xmlns:a16="http://schemas.microsoft.com/office/drawing/2014/main" id="{6401EBDA-E0FE-6C87-5558-9A92A8124949}"/>
              </a:ext>
            </a:extLst>
          </p:cNvPr>
          <p:cNvSpPr txBox="1">
            <a:spLocks/>
          </p:cNvSpPr>
          <p:nvPr/>
        </p:nvSpPr>
        <p:spPr>
          <a:xfrm>
            <a:off x="8546018" y="2254107"/>
            <a:ext cx="3334745" cy="283127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1300"/>
              </a:spcBef>
              <a:buNone/>
            </a:pPr>
            <a:r>
              <a:rPr lang="en-US" sz="2600">
                <a:solidFill>
                  <a:schemeClr val="bg1"/>
                </a:solidFill>
                <a:ea typeface="+mn-lt"/>
                <a:cs typeface="+mn-lt"/>
              </a:rPr>
              <a:t>Team 1: Hannah Gerrior, Dean Saldana, Zoe Ward</a:t>
            </a:r>
            <a:endParaRPr lang="en-US">
              <a:solidFill>
                <a:schemeClr val="bg1"/>
              </a:solidFill>
              <a:cs typeface="Calibri" panose="020F0502020204030204"/>
            </a:endParaRPr>
          </a:p>
          <a:p>
            <a:pPr marL="0" indent="0" algn="ctr">
              <a:spcBef>
                <a:spcPts val="1300"/>
              </a:spcBef>
              <a:buNone/>
            </a:pPr>
            <a:r>
              <a:rPr lang="en-US" sz="2000">
                <a:solidFill>
                  <a:schemeClr val="bg1"/>
                </a:solidFill>
              </a:rPr>
              <a:t>MBA 741 Experiential Intensive </a:t>
            </a:r>
            <a:endParaRPr lang="en-US" sz="2000">
              <a:solidFill>
                <a:schemeClr val="bg1"/>
              </a:solidFill>
              <a:cs typeface="Calibri"/>
            </a:endParaRPr>
          </a:p>
          <a:p>
            <a:pPr marL="0" indent="0" algn="ctr">
              <a:spcBef>
                <a:spcPts val="1300"/>
              </a:spcBef>
              <a:buNone/>
            </a:pPr>
            <a:r>
              <a:rPr lang="en-US" sz="2000">
                <a:solidFill>
                  <a:schemeClr val="bg1"/>
                </a:solidFill>
              </a:rPr>
              <a:t>Professor Len Guida</a:t>
            </a:r>
            <a:endParaRPr lang="en-US" sz="2000">
              <a:solidFill>
                <a:schemeClr val="bg1"/>
              </a:solidFill>
              <a:cs typeface="Calibri"/>
            </a:endParaRPr>
          </a:p>
          <a:p>
            <a:pPr marL="0" indent="0">
              <a:buNone/>
            </a:pPr>
            <a:endParaRPr lang="en-US" sz="2000">
              <a:solidFill>
                <a:schemeClr val="bg1"/>
              </a:solidFill>
              <a:cs typeface="Calibri"/>
            </a:endParaRPr>
          </a:p>
        </p:txBody>
      </p:sp>
      <p:pic>
        <p:nvPicPr>
          <p:cNvPr id="2" name="Picture 2" descr="Text&#10;&#10;Description automatically generated">
            <a:extLst>
              <a:ext uri="{FF2B5EF4-FFF2-40B4-BE49-F238E27FC236}">
                <a16:creationId xmlns:a16="http://schemas.microsoft.com/office/drawing/2014/main" id="{F9D8CC24-E85B-0B32-DB94-556D15EADCA5}"/>
              </a:ext>
            </a:extLst>
          </p:cNvPr>
          <p:cNvPicPr>
            <a:picLocks noChangeAspect="1"/>
          </p:cNvPicPr>
          <p:nvPr/>
        </p:nvPicPr>
        <p:blipFill>
          <a:blip r:embed="rId3"/>
          <a:stretch>
            <a:fillRect/>
          </a:stretch>
        </p:blipFill>
        <p:spPr>
          <a:xfrm>
            <a:off x="142439" y="6186799"/>
            <a:ext cx="2160495" cy="440951"/>
          </a:xfrm>
          <a:prstGeom prst="rect">
            <a:avLst/>
          </a:prstGeom>
        </p:spPr>
      </p:pic>
    </p:spTree>
    <p:extLst>
      <p:ext uri="{BB962C8B-B14F-4D97-AF65-F5344CB8AC3E}">
        <p14:creationId xmlns:p14="http://schemas.microsoft.com/office/powerpoint/2010/main" val="103760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0B37A25-C073-EDA5-E58A-C5997A58AB61}"/>
              </a:ext>
            </a:extLst>
          </p:cNvPr>
          <p:cNvSpPr>
            <a:spLocks noGrp="1"/>
          </p:cNvSpPr>
          <p:nvPr>
            <p:ph type="title"/>
          </p:nvPr>
        </p:nvSpPr>
        <p:spPr>
          <a:xfrm>
            <a:off x="777240" y="731519"/>
            <a:ext cx="2845191" cy="3237579"/>
          </a:xfrm>
        </p:spPr>
        <p:txBody>
          <a:bodyPr>
            <a:normAutofit/>
          </a:bodyPr>
          <a:lstStyle/>
          <a:p>
            <a:r>
              <a:rPr lang="en-US" sz="3800">
                <a:solidFill>
                  <a:srgbClr val="FFFFFF"/>
                </a:solidFill>
                <a:cs typeface="Calibri Light"/>
              </a:rPr>
              <a:t>Overview</a:t>
            </a:r>
            <a:endParaRPr lang="en-US" sz="3800">
              <a:solidFill>
                <a:srgbClr val="FFFFFF"/>
              </a:solidFill>
            </a:endParaRPr>
          </a:p>
        </p:txBody>
      </p:sp>
      <p:sp>
        <p:nvSpPr>
          <p:cNvPr id="21" name="Rectangle 2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3" name="Rectangle 2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9E0692-46BB-8803-0403-335913421674}"/>
              </a:ext>
            </a:extLst>
          </p:cNvPr>
          <p:cNvSpPr>
            <a:spLocks noGrp="1"/>
          </p:cNvSpPr>
          <p:nvPr>
            <p:ph idx="1"/>
          </p:nvPr>
        </p:nvSpPr>
        <p:spPr>
          <a:xfrm>
            <a:off x="4379709" y="686862"/>
            <a:ext cx="7037591" cy="5475129"/>
          </a:xfrm>
        </p:spPr>
        <p:txBody>
          <a:bodyPr anchor="ctr">
            <a:normAutofit/>
          </a:bodyPr>
          <a:lstStyle/>
          <a:p>
            <a:r>
              <a:rPr lang="en-US" sz="2600" dirty="0">
                <a:cs typeface="Calibri"/>
              </a:rPr>
              <a:t>Problem Statement</a:t>
            </a:r>
          </a:p>
          <a:p>
            <a:r>
              <a:rPr lang="en-US" sz="2600" dirty="0">
                <a:cs typeface="Calibri"/>
              </a:rPr>
              <a:t>Sports Medicine Devices Market Analysis</a:t>
            </a:r>
          </a:p>
          <a:p>
            <a:r>
              <a:rPr lang="en-US" sz="2600" dirty="0">
                <a:cs typeface="Calibri"/>
              </a:rPr>
              <a:t>Market Challenges</a:t>
            </a:r>
          </a:p>
          <a:p>
            <a:r>
              <a:rPr lang="en-US" sz="2600" dirty="0">
                <a:cs typeface="Calibri"/>
              </a:rPr>
              <a:t>Clinical Studies</a:t>
            </a:r>
          </a:p>
          <a:p>
            <a:r>
              <a:rPr lang="en-US" sz="2600" dirty="0">
                <a:cs typeface="Calibri"/>
              </a:rPr>
              <a:t>Seeking Funding</a:t>
            </a:r>
          </a:p>
          <a:p>
            <a:r>
              <a:rPr lang="en-US" sz="2600" dirty="0">
                <a:cs typeface="Calibri"/>
              </a:rPr>
              <a:t>Strategic Partnerships</a:t>
            </a:r>
          </a:p>
          <a:p>
            <a:r>
              <a:rPr lang="en-US" sz="2600" dirty="0">
                <a:cs typeface="Calibri"/>
              </a:rPr>
              <a:t>Pricing Strategy</a:t>
            </a:r>
          </a:p>
          <a:p>
            <a:r>
              <a:rPr lang="en-US" sz="2600" dirty="0">
                <a:cs typeface="Calibri"/>
              </a:rPr>
              <a:t>Professional Sport Clubs</a:t>
            </a:r>
          </a:p>
          <a:p>
            <a:r>
              <a:rPr lang="en-US" sz="2600" dirty="0">
                <a:cs typeface="Calibri"/>
              </a:rPr>
              <a:t>Recommendations</a:t>
            </a:r>
          </a:p>
          <a:p>
            <a:endParaRPr lang="en-US" sz="2600" dirty="0">
              <a:cs typeface="Calibri"/>
            </a:endParaRPr>
          </a:p>
        </p:txBody>
      </p:sp>
      <p:pic>
        <p:nvPicPr>
          <p:cNvPr id="4" name="Picture 4" descr="Icon&#10;&#10;Description automatically generated">
            <a:extLst>
              <a:ext uri="{FF2B5EF4-FFF2-40B4-BE49-F238E27FC236}">
                <a16:creationId xmlns:a16="http://schemas.microsoft.com/office/drawing/2014/main" id="{FFA90446-67BE-BC77-038E-CCD44C192328}"/>
              </a:ext>
            </a:extLst>
          </p:cNvPr>
          <p:cNvPicPr>
            <a:picLocks noChangeAspect="1"/>
          </p:cNvPicPr>
          <p:nvPr/>
        </p:nvPicPr>
        <p:blipFill>
          <a:blip r:embed="rId2"/>
          <a:stretch>
            <a:fillRect/>
          </a:stretch>
        </p:blipFill>
        <p:spPr>
          <a:xfrm>
            <a:off x="1263599" y="4545114"/>
            <a:ext cx="1749835" cy="1737545"/>
          </a:xfrm>
          <a:prstGeom prst="rect">
            <a:avLst/>
          </a:prstGeom>
        </p:spPr>
      </p:pic>
    </p:spTree>
    <p:extLst>
      <p:ext uri="{BB962C8B-B14F-4D97-AF65-F5344CB8AC3E}">
        <p14:creationId xmlns:p14="http://schemas.microsoft.com/office/powerpoint/2010/main" val="2239539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7" y="450222"/>
            <a:ext cx="11248533" cy="2781866"/>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AB2DDD5-D794-3727-D445-A9DBA78EE836}"/>
              </a:ext>
            </a:extLst>
          </p:cNvPr>
          <p:cNvSpPr>
            <a:spLocks noGrp="1"/>
          </p:cNvSpPr>
          <p:nvPr>
            <p:ph type="title"/>
          </p:nvPr>
        </p:nvSpPr>
        <p:spPr>
          <a:xfrm>
            <a:off x="774698" y="762000"/>
            <a:ext cx="10622327" cy="2144162"/>
          </a:xfrm>
        </p:spPr>
        <p:txBody>
          <a:bodyPr>
            <a:normAutofit/>
          </a:bodyPr>
          <a:lstStyle/>
          <a:p>
            <a:r>
              <a:rPr lang="en-US" sz="5400">
                <a:solidFill>
                  <a:srgbClr val="FFFFFF"/>
                </a:solidFill>
                <a:cs typeface="Calibri Light"/>
              </a:rPr>
              <a:t>Problem Statement</a:t>
            </a:r>
            <a:endParaRPr lang="en-US" sz="5400">
              <a:solidFill>
                <a:srgbClr val="FFFFFF"/>
              </a:solidFill>
            </a:endParaRPr>
          </a:p>
        </p:txBody>
      </p:sp>
      <p:sp>
        <p:nvSpPr>
          <p:cNvPr id="10" name="Rectangle 9">
            <a:extLst>
              <a:ext uri="{FF2B5EF4-FFF2-40B4-BE49-F238E27FC236}">
                <a16:creationId xmlns:a16="http://schemas.microsoft.com/office/drawing/2014/main" id="{2A8B9026-04DF-499B-A388-67FCB7435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505" y="3395972"/>
            <a:ext cx="1332806" cy="1417320"/>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05CC4153-3F0D-4F4C-8F12-E8FC3FA40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4" y="4965191"/>
            <a:ext cx="1338257" cy="143777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75100" y="3395974"/>
            <a:ext cx="9735491" cy="3006991"/>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44D018-7936-AD38-D7A6-B76D75E622CF}"/>
              </a:ext>
            </a:extLst>
          </p:cNvPr>
          <p:cNvSpPr>
            <a:spLocks noGrp="1"/>
          </p:cNvSpPr>
          <p:nvPr>
            <p:ph idx="1"/>
          </p:nvPr>
        </p:nvSpPr>
        <p:spPr>
          <a:xfrm>
            <a:off x="2286000" y="3648548"/>
            <a:ext cx="9111025" cy="2481864"/>
          </a:xfrm>
        </p:spPr>
        <p:txBody>
          <a:bodyPr vert="horz" lIns="91440" tIns="45720" rIns="91440" bIns="45720" rtlCol="0" anchor="t">
            <a:normAutofit/>
          </a:bodyPr>
          <a:lstStyle/>
          <a:p>
            <a:pPr marL="0" indent="0">
              <a:buNone/>
            </a:pPr>
            <a:r>
              <a:rPr lang="en-US" sz="2400">
                <a:cs typeface="Calibri" panose="020F0502020204030204"/>
              </a:rPr>
              <a:t>Free Joint Motion, a small start-up company based out of Brazil, is looking to enter the U.S. market with their corrective ankle therapy device. We need to research multiple dimensions of the U.S. sports medical device market, grants and clinical studies, partnerships, and pricing strategies. Our goal is to advise Free Joint Motion on how to make a successful market entry despite different cultures and other areas of distance.</a:t>
            </a:r>
          </a:p>
        </p:txBody>
      </p:sp>
      <p:pic>
        <p:nvPicPr>
          <p:cNvPr id="4" name="Picture 4" descr="Shape, circle&#10;&#10;Description automatically generated">
            <a:extLst>
              <a:ext uri="{FF2B5EF4-FFF2-40B4-BE49-F238E27FC236}">
                <a16:creationId xmlns:a16="http://schemas.microsoft.com/office/drawing/2014/main" id="{922AB153-0B39-E6B4-4DF6-F3270E4C2B73}"/>
              </a:ext>
            </a:extLst>
          </p:cNvPr>
          <p:cNvPicPr>
            <a:picLocks noChangeAspect="1"/>
          </p:cNvPicPr>
          <p:nvPr/>
        </p:nvPicPr>
        <p:blipFill>
          <a:blip r:embed="rId2"/>
          <a:stretch>
            <a:fillRect/>
          </a:stretch>
        </p:blipFill>
        <p:spPr>
          <a:xfrm>
            <a:off x="627256" y="5053825"/>
            <a:ext cx="994318" cy="1257300"/>
          </a:xfrm>
          <a:prstGeom prst="rect">
            <a:avLst/>
          </a:prstGeom>
        </p:spPr>
      </p:pic>
    </p:spTree>
    <p:extLst>
      <p:ext uri="{BB962C8B-B14F-4D97-AF65-F5344CB8AC3E}">
        <p14:creationId xmlns:p14="http://schemas.microsoft.com/office/powerpoint/2010/main" val="3894689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30085DF-46D4-5977-0FB3-A4487397B25D}"/>
              </a:ext>
            </a:extLst>
          </p:cNvPr>
          <p:cNvSpPr>
            <a:spLocks noGrp="1"/>
          </p:cNvSpPr>
          <p:nvPr>
            <p:ph type="title"/>
          </p:nvPr>
        </p:nvSpPr>
        <p:spPr>
          <a:xfrm>
            <a:off x="777240" y="731519"/>
            <a:ext cx="2845191" cy="3237579"/>
          </a:xfrm>
        </p:spPr>
        <p:txBody>
          <a:bodyPr>
            <a:normAutofit/>
          </a:bodyPr>
          <a:lstStyle/>
          <a:p>
            <a:r>
              <a:rPr lang="en-US" sz="3800">
                <a:solidFill>
                  <a:srgbClr val="FFFFFF"/>
                </a:solidFill>
                <a:cs typeface="Calibri Light"/>
              </a:rPr>
              <a:t>Sports </a:t>
            </a:r>
            <a:r>
              <a:rPr lang="en-US" sz="3800" dirty="0">
                <a:solidFill>
                  <a:srgbClr val="FFFFFF"/>
                </a:solidFill>
                <a:cs typeface="Calibri Light"/>
              </a:rPr>
              <a:t>Medicine Devices </a:t>
            </a:r>
            <a:br>
              <a:rPr lang="en-US" sz="3800" dirty="0">
                <a:solidFill>
                  <a:srgbClr val="FFFFFF"/>
                </a:solidFill>
                <a:cs typeface="Calibri Light"/>
              </a:rPr>
            </a:br>
            <a:r>
              <a:rPr lang="en-US" sz="3800">
                <a:solidFill>
                  <a:srgbClr val="FFFFFF"/>
                </a:solidFill>
                <a:cs typeface="Calibri Light"/>
              </a:rPr>
              <a:t>Market Analysis</a:t>
            </a:r>
            <a:endParaRPr lang="en-US" sz="3800">
              <a:solidFill>
                <a:srgbClr val="FFFFFF"/>
              </a:solidFill>
            </a:endParaRPr>
          </a:p>
        </p:txBody>
      </p:sp>
      <p:sp>
        <p:nvSpPr>
          <p:cNvPr id="45" name="Rectangle 44">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7" name="Rectangle 46">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B5E6318-BED2-091A-5186-F07F68FBD268}"/>
              </a:ext>
            </a:extLst>
          </p:cNvPr>
          <p:cNvSpPr>
            <a:spLocks noGrp="1"/>
          </p:cNvSpPr>
          <p:nvPr>
            <p:ph idx="1"/>
          </p:nvPr>
        </p:nvSpPr>
        <p:spPr>
          <a:xfrm>
            <a:off x="4379709" y="686862"/>
            <a:ext cx="7037591" cy="5475129"/>
          </a:xfrm>
        </p:spPr>
        <p:txBody>
          <a:bodyPr anchor="ctr">
            <a:normAutofit/>
          </a:bodyPr>
          <a:lstStyle/>
          <a:p>
            <a:pPr>
              <a:lnSpc>
                <a:spcPct val="85000"/>
              </a:lnSpc>
              <a:spcBef>
                <a:spcPts val="1300"/>
              </a:spcBef>
              <a:buFont typeface="Wingdings,Sans-Serif" panose="020B0604020202020204" pitchFamily="34" charset="0"/>
              <a:buChar char="§"/>
            </a:pPr>
            <a:r>
              <a:rPr lang="en-US" sz="2400" dirty="0">
                <a:ea typeface="+mn-lt"/>
                <a:cs typeface="+mn-lt"/>
              </a:rPr>
              <a:t> Sports Medicine Devices Market: Size is predicted to grow to $7.5 billion in 2027 with a CAGR of 7.9% from 2022-2027</a:t>
            </a:r>
            <a:r>
              <a:rPr lang="en-US" sz="2400" baseline="30000" dirty="0">
                <a:ea typeface="+mn-lt"/>
                <a:cs typeface="+mn-lt"/>
              </a:rPr>
              <a:t>1</a:t>
            </a:r>
            <a:r>
              <a:rPr lang="en-US" sz="2400" dirty="0">
                <a:ea typeface="+mn-lt"/>
                <a:cs typeface="+mn-lt"/>
              </a:rPr>
              <a:t> </a:t>
            </a:r>
            <a:endParaRPr lang="en-US" sz="2400" dirty="0">
              <a:cs typeface="Calibri"/>
            </a:endParaRPr>
          </a:p>
          <a:p>
            <a:pPr>
              <a:lnSpc>
                <a:spcPct val="85000"/>
              </a:lnSpc>
              <a:spcBef>
                <a:spcPts val="1300"/>
              </a:spcBef>
              <a:buFont typeface="Wingdings,Sans-Serif" panose="020B0604020202020204" pitchFamily="34" charset="0"/>
              <a:buChar char="§"/>
            </a:pPr>
            <a:r>
              <a:rPr lang="en-US" sz="2400" dirty="0">
                <a:ea typeface="+mn-lt"/>
                <a:cs typeface="+mn-lt"/>
              </a:rPr>
              <a:t> In 2021, North America held the highest market share of 39%</a:t>
            </a:r>
            <a:r>
              <a:rPr lang="en-US" sz="2400" baseline="30000" dirty="0">
                <a:ea typeface="+mn-lt"/>
                <a:cs typeface="+mn-lt"/>
              </a:rPr>
              <a:t>1</a:t>
            </a:r>
          </a:p>
          <a:p>
            <a:pPr>
              <a:lnSpc>
                <a:spcPct val="85000"/>
              </a:lnSpc>
              <a:spcBef>
                <a:spcPts val="1300"/>
              </a:spcBef>
              <a:buFont typeface="Wingdings,Sans-Serif" panose="020B0604020202020204" pitchFamily="34" charset="0"/>
              <a:buChar char="§"/>
            </a:pPr>
            <a:r>
              <a:rPr lang="en-US" sz="2400" dirty="0">
                <a:ea typeface="+mn-lt"/>
                <a:cs typeface="+mn-lt"/>
              </a:rPr>
              <a:t>Market is segmented based on product, application and region</a:t>
            </a:r>
          </a:p>
          <a:p>
            <a:pPr>
              <a:lnSpc>
                <a:spcPct val="85000"/>
              </a:lnSpc>
              <a:spcBef>
                <a:spcPts val="1300"/>
              </a:spcBef>
              <a:buFont typeface="Wingdings,Sans-Serif" panose="020B0604020202020204" pitchFamily="34" charset="0"/>
              <a:buChar char="§"/>
            </a:pPr>
            <a:r>
              <a:rPr lang="en-US" sz="2400" dirty="0">
                <a:ea typeface="+mn-lt"/>
                <a:cs typeface="+mn-lt"/>
              </a:rPr>
              <a:t> In the United States, football is one of the leading sports in the number of ankle injuries</a:t>
            </a:r>
          </a:p>
          <a:p>
            <a:pPr>
              <a:lnSpc>
                <a:spcPct val="85000"/>
              </a:lnSpc>
              <a:spcBef>
                <a:spcPts val="1300"/>
              </a:spcBef>
              <a:buFont typeface="Wingdings,Sans-Serif" panose="020B0604020202020204" pitchFamily="34" charset="0"/>
              <a:buChar char="§"/>
            </a:pPr>
            <a:r>
              <a:rPr lang="en-US" sz="2400" dirty="0">
                <a:ea typeface="+mn-lt"/>
                <a:cs typeface="+mn-lt"/>
              </a:rPr>
              <a:t> There are a total of 1,696 NFL players and 834 college football teams</a:t>
            </a:r>
            <a:r>
              <a:rPr lang="en-US" sz="2400" baseline="30000" dirty="0">
                <a:ea typeface="+mn-lt"/>
                <a:cs typeface="+mn-lt"/>
              </a:rPr>
              <a:t>2</a:t>
            </a:r>
          </a:p>
        </p:txBody>
      </p:sp>
      <p:pic>
        <p:nvPicPr>
          <p:cNvPr id="5" name="Picture 5" descr="A picture containing text, clipart&#10;&#10;Description automatically generated">
            <a:extLst>
              <a:ext uri="{FF2B5EF4-FFF2-40B4-BE49-F238E27FC236}">
                <a16:creationId xmlns:a16="http://schemas.microsoft.com/office/drawing/2014/main" id="{ACD21C43-2544-B14A-935C-A961B43B5AF7}"/>
              </a:ext>
            </a:extLst>
          </p:cNvPr>
          <p:cNvPicPr>
            <a:picLocks noChangeAspect="1"/>
          </p:cNvPicPr>
          <p:nvPr/>
        </p:nvPicPr>
        <p:blipFill>
          <a:blip r:embed="rId3"/>
          <a:stretch>
            <a:fillRect/>
          </a:stretch>
        </p:blipFill>
        <p:spPr>
          <a:xfrm>
            <a:off x="821473" y="4649873"/>
            <a:ext cx="2743200" cy="1516935"/>
          </a:xfrm>
          <a:prstGeom prst="rect">
            <a:avLst/>
          </a:prstGeom>
        </p:spPr>
      </p:pic>
      <p:sp>
        <p:nvSpPr>
          <p:cNvPr id="4" name="TextBox 3">
            <a:extLst>
              <a:ext uri="{FF2B5EF4-FFF2-40B4-BE49-F238E27FC236}">
                <a16:creationId xmlns:a16="http://schemas.microsoft.com/office/drawing/2014/main" id="{AEE450F1-A7A8-0365-36C1-1F174F736E08}"/>
              </a:ext>
            </a:extLst>
          </p:cNvPr>
          <p:cNvSpPr txBox="1"/>
          <p:nvPr/>
        </p:nvSpPr>
        <p:spPr>
          <a:xfrm>
            <a:off x="6389078" y="5767754"/>
            <a:ext cx="53808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ea typeface="+mn-lt"/>
                <a:cs typeface="+mn-lt"/>
              </a:rPr>
              <a:t>1. “Sports Medicine Devices Market Size Estimated to Reach $7.5 Billion by 2027.” </a:t>
            </a:r>
            <a:r>
              <a:rPr lang="en-US" sz="1200" i="1" dirty="0">
                <a:ea typeface="+mn-lt"/>
                <a:cs typeface="+mn-lt"/>
              </a:rPr>
              <a:t>M2 Presswire</a:t>
            </a:r>
            <a:r>
              <a:rPr lang="en-US" sz="1200" dirty="0">
                <a:ea typeface="+mn-lt"/>
                <a:cs typeface="+mn-lt"/>
              </a:rPr>
              <a:t>, 30 Mar. 2022. </a:t>
            </a:r>
            <a:r>
              <a:rPr lang="en-US" sz="1200" i="1" dirty="0">
                <a:ea typeface="+mn-lt"/>
                <a:cs typeface="+mn-lt"/>
              </a:rPr>
              <a:t>EBSCOhost</a:t>
            </a:r>
            <a:endParaRPr lang="en-US" sz="1200">
              <a:cs typeface="Calibri"/>
            </a:endParaRPr>
          </a:p>
          <a:p>
            <a:r>
              <a:rPr lang="en-US" sz="1200" i="1" dirty="0">
                <a:cs typeface="Calibri"/>
              </a:rPr>
              <a:t>2. </a:t>
            </a:r>
            <a:r>
              <a:rPr lang="en-US" sz="1200" dirty="0">
                <a:ea typeface="+mn-lt"/>
                <a:cs typeface="+mn-lt"/>
              </a:rPr>
              <a:t>Putnik , G. (2021, September 12). </a:t>
            </a:r>
            <a:r>
              <a:rPr lang="en-US" sz="1200" i="1" dirty="0">
                <a:ea typeface="+mn-lt"/>
                <a:cs typeface="+mn-lt"/>
              </a:rPr>
              <a:t>NFL players by college on 2021 rosters</a:t>
            </a:r>
            <a:r>
              <a:rPr lang="en-US" sz="1200" dirty="0">
                <a:ea typeface="+mn-lt"/>
                <a:cs typeface="+mn-lt"/>
              </a:rPr>
              <a:t>. NCAA. </a:t>
            </a:r>
            <a:endParaRPr lang="en-US" sz="1200" i="1" dirty="0">
              <a:ea typeface="+mn-lt"/>
              <a:cs typeface="+mn-lt"/>
            </a:endParaRPr>
          </a:p>
          <a:p>
            <a:endParaRPr lang="en-US">
              <a:cs typeface="Calibri" panose="020F0502020204030204"/>
            </a:endParaRPr>
          </a:p>
        </p:txBody>
      </p:sp>
    </p:spTree>
    <p:extLst>
      <p:ext uri="{BB962C8B-B14F-4D97-AF65-F5344CB8AC3E}">
        <p14:creationId xmlns:p14="http://schemas.microsoft.com/office/powerpoint/2010/main" val="2946464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1" y="453981"/>
            <a:ext cx="11274158"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34DAAF4-FAEF-D143-040E-7D885E2A1449}"/>
              </a:ext>
            </a:extLst>
          </p:cNvPr>
          <p:cNvSpPr>
            <a:spLocks noGrp="1"/>
          </p:cNvSpPr>
          <p:nvPr>
            <p:ph type="title"/>
          </p:nvPr>
        </p:nvSpPr>
        <p:spPr>
          <a:xfrm>
            <a:off x="731519" y="731520"/>
            <a:ext cx="10666145" cy="1426464"/>
          </a:xfrm>
        </p:spPr>
        <p:txBody>
          <a:bodyPr>
            <a:normAutofit/>
          </a:bodyPr>
          <a:lstStyle/>
          <a:p>
            <a:r>
              <a:rPr lang="en-US">
                <a:solidFill>
                  <a:srgbClr val="FFFFFF"/>
                </a:solidFill>
                <a:cs typeface="Calibri Light"/>
              </a:rPr>
              <a:t>Market Challenges</a:t>
            </a:r>
            <a:endParaRPr lang="en-US">
              <a:solidFill>
                <a:srgbClr val="FFFFFF"/>
              </a:solidFill>
            </a:endParaRPr>
          </a:p>
        </p:txBody>
      </p:sp>
      <p:sp>
        <p:nvSpPr>
          <p:cNvPr id="10" name="Rectangle 9">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9006933"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265A0B-6A83-B519-1C0F-A79F0879E401}"/>
              </a:ext>
            </a:extLst>
          </p:cNvPr>
          <p:cNvSpPr>
            <a:spLocks noGrp="1"/>
          </p:cNvSpPr>
          <p:nvPr>
            <p:ph idx="1"/>
          </p:nvPr>
        </p:nvSpPr>
        <p:spPr>
          <a:xfrm>
            <a:off x="789456" y="2771776"/>
            <a:ext cx="4115893" cy="3318338"/>
          </a:xfrm>
        </p:spPr>
        <p:txBody>
          <a:bodyPr vert="horz" lIns="91440" tIns="45720" rIns="91440" bIns="45720" rtlCol="0" anchor="ctr">
            <a:normAutofit fontScale="92500" lnSpcReduction="20000"/>
          </a:bodyPr>
          <a:lstStyle/>
          <a:p>
            <a:r>
              <a:rPr lang="en-US" sz="2600">
                <a:cs typeface="Calibri"/>
              </a:rPr>
              <a:t>Regulatory challenges</a:t>
            </a:r>
            <a:endParaRPr lang="en-US"/>
          </a:p>
          <a:p>
            <a:r>
              <a:rPr lang="en-US" sz="2600">
                <a:ea typeface="+mn-lt"/>
                <a:cs typeface="+mn-lt"/>
              </a:rPr>
              <a:t>Supply chain disruptions </a:t>
            </a:r>
          </a:p>
          <a:p>
            <a:r>
              <a:rPr lang="en-US" sz="2600">
                <a:ea typeface="+mn-lt"/>
                <a:cs typeface="+mn-lt"/>
              </a:rPr>
              <a:t>Increased healthcare costs</a:t>
            </a:r>
            <a:endParaRPr lang="en-US">
              <a:ea typeface="+mn-lt"/>
              <a:cs typeface="+mn-lt"/>
            </a:endParaRPr>
          </a:p>
          <a:p>
            <a:r>
              <a:rPr lang="en-US" sz="2600">
                <a:cs typeface="Calibri"/>
              </a:rPr>
              <a:t>Expensive R&amp;D</a:t>
            </a:r>
          </a:p>
          <a:p>
            <a:r>
              <a:rPr lang="en-US" sz="2600">
                <a:cs typeface="Calibri"/>
              </a:rPr>
              <a:t>Cybersecurity</a:t>
            </a:r>
          </a:p>
          <a:p>
            <a:r>
              <a:rPr lang="en-US" sz="2600">
                <a:cs typeface="Calibri"/>
              </a:rPr>
              <a:t>Counterfeit products</a:t>
            </a:r>
          </a:p>
          <a:p>
            <a:r>
              <a:rPr lang="en-US" sz="2600">
                <a:cs typeface="Calibri"/>
              </a:rPr>
              <a:t>Recalls/lawsuits</a:t>
            </a:r>
          </a:p>
          <a:p>
            <a:r>
              <a:rPr lang="en-US" sz="2600">
                <a:cs typeface="Calibri"/>
              </a:rPr>
              <a:t>Competition</a:t>
            </a: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2480956"/>
            <a:ext cx="2112264" cy="189890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4529023"/>
            <a:ext cx="2107363"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5" name="Picture 5">
            <a:extLst>
              <a:ext uri="{FF2B5EF4-FFF2-40B4-BE49-F238E27FC236}">
                <a16:creationId xmlns:a16="http://schemas.microsoft.com/office/drawing/2014/main" id="{69AF563D-94AA-AC6E-B03A-C0BE2C64256E}"/>
              </a:ext>
            </a:extLst>
          </p:cNvPr>
          <p:cNvPicPr>
            <a:picLocks noChangeAspect="1"/>
          </p:cNvPicPr>
          <p:nvPr/>
        </p:nvPicPr>
        <p:blipFill>
          <a:blip r:embed="rId3"/>
          <a:stretch>
            <a:fillRect/>
          </a:stretch>
        </p:blipFill>
        <p:spPr>
          <a:xfrm>
            <a:off x="5714513" y="3333246"/>
            <a:ext cx="3131280" cy="2178150"/>
          </a:xfrm>
          <a:prstGeom prst="rect">
            <a:avLst/>
          </a:prstGeom>
        </p:spPr>
      </p:pic>
    </p:spTree>
    <p:extLst>
      <p:ext uri="{BB962C8B-B14F-4D97-AF65-F5344CB8AC3E}">
        <p14:creationId xmlns:p14="http://schemas.microsoft.com/office/powerpoint/2010/main" val="69261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1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9B2D347-AB4B-242A-BF6F-99B802778E59}"/>
              </a:ext>
            </a:extLst>
          </p:cNvPr>
          <p:cNvSpPr>
            <a:spLocks noGrp="1"/>
          </p:cNvSpPr>
          <p:nvPr>
            <p:ph type="title"/>
          </p:nvPr>
        </p:nvSpPr>
        <p:spPr>
          <a:xfrm>
            <a:off x="731520" y="731520"/>
            <a:ext cx="6089904" cy="1426464"/>
          </a:xfrm>
        </p:spPr>
        <p:txBody>
          <a:bodyPr>
            <a:normAutofit/>
          </a:bodyPr>
          <a:lstStyle/>
          <a:p>
            <a:r>
              <a:rPr lang="en-US">
                <a:solidFill>
                  <a:srgbClr val="FFFFFF"/>
                </a:solidFill>
                <a:cs typeface="Calibri Light"/>
              </a:rPr>
              <a:t>Clinical Trials</a:t>
            </a:r>
          </a:p>
        </p:txBody>
      </p:sp>
      <p:sp>
        <p:nvSpPr>
          <p:cNvPr id="35" name="Rectangle 2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6" name="Rectangle 22">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7" name="Rectangle 24">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85A62B-9E11-7C2B-2838-A8FE4B85EE31}"/>
              </a:ext>
            </a:extLst>
          </p:cNvPr>
          <p:cNvSpPr>
            <a:spLocks noGrp="1"/>
          </p:cNvSpPr>
          <p:nvPr>
            <p:ph idx="1"/>
          </p:nvPr>
        </p:nvSpPr>
        <p:spPr>
          <a:xfrm>
            <a:off x="789456" y="2798385"/>
            <a:ext cx="7186873" cy="3283260"/>
          </a:xfrm>
        </p:spPr>
        <p:txBody>
          <a:bodyPr vert="horz" lIns="91440" tIns="45720" rIns="91440" bIns="45720" rtlCol="0" anchor="t">
            <a:normAutofit fontScale="92500" lnSpcReduction="10000"/>
          </a:bodyPr>
          <a:lstStyle/>
          <a:p>
            <a:r>
              <a:rPr lang="en-US" sz="2700">
                <a:cs typeface="Calibri"/>
              </a:rPr>
              <a:t>Free Joint Motion Device </a:t>
            </a:r>
          </a:p>
          <a:p>
            <a:pPr lvl="1"/>
            <a:r>
              <a:rPr lang="en-US" sz="2300">
                <a:cs typeface="Calibri"/>
              </a:rPr>
              <a:t>To be registered as a Class 1 Medical Device by the FDA (clinical trials not required)</a:t>
            </a:r>
          </a:p>
          <a:p>
            <a:pPr lvl="1"/>
            <a:r>
              <a:rPr lang="en-US" sz="2300">
                <a:cs typeface="Calibri"/>
              </a:rPr>
              <a:t>After modifications, to be registered as a Class 2 Medical Device (clinical trials may be required)</a:t>
            </a:r>
          </a:p>
          <a:p>
            <a:r>
              <a:rPr lang="en-US" sz="2700">
                <a:cs typeface="Calibri"/>
              </a:rPr>
              <a:t>Clinicaltrials.gov</a:t>
            </a:r>
          </a:p>
          <a:p>
            <a:pPr lvl="1"/>
            <a:r>
              <a:rPr lang="en-US" sz="2300">
                <a:cs typeface="Calibri"/>
              </a:rPr>
              <a:t>Resource for registering clinical trials</a:t>
            </a:r>
          </a:p>
          <a:p>
            <a:pPr lvl="1"/>
            <a:r>
              <a:rPr lang="en-US" sz="2300">
                <a:cs typeface="Calibri"/>
              </a:rPr>
              <a:t>Web-based data entry system – Protocol Registration and Results System (PRS)</a:t>
            </a:r>
          </a:p>
          <a:p>
            <a:pPr lvl="1"/>
            <a:r>
              <a:rPr lang="en-US" sz="2300">
                <a:cs typeface="Calibri"/>
              </a:rPr>
              <a:t>No cost to list the clinical trial</a:t>
            </a:r>
          </a:p>
        </p:txBody>
      </p:sp>
      <p:pic>
        <p:nvPicPr>
          <p:cNvPr id="4" name="Picture 4" descr="Icon&#10;&#10;Description automatically generated">
            <a:extLst>
              <a:ext uri="{FF2B5EF4-FFF2-40B4-BE49-F238E27FC236}">
                <a16:creationId xmlns:a16="http://schemas.microsoft.com/office/drawing/2014/main" id="{2DA447A4-89A6-1545-0DD5-4D2111FA25CA}"/>
              </a:ext>
            </a:extLst>
          </p:cNvPr>
          <p:cNvPicPr>
            <a:picLocks noChangeAspect="1"/>
          </p:cNvPicPr>
          <p:nvPr/>
        </p:nvPicPr>
        <p:blipFill>
          <a:blip r:embed="rId3"/>
          <a:stretch>
            <a:fillRect/>
          </a:stretch>
        </p:blipFill>
        <p:spPr>
          <a:xfrm>
            <a:off x="8562278" y="3676103"/>
            <a:ext cx="2575932" cy="1475841"/>
          </a:xfrm>
          <a:prstGeom prst="rect">
            <a:avLst/>
          </a:prstGeom>
        </p:spPr>
      </p:pic>
    </p:spTree>
    <p:extLst>
      <p:ext uri="{BB962C8B-B14F-4D97-AF65-F5344CB8AC3E}">
        <p14:creationId xmlns:p14="http://schemas.microsoft.com/office/powerpoint/2010/main" val="2214135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1" y="453981"/>
            <a:ext cx="11274158"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ED075A-09CD-8632-151A-F478AB800658}"/>
              </a:ext>
            </a:extLst>
          </p:cNvPr>
          <p:cNvSpPr>
            <a:spLocks noGrp="1"/>
          </p:cNvSpPr>
          <p:nvPr>
            <p:ph type="title"/>
          </p:nvPr>
        </p:nvSpPr>
        <p:spPr>
          <a:xfrm>
            <a:off x="731519" y="731520"/>
            <a:ext cx="10666145" cy="1426464"/>
          </a:xfrm>
        </p:spPr>
        <p:txBody>
          <a:bodyPr>
            <a:normAutofit/>
          </a:bodyPr>
          <a:lstStyle/>
          <a:p>
            <a:r>
              <a:rPr lang="en-US">
                <a:solidFill>
                  <a:srgbClr val="FFFFFF"/>
                </a:solidFill>
                <a:cs typeface="Calibri Light"/>
              </a:rPr>
              <a:t>Seeking Funding</a:t>
            </a:r>
          </a:p>
        </p:txBody>
      </p:sp>
      <p:sp>
        <p:nvSpPr>
          <p:cNvPr id="10" name="Rectangle 9">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9006933"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2480956"/>
            <a:ext cx="2112264" cy="189890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4529023"/>
            <a:ext cx="2107363"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75FE8B2-4C15-4669-CA7C-503A0A77FA01}"/>
              </a:ext>
            </a:extLst>
          </p:cNvPr>
          <p:cNvSpPr txBox="1"/>
          <p:nvPr/>
        </p:nvSpPr>
        <p:spPr>
          <a:xfrm>
            <a:off x="496529" y="2555395"/>
            <a:ext cx="8925231"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t>Build a regulatory strategy</a:t>
            </a:r>
            <a:endParaRPr lang="en-US" sz="1600">
              <a:cs typeface="Calibri"/>
            </a:endParaRPr>
          </a:p>
          <a:p>
            <a:pPr marL="285750" indent="-285750">
              <a:buFont typeface="Arial"/>
              <a:buChar char="•"/>
            </a:pPr>
            <a:r>
              <a:rPr lang="en-US" sz="1600">
                <a:cs typeface="Calibri"/>
              </a:rPr>
              <a:t>Establish a business case</a:t>
            </a:r>
          </a:p>
          <a:p>
            <a:pPr marL="742950" lvl="1" indent="-285750">
              <a:buFont typeface="Arial"/>
              <a:buChar char="•"/>
            </a:pPr>
            <a:r>
              <a:rPr lang="en-US" sz="1600">
                <a:cs typeface="Calibri"/>
              </a:rPr>
              <a:t>Why is your medical device necessary?</a:t>
            </a:r>
          </a:p>
          <a:p>
            <a:pPr marL="742950" lvl="1" indent="-285750">
              <a:buFont typeface="Arial"/>
              <a:buChar char="•"/>
            </a:pPr>
            <a:r>
              <a:rPr lang="en-US" sz="1600">
                <a:cs typeface="Calibri"/>
              </a:rPr>
              <a:t>Does the medical device have a proven clinical need?  Does it fulfill an unmet need?</a:t>
            </a:r>
          </a:p>
          <a:p>
            <a:pPr marL="742950" lvl="1" indent="-285750">
              <a:buFont typeface="Arial"/>
              <a:buChar char="•"/>
            </a:pPr>
            <a:r>
              <a:rPr lang="en-US" sz="1600">
                <a:cs typeface="Calibri"/>
              </a:rPr>
              <a:t>Are there similar devices on the market? If so, what are they?</a:t>
            </a:r>
          </a:p>
          <a:p>
            <a:pPr marL="742950" lvl="1" indent="-285750">
              <a:buFont typeface="Arial"/>
              <a:buChar char="•"/>
            </a:pPr>
            <a:r>
              <a:rPr lang="en-US" sz="1600">
                <a:cs typeface="Calibri"/>
              </a:rPr>
              <a:t>Who is the end-user of your medical device?</a:t>
            </a:r>
          </a:p>
          <a:p>
            <a:pPr marL="742950" lvl="1" indent="-285750">
              <a:buFont typeface="Arial"/>
              <a:buChar char="•"/>
            </a:pPr>
            <a:r>
              <a:rPr lang="en-US" sz="1600">
                <a:cs typeface="Calibri"/>
              </a:rPr>
              <a:t>Who will purchase the medical device?</a:t>
            </a:r>
          </a:p>
          <a:p>
            <a:pPr marL="742950" lvl="1" indent="-285750">
              <a:buFont typeface="Arial"/>
              <a:buChar char="•"/>
            </a:pPr>
            <a:r>
              <a:rPr lang="en-US" sz="1600">
                <a:cs typeface="Calibri"/>
              </a:rPr>
              <a:t>What is the market size for the device?</a:t>
            </a:r>
          </a:p>
          <a:p>
            <a:pPr marL="742950" lvl="1" indent="-285750">
              <a:buFont typeface="Arial"/>
              <a:buChar char="•"/>
            </a:pPr>
            <a:r>
              <a:rPr lang="en-US" sz="1600">
                <a:cs typeface="Calibri"/>
              </a:rPr>
              <a:t>What regulator issues are involved?</a:t>
            </a:r>
          </a:p>
          <a:p>
            <a:pPr marL="285750" indent="-285750">
              <a:buFont typeface="Arial"/>
              <a:buChar char="•"/>
            </a:pPr>
            <a:r>
              <a:rPr lang="en-US" sz="1600">
                <a:cs typeface="Calibri"/>
              </a:rPr>
              <a:t>Consider the FDA pre-submission tool prior to the formal FDA approval process</a:t>
            </a:r>
          </a:p>
          <a:p>
            <a:pPr marL="285750" indent="-285750">
              <a:buFont typeface="Arial"/>
              <a:buChar char="•"/>
            </a:pPr>
            <a:r>
              <a:rPr lang="en-US" sz="1600">
                <a:cs typeface="Calibri"/>
              </a:rPr>
              <a:t>Know the concerns of investors and risk scenarios</a:t>
            </a:r>
          </a:p>
          <a:p>
            <a:pPr marL="742950" lvl="1" indent="-285750">
              <a:buFont typeface="Arial"/>
              <a:buChar char="•"/>
            </a:pPr>
            <a:r>
              <a:rPr lang="en-US" sz="1600">
                <a:cs typeface="Calibri"/>
              </a:rPr>
              <a:t>Does the idea work?</a:t>
            </a:r>
          </a:p>
          <a:p>
            <a:pPr marL="742950" lvl="1" indent="-285750">
              <a:buFont typeface="Arial"/>
              <a:buChar char="•"/>
            </a:pPr>
            <a:r>
              <a:rPr lang="en-US" sz="1600">
                <a:cs typeface="Calibri"/>
              </a:rPr>
              <a:t>Does the device have a market with a need?</a:t>
            </a:r>
          </a:p>
          <a:p>
            <a:pPr marL="742950" lvl="1" indent="-285750">
              <a:buFont typeface="Arial"/>
              <a:buChar char="•"/>
            </a:pPr>
            <a:r>
              <a:rPr lang="en-US" sz="1600">
                <a:cs typeface="Calibri"/>
              </a:rPr>
              <a:t>Are the right people on staff to make it work long-term?</a:t>
            </a:r>
          </a:p>
          <a:p>
            <a:pPr marL="285750" indent="-285750">
              <a:buFont typeface="Arial"/>
              <a:buChar char="•"/>
            </a:pPr>
            <a:r>
              <a:rPr lang="en-US" sz="1600">
                <a:cs typeface="Calibri"/>
              </a:rPr>
              <a:t>Prove the device will make it to market and be successful</a:t>
            </a:r>
          </a:p>
          <a:p>
            <a:pPr marL="285750" indent="-285750">
              <a:buFont typeface="Arial"/>
              <a:buChar char="•"/>
            </a:pPr>
            <a:endParaRPr lang="en-US">
              <a:cs typeface="Calibri"/>
            </a:endParaRPr>
          </a:p>
        </p:txBody>
      </p:sp>
      <p:pic>
        <p:nvPicPr>
          <p:cNvPr id="4" name="Picture 4" descr="Icon&#10;&#10;Description automatically generated">
            <a:extLst>
              <a:ext uri="{FF2B5EF4-FFF2-40B4-BE49-F238E27FC236}">
                <a16:creationId xmlns:a16="http://schemas.microsoft.com/office/drawing/2014/main" id="{5890EB33-385E-21C7-7176-3ACC5613361C}"/>
              </a:ext>
            </a:extLst>
          </p:cNvPr>
          <p:cNvPicPr>
            <a:picLocks noChangeAspect="1"/>
          </p:cNvPicPr>
          <p:nvPr/>
        </p:nvPicPr>
        <p:blipFill>
          <a:blip r:embed="rId3"/>
          <a:stretch>
            <a:fillRect/>
          </a:stretch>
        </p:blipFill>
        <p:spPr>
          <a:xfrm>
            <a:off x="9870687" y="2617632"/>
            <a:ext cx="1622503" cy="1632028"/>
          </a:xfrm>
          <a:prstGeom prst="rect">
            <a:avLst/>
          </a:prstGeom>
        </p:spPr>
      </p:pic>
    </p:spTree>
    <p:extLst>
      <p:ext uri="{BB962C8B-B14F-4D97-AF65-F5344CB8AC3E}">
        <p14:creationId xmlns:p14="http://schemas.microsoft.com/office/powerpoint/2010/main" val="663428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1F98A577-48C3-69CB-A4CB-DC3C93B7B38B}"/>
              </a:ext>
            </a:extLst>
          </p:cNvPr>
          <p:cNvSpPr>
            <a:spLocks noGrp="1"/>
          </p:cNvSpPr>
          <p:nvPr>
            <p:ph type="title"/>
          </p:nvPr>
        </p:nvSpPr>
        <p:spPr>
          <a:xfrm>
            <a:off x="777240" y="731519"/>
            <a:ext cx="2845191" cy="3237579"/>
          </a:xfrm>
        </p:spPr>
        <p:txBody>
          <a:bodyPr>
            <a:normAutofit/>
          </a:bodyPr>
          <a:lstStyle/>
          <a:p>
            <a:r>
              <a:rPr lang="en-US" sz="3800">
                <a:solidFill>
                  <a:srgbClr val="FFFFFF"/>
                </a:solidFill>
                <a:cs typeface="Calibri Light"/>
              </a:rPr>
              <a:t>Strategic Partnerships: Champion Sports Medicine</a:t>
            </a:r>
            <a:endParaRPr lang="en-US" sz="3800">
              <a:solidFill>
                <a:srgbClr val="FFFFFF"/>
              </a:solidFill>
            </a:endParaRPr>
          </a:p>
        </p:txBody>
      </p:sp>
      <p:sp>
        <p:nvSpPr>
          <p:cNvPr id="37" name="Rectangle 36">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9" name="Rectangle 38">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904AD9-E919-8C47-7816-32C773CF0D27}"/>
              </a:ext>
            </a:extLst>
          </p:cNvPr>
          <p:cNvSpPr>
            <a:spLocks noGrp="1"/>
          </p:cNvSpPr>
          <p:nvPr>
            <p:ph idx="1"/>
          </p:nvPr>
        </p:nvSpPr>
        <p:spPr>
          <a:xfrm>
            <a:off x="4379709" y="686862"/>
            <a:ext cx="7037591" cy="5475129"/>
          </a:xfrm>
        </p:spPr>
        <p:txBody>
          <a:bodyPr anchor="ctr">
            <a:normAutofit/>
          </a:bodyPr>
          <a:lstStyle/>
          <a:p>
            <a:pPr>
              <a:spcBef>
                <a:spcPts val="1300"/>
              </a:spcBef>
              <a:buFont typeface="Wingdings,Sans-Serif" panose="020B0604020202020204" pitchFamily="34" charset="0"/>
              <a:buChar char="§"/>
            </a:pPr>
            <a:r>
              <a:rPr lang="en-US" sz="2600">
                <a:ea typeface="+mn-lt"/>
                <a:cs typeface="+mn-lt"/>
              </a:rPr>
              <a:t> Clinical experts work with top sports organizations to prevent and treat sports injuries</a:t>
            </a:r>
            <a:endParaRPr lang="en-US" sz="2600">
              <a:cs typeface="Calibri"/>
            </a:endParaRPr>
          </a:p>
          <a:p>
            <a:pPr marL="347345" lvl="1">
              <a:spcBef>
                <a:spcPts val="600"/>
              </a:spcBef>
              <a:buFont typeface="Wingdings,Sans-Serif" panose="020B0604020202020204" pitchFamily="34" charset="0"/>
              <a:buChar char="§"/>
            </a:pPr>
            <a:r>
              <a:rPr lang="en-US" sz="2600">
                <a:ea typeface="+mn-lt"/>
                <a:cs typeface="+mn-lt"/>
              </a:rPr>
              <a:t>Over 1,800 locations across the U.S.</a:t>
            </a:r>
            <a:r>
              <a:rPr lang="en-US" sz="2600" baseline="30000" dirty="0">
                <a:ea typeface="+mn-lt"/>
                <a:cs typeface="+mn-lt"/>
              </a:rPr>
              <a:t>3</a:t>
            </a:r>
          </a:p>
          <a:p>
            <a:pPr marL="347345" lvl="1">
              <a:spcBef>
                <a:spcPts val="600"/>
              </a:spcBef>
              <a:buFont typeface="Wingdings,Sans-Serif" panose="020B0604020202020204" pitchFamily="34" charset="0"/>
              <a:buChar char="§"/>
            </a:pPr>
            <a:r>
              <a:rPr lang="en-US" sz="2600">
                <a:cs typeface="Calibri"/>
              </a:rPr>
              <a:t>Athletic training programs</a:t>
            </a:r>
          </a:p>
          <a:p>
            <a:pPr marL="804545" lvl="2">
              <a:spcBef>
                <a:spcPts val="600"/>
              </a:spcBef>
              <a:buFont typeface="Wingdings,Sans-Serif" panose="020B0604020202020204" pitchFamily="34" charset="0"/>
              <a:buChar char="§"/>
            </a:pPr>
            <a:r>
              <a:rPr lang="en-US" sz="2600">
                <a:cs typeface="Calibri"/>
              </a:rPr>
              <a:t>Takes a proactive approach when managing sports injuries for professional sports</a:t>
            </a:r>
          </a:p>
          <a:p>
            <a:pPr marL="804545" lvl="2">
              <a:spcBef>
                <a:spcPts val="600"/>
              </a:spcBef>
              <a:buFont typeface="Wingdings,Sans-Serif" panose="020B0604020202020204" pitchFamily="34" charset="0"/>
              <a:buChar char="§"/>
            </a:pPr>
            <a:r>
              <a:rPr lang="en-US" sz="2600">
                <a:cs typeface="Calibri"/>
              </a:rPr>
              <a:t>Professional teams: physical therapists or athletic trainers</a:t>
            </a:r>
          </a:p>
          <a:p>
            <a:pPr marL="804545" lvl="2">
              <a:spcBef>
                <a:spcPts val="600"/>
              </a:spcBef>
              <a:buFont typeface="Wingdings,Sans-Serif" panose="020B0604020202020204" pitchFamily="34" charset="0"/>
              <a:buChar char="§"/>
            </a:pPr>
            <a:r>
              <a:rPr lang="en-US" sz="2600">
                <a:ea typeface="+mn-lt"/>
                <a:cs typeface="+mn-lt"/>
              </a:rPr>
              <a:t>Opportunity for Free Joint Motion to partner in training CSM's therapists and/or trainers to use and practice with their medical device</a:t>
            </a:r>
            <a:endParaRPr lang="en-US" sz="2600">
              <a:cs typeface="Calibri"/>
            </a:endParaRPr>
          </a:p>
          <a:p>
            <a:pPr marL="804545" lvl="2">
              <a:spcBef>
                <a:spcPts val="600"/>
              </a:spcBef>
              <a:buFont typeface="Wingdings,Sans-Serif" panose="020B0604020202020204" pitchFamily="34" charset="0"/>
              <a:buChar char="§"/>
            </a:pPr>
            <a:r>
              <a:rPr lang="en-US" sz="2600">
                <a:cs typeface="Calibri"/>
              </a:rPr>
              <a:t>Select Sports Program</a:t>
            </a:r>
          </a:p>
          <a:p>
            <a:pPr marL="804545" lvl="2">
              <a:spcBef>
                <a:spcPts val="600"/>
              </a:spcBef>
              <a:buFont typeface="Wingdings,Sans-Serif" panose="020B0604020202020204" pitchFamily="34" charset="0"/>
              <a:buChar char="§"/>
            </a:pPr>
            <a:endParaRPr lang="en-US" sz="2600">
              <a:cs typeface="Calibri"/>
            </a:endParaRPr>
          </a:p>
        </p:txBody>
      </p:sp>
      <p:pic>
        <p:nvPicPr>
          <p:cNvPr id="4" name="Picture 4" descr="Logo, company name&#10;&#10;Description automatically generated">
            <a:extLst>
              <a:ext uri="{FF2B5EF4-FFF2-40B4-BE49-F238E27FC236}">
                <a16:creationId xmlns:a16="http://schemas.microsoft.com/office/drawing/2014/main" id="{BB5B73E1-CBAC-308C-267D-BB7E2B571A46}"/>
              </a:ext>
            </a:extLst>
          </p:cNvPr>
          <p:cNvPicPr>
            <a:picLocks noChangeAspect="1"/>
          </p:cNvPicPr>
          <p:nvPr/>
        </p:nvPicPr>
        <p:blipFill>
          <a:blip r:embed="rId2"/>
          <a:stretch>
            <a:fillRect/>
          </a:stretch>
        </p:blipFill>
        <p:spPr>
          <a:xfrm>
            <a:off x="1393179" y="4592904"/>
            <a:ext cx="1569855" cy="1569855"/>
          </a:xfrm>
          <a:prstGeom prst="rect">
            <a:avLst/>
          </a:prstGeom>
        </p:spPr>
      </p:pic>
      <p:sp>
        <p:nvSpPr>
          <p:cNvPr id="5" name="TextBox 4">
            <a:extLst>
              <a:ext uri="{FF2B5EF4-FFF2-40B4-BE49-F238E27FC236}">
                <a16:creationId xmlns:a16="http://schemas.microsoft.com/office/drawing/2014/main" id="{B3F567F8-2C95-E06F-E1C2-A5626FF2BBD2}"/>
              </a:ext>
            </a:extLst>
          </p:cNvPr>
          <p:cNvSpPr txBox="1"/>
          <p:nvPr/>
        </p:nvSpPr>
        <p:spPr>
          <a:xfrm>
            <a:off x="7702063" y="6049108"/>
            <a:ext cx="410307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dirty="0">
                <a:ea typeface="+mn-lt"/>
                <a:cs typeface="+mn-lt"/>
              </a:rPr>
              <a:t>3. Ankle injuries and pain</a:t>
            </a:r>
            <a:r>
              <a:rPr lang="en-US" sz="1200" dirty="0">
                <a:ea typeface="+mn-lt"/>
                <a:cs typeface="+mn-lt"/>
              </a:rPr>
              <a:t>. Champion Sports Medicine. (2022).</a:t>
            </a:r>
            <a:endParaRPr lang="en-US" sz="1200">
              <a:cs typeface="Calibri"/>
            </a:endParaRPr>
          </a:p>
          <a:p>
            <a:pPr algn="l"/>
            <a:endParaRPr lang="en-US"/>
          </a:p>
        </p:txBody>
      </p:sp>
    </p:spTree>
    <p:extLst>
      <p:ext uri="{BB962C8B-B14F-4D97-AF65-F5344CB8AC3E}">
        <p14:creationId xmlns:p14="http://schemas.microsoft.com/office/powerpoint/2010/main" val="4131670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Freeform: Shape 15">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 name="Group 17">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9"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0"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21"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22"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3"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4"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C33ECD94-0B73-DCA7-8BE6-3701A8BA78AA}"/>
              </a:ext>
            </a:extLst>
          </p:cNvPr>
          <p:cNvSpPr>
            <a:spLocks noGrp="1"/>
          </p:cNvSpPr>
          <p:nvPr>
            <p:ph type="title"/>
          </p:nvPr>
        </p:nvSpPr>
        <p:spPr>
          <a:xfrm>
            <a:off x="196353" y="685800"/>
            <a:ext cx="3427721" cy="5105400"/>
          </a:xfrm>
        </p:spPr>
        <p:txBody>
          <a:bodyPr>
            <a:normAutofit/>
          </a:bodyPr>
          <a:lstStyle/>
          <a:p>
            <a:r>
              <a:rPr lang="en-US" sz="3700">
                <a:solidFill>
                  <a:srgbClr val="FFFFFF"/>
                </a:solidFill>
                <a:cs typeface="Calibri Light"/>
              </a:rPr>
              <a:t>Strategic Partnerships: Professional Football Athletic Trainers Society</a:t>
            </a:r>
          </a:p>
        </p:txBody>
      </p:sp>
      <p:graphicFrame>
        <p:nvGraphicFramePr>
          <p:cNvPr id="32" name="Content Placeholder 2">
            <a:extLst>
              <a:ext uri="{FF2B5EF4-FFF2-40B4-BE49-F238E27FC236}">
                <a16:creationId xmlns:a16="http://schemas.microsoft.com/office/drawing/2014/main" id="{120D0EC8-E00D-F741-08CA-6CF5928C532E}"/>
              </a:ext>
            </a:extLst>
          </p:cNvPr>
          <p:cNvGraphicFramePr>
            <a:graphicFrameLocks noGrp="1"/>
          </p:cNvGraphicFramePr>
          <p:nvPr>
            <p:ph idx="1"/>
            <p:extLst>
              <p:ext uri="{D42A27DB-BD31-4B8C-83A1-F6EECF244321}">
                <p14:modId xmlns:p14="http://schemas.microsoft.com/office/powerpoint/2010/main" val="1782134759"/>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4290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EDE4EB8-75BF-9B80-1A3A-C357E9858A4B}"/>
              </a:ext>
            </a:extLst>
          </p:cNvPr>
          <p:cNvSpPr>
            <a:spLocks noGrp="1"/>
          </p:cNvSpPr>
          <p:nvPr>
            <p:ph type="title"/>
          </p:nvPr>
        </p:nvSpPr>
        <p:spPr>
          <a:xfrm>
            <a:off x="777240" y="731519"/>
            <a:ext cx="2845191" cy="3237579"/>
          </a:xfrm>
        </p:spPr>
        <p:txBody>
          <a:bodyPr>
            <a:normAutofit/>
          </a:bodyPr>
          <a:lstStyle/>
          <a:p>
            <a:r>
              <a:rPr lang="en-US" sz="4000">
                <a:solidFill>
                  <a:srgbClr val="FFFFFF"/>
                </a:solidFill>
                <a:cs typeface="Calibri Light"/>
              </a:rPr>
              <a:t>Pricing Strategy</a:t>
            </a:r>
            <a:endParaRPr lang="en-US" sz="4000">
              <a:solidFill>
                <a:srgbClr val="FFFFFF"/>
              </a:solidFill>
            </a:endParaRPr>
          </a:p>
        </p:txBody>
      </p:sp>
      <p:sp>
        <p:nvSpPr>
          <p:cNvPr id="17" name="Rectangle 16">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AFEAB3-9F08-2A43-C576-5E08A9F7E4FB}"/>
              </a:ext>
            </a:extLst>
          </p:cNvPr>
          <p:cNvSpPr>
            <a:spLocks noGrp="1"/>
          </p:cNvSpPr>
          <p:nvPr>
            <p:ph idx="1"/>
          </p:nvPr>
        </p:nvSpPr>
        <p:spPr>
          <a:xfrm>
            <a:off x="4379709" y="686862"/>
            <a:ext cx="7037591" cy="5475129"/>
          </a:xfrm>
        </p:spPr>
        <p:txBody>
          <a:bodyPr vert="horz" lIns="91440" tIns="45720" rIns="91440" bIns="45720" rtlCol="0" anchor="ctr">
            <a:normAutofit/>
          </a:bodyPr>
          <a:lstStyle/>
          <a:p>
            <a:r>
              <a:rPr lang="en-US" sz="2600">
                <a:cs typeface="Calibri"/>
              </a:rPr>
              <a:t>Value-based pricing</a:t>
            </a:r>
          </a:p>
          <a:p>
            <a:r>
              <a:rPr lang="en-US" sz="2600">
                <a:cs typeface="Calibri"/>
              </a:rPr>
              <a:t>Commit to pricing the medical device based on the value the product generates</a:t>
            </a:r>
          </a:p>
          <a:p>
            <a:r>
              <a:rPr lang="en-US" sz="2600">
                <a:cs typeface="Calibri"/>
              </a:rPr>
              <a:t>Conjoint Analysis Strategy</a:t>
            </a:r>
          </a:p>
          <a:p>
            <a:pPr lvl="1" indent="-457200"/>
            <a:r>
              <a:rPr lang="en-US" sz="2600">
                <a:cs typeface="Calibri"/>
              </a:rPr>
              <a:t>Ask Certified Athletic Trainers to value each feature of the product; the device itself as well as the device built in with software technology</a:t>
            </a:r>
          </a:p>
          <a:p>
            <a:pPr lvl="1" indent="-457200"/>
            <a:r>
              <a:rPr lang="en-US" sz="2600">
                <a:cs typeface="Calibri"/>
              </a:rPr>
              <a:t>Ensures the product meets the unmet needs of Athletic Trainers in providing care to athletes</a:t>
            </a:r>
          </a:p>
          <a:p>
            <a:pPr lvl="1" indent="-457200"/>
            <a:r>
              <a:rPr lang="en-US" sz="2600">
                <a:cs typeface="Calibri"/>
              </a:rPr>
              <a:t>Survey results can inform Free Joint Motion on how to price their product</a:t>
            </a:r>
          </a:p>
          <a:p>
            <a:pPr lvl="1" indent="-457200"/>
            <a:endParaRPr lang="en-US" sz="2600">
              <a:cs typeface="Calibri"/>
            </a:endParaRPr>
          </a:p>
        </p:txBody>
      </p:sp>
    </p:spTree>
    <p:extLst>
      <p:ext uri="{BB962C8B-B14F-4D97-AF65-F5344CB8AC3E}">
        <p14:creationId xmlns:p14="http://schemas.microsoft.com/office/powerpoint/2010/main" val="62642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ound Single Corner Rectangle 25">
            <a:extLst>
              <a:ext uri="{FF2B5EF4-FFF2-40B4-BE49-F238E27FC236}">
                <a16:creationId xmlns:a16="http://schemas.microsoft.com/office/drawing/2014/main" id="{EBA7E638-205A-4579-864F-125BAC629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17533" y="3438135"/>
            <a:ext cx="2657864" cy="2657864"/>
          </a:xfrm>
          <a:prstGeom prst="round1Rect">
            <a:avLst>
              <a:gd name="adj" fmla="val 11295"/>
            </a:avLst>
          </a:prstGeom>
          <a:solidFill>
            <a:srgbClr val="FFFFFF"/>
          </a:solidFill>
          <a:ln w="57150">
            <a:solidFill>
              <a:srgbClr val="3E4E6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Top Corners Rounded 67">
            <a:extLst>
              <a:ext uri="{FF2B5EF4-FFF2-40B4-BE49-F238E27FC236}">
                <a16:creationId xmlns:a16="http://schemas.microsoft.com/office/drawing/2014/main" id="{B1E3044D-AD17-4052-A453-8AA654EFAB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797978" y="996722"/>
            <a:ext cx="5923488" cy="4864556"/>
          </a:xfrm>
          <a:prstGeom prst="round2SameRect">
            <a:avLst>
              <a:gd name="adj1" fmla="val 3762"/>
              <a:gd name="adj2" fmla="val 0"/>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343180-35F6-CB72-95D7-D438E529A5F0}"/>
              </a:ext>
            </a:extLst>
          </p:cNvPr>
          <p:cNvSpPr>
            <a:spLocks noGrp="1"/>
          </p:cNvSpPr>
          <p:nvPr>
            <p:ph type="title"/>
          </p:nvPr>
        </p:nvSpPr>
        <p:spPr>
          <a:xfrm>
            <a:off x="7856388" y="975365"/>
            <a:ext cx="3847882" cy="1691907"/>
          </a:xfrm>
        </p:spPr>
        <p:txBody>
          <a:bodyPr anchor="ctr">
            <a:normAutofit/>
          </a:bodyPr>
          <a:lstStyle/>
          <a:p>
            <a:r>
              <a:rPr lang="en-US" sz="4000">
                <a:solidFill>
                  <a:srgbClr val="FFFFFF"/>
                </a:solidFill>
                <a:cs typeface="Calibri Light"/>
              </a:rPr>
              <a:t>Professional Sports Club</a:t>
            </a:r>
            <a:endParaRPr lang="en-US" sz="4000">
              <a:solidFill>
                <a:srgbClr val="FFFFFF"/>
              </a:solidFill>
            </a:endParaRPr>
          </a:p>
        </p:txBody>
      </p:sp>
      <p:sp>
        <p:nvSpPr>
          <p:cNvPr id="77" name="Round Single Corner Rectangle 24">
            <a:extLst>
              <a:ext uri="{FF2B5EF4-FFF2-40B4-BE49-F238E27FC236}">
                <a16:creationId xmlns:a16="http://schemas.microsoft.com/office/drawing/2014/main" id="{81289F98-975F-4EB2-9553-8E1A9946B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11284" y="635058"/>
            <a:ext cx="2657864" cy="2657864"/>
          </a:xfrm>
          <a:prstGeom prst="round1Rect">
            <a:avLst>
              <a:gd name="adj" fmla="val 11295"/>
            </a:avLst>
          </a:prstGeom>
          <a:solidFill>
            <a:srgbClr val="FFFFFF"/>
          </a:solidFill>
          <a:ln w="57150">
            <a:solidFill>
              <a:srgbClr val="3E4E6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Logo&#10;&#10;Description automatically generated">
            <a:extLst>
              <a:ext uri="{FF2B5EF4-FFF2-40B4-BE49-F238E27FC236}">
                <a16:creationId xmlns:a16="http://schemas.microsoft.com/office/drawing/2014/main" id="{A08CF376-F3D9-C6B9-0E7E-FD57B050AF6A}"/>
              </a:ext>
            </a:extLst>
          </p:cNvPr>
          <p:cNvPicPr>
            <a:picLocks noChangeAspect="1"/>
          </p:cNvPicPr>
          <p:nvPr/>
        </p:nvPicPr>
        <p:blipFill>
          <a:blip r:embed="rId2"/>
          <a:stretch>
            <a:fillRect/>
          </a:stretch>
        </p:blipFill>
        <p:spPr>
          <a:xfrm>
            <a:off x="1371616" y="775380"/>
            <a:ext cx="1737199" cy="2377220"/>
          </a:xfrm>
          <a:prstGeom prst="rect">
            <a:avLst/>
          </a:prstGeom>
        </p:spPr>
      </p:pic>
      <p:sp>
        <p:nvSpPr>
          <p:cNvPr id="72" name="Round Single Corner Rectangle 22">
            <a:extLst>
              <a:ext uri="{FF2B5EF4-FFF2-40B4-BE49-F238E27FC236}">
                <a16:creationId xmlns:a16="http://schemas.microsoft.com/office/drawing/2014/main" id="{1F564BCF-97B6-4D86-94EE-DD1B587F2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7533" y="1300271"/>
            <a:ext cx="1992651" cy="1992652"/>
          </a:xfrm>
          <a:prstGeom prst="round1Rect">
            <a:avLst>
              <a:gd name="adj" fmla="val 11295"/>
            </a:avLst>
          </a:prstGeom>
          <a:solidFill>
            <a:srgbClr val="3E4E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4" name="Round Single Corner Rectangle 23">
            <a:extLst>
              <a:ext uri="{FF2B5EF4-FFF2-40B4-BE49-F238E27FC236}">
                <a16:creationId xmlns:a16="http://schemas.microsoft.com/office/drawing/2014/main" id="{54600AC1-F146-4567-9C5E-A96D6D349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87904" y="3438135"/>
            <a:ext cx="2281244" cy="2281245"/>
          </a:xfrm>
          <a:prstGeom prst="round1Rect">
            <a:avLst>
              <a:gd name="adj" fmla="val 11295"/>
            </a:avLst>
          </a:prstGeom>
          <a:solidFill>
            <a:srgbClr val="3E4E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5">
            <a:extLst>
              <a:ext uri="{FF2B5EF4-FFF2-40B4-BE49-F238E27FC236}">
                <a16:creationId xmlns:a16="http://schemas.microsoft.com/office/drawing/2014/main" id="{451CAAB2-8771-494C-0ED2-B5CA2A15ED6B}"/>
              </a:ext>
            </a:extLst>
          </p:cNvPr>
          <p:cNvPicPr>
            <a:picLocks noChangeAspect="1"/>
          </p:cNvPicPr>
          <p:nvPr/>
        </p:nvPicPr>
        <p:blipFill>
          <a:blip r:embed="rId3"/>
          <a:stretch>
            <a:fillRect/>
          </a:stretch>
        </p:blipFill>
        <p:spPr>
          <a:xfrm>
            <a:off x="3858847" y="3597862"/>
            <a:ext cx="2375236" cy="2338410"/>
          </a:xfrm>
          <a:prstGeom prst="rect">
            <a:avLst/>
          </a:prstGeom>
        </p:spPr>
      </p:pic>
      <p:sp>
        <p:nvSpPr>
          <p:cNvPr id="50" name="Content Placeholder 29">
            <a:extLst>
              <a:ext uri="{FF2B5EF4-FFF2-40B4-BE49-F238E27FC236}">
                <a16:creationId xmlns:a16="http://schemas.microsoft.com/office/drawing/2014/main" id="{7AA6E96E-2003-FAE4-951C-7CC52CD792ED}"/>
              </a:ext>
            </a:extLst>
          </p:cNvPr>
          <p:cNvSpPr>
            <a:spLocks noGrp="1"/>
          </p:cNvSpPr>
          <p:nvPr>
            <p:ph idx="1"/>
          </p:nvPr>
        </p:nvSpPr>
        <p:spPr>
          <a:xfrm>
            <a:off x="7644723" y="3047502"/>
            <a:ext cx="4423058" cy="2072821"/>
          </a:xfrm>
        </p:spPr>
        <p:txBody>
          <a:bodyPr vert="horz" lIns="91440" tIns="45720" rIns="91440" bIns="45720" rtlCol="0" anchor="t">
            <a:noAutofit/>
          </a:bodyPr>
          <a:lstStyle/>
          <a:p>
            <a:pPr marL="0" indent="0">
              <a:buNone/>
            </a:pPr>
            <a:r>
              <a:rPr lang="en-US" sz="1800">
                <a:solidFill>
                  <a:srgbClr val="FFFFFF"/>
                </a:solidFill>
                <a:cs typeface="Calibri"/>
              </a:rPr>
              <a:t>NFL/NCAA Football Organization</a:t>
            </a:r>
            <a:endParaRPr lang="en-US" sz="1800">
              <a:cs typeface="Calibri"/>
            </a:endParaRPr>
          </a:p>
          <a:p>
            <a:pPr lvl="1"/>
            <a:r>
              <a:rPr lang="en-US" sz="1800">
                <a:solidFill>
                  <a:srgbClr val="FFFFFF"/>
                </a:solidFill>
                <a:cs typeface="Calibri"/>
              </a:rPr>
              <a:t>Over 15 Billion Dollar Market</a:t>
            </a:r>
          </a:p>
          <a:p>
            <a:pPr lvl="1"/>
            <a:r>
              <a:rPr lang="en-US" sz="1800">
                <a:solidFill>
                  <a:srgbClr val="FFFFFF"/>
                </a:solidFill>
                <a:cs typeface="Calibri"/>
              </a:rPr>
              <a:t>D1 Schools – Higher Funding, State of the Art Facilities and Medical Staff</a:t>
            </a:r>
          </a:p>
          <a:p>
            <a:pPr marL="0" indent="0">
              <a:buNone/>
            </a:pPr>
            <a:r>
              <a:rPr lang="en-US" sz="1800">
                <a:solidFill>
                  <a:srgbClr val="FFFFFF"/>
                </a:solidFill>
                <a:cs typeface="Calibri"/>
              </a:rPr>
              <a:t>Areas of Entry</a:t>
            </a:r>
          </a:p>
          <a:p>
            <a:pPr lvl="1"/>
            <a:r>
              <a:rPr lang="en-US" sz="1800">
                <a:solidFill>
                  <a:srgbClr val="FFFFFF"/>
                </a:solidFill>
                <a:ea typeface="+mn-lt"/>
                <a:cs typeface="+mn-lt"/>
              </a:rPr>
              <a:t>Athletic Centers, Training Rooms, Rehab Centers</a:t>
            </a:r>
            <a:endParaRPr lang="en-US" sz="1800">
              <a:solidFill>
                <a:srgbClr val="FFFFFF"/>
              </a:solidFill>
              <a:cs typeface="Calibri"/>
            </a:endParaRPr>
          </a:p>
          <a:p>
            <a:pPr marL="0" indent="0">
              <a:spcBef>
                <a:spcPts val="600"/>
              </a:spcBef>
              <a:buNone/>
            </a:pPr>
            <a:r>
              <a:rPr lang="en-US" sz="1800">
                <a:solidFill>
                  <a:srgbClr val="FFFFFF"/>
                </a:solidFill>
                <a:ea typeface="+mn-lt"/>
                <a:cs typeface="+mn-lt"/>
              </a:rPr>
              <a:t>Committees </a:t>
            </a:r>
            <a:endParaRPr lang="en-US" sz="1800">
              <a:cs typeface="Calibri"/>
            </a:endParaRPr>
          </a:p>
          <a:p>
            <a:pPr marL="742950" lvl="1" indent="-285750">
              <a:spcBef>
                <a:spcPts val="600"/>
              </a:spcBef>
            </a:pPr>
            <a:r>
              <a:rPr lang="en-US" sz="1800">
                <a:solidFill>
                  <a:srgbClr val="FFFFFF"/>
                </a:solidFill>
                <a:ea typeface="+mn-lt"/>
                <a:cs typeface="+mn-lt"/>
              </a:rPr>
              <a:t>Sports Science Institute/Athletics Health Care Administration</a:t>
            </a:r>
            <a:endParaRPr lang="en-US" sz="1800">
              <a:solidFill>
                <a:srgbClr val="FFFFFF"/>
              </a:solidFill>
              <a:cs typeface="Calibri"/>
            </a:endParaRPr>
          </a:p>
          <a:p>
            <a:pPr marL="914400" lvl="2" indent="0">
              <a:spcBef>
                <a:spcPts val="600"/>
              </a:spcBef>
              <a:buNone/>
            </a:pPr>
            <a:endParaRPr lang="en-US" sz="1500">
              <a:solidFill>
                <a:srgbClr val="FFFFFF"/>
              </a:solidFill>
              <a:cs typeface="Calibri"/>
            </a:endParaRPr>
          </a:p>
          <a:p>
            <a:pPr lvl="2"/>
            <a:endParaRPr lang="en-US" sz="1500">
              <a:solidFill>
                <a:srgbClr val="FFFFFF"/>
              </a:solidFill>
              <a:cs typeface="Calibri"/>
            </a:endParaRPr>
          </a:p>
          <a:p>
            <a:pPr lvl="2"/>
            <a:endParaRPr lang="en-US" sz="1500">
              <a:solidFill>
                <a:srgbClr val="FFFFFF"/>
              </a:solidFill>
              <a:cs typeface="Calibri"/>
            </a:endParaRPr>
          </a:p>
          <a:p>
            <a:pPr lvl="2"/>
            <a:endParaRPr lang="en-US" sz="1500">
              <a:solidFill>
                <a:srgbClr val="FFFFFF"/>
              </a:solidFill>
              <a:cs typeface="Calibri"/>
            </a:endParaRPr>
          </a:p>
          <a:p>
            <a:pPr lvl="1"/>
            <a:endParaRPr lang="en-US" sz="1500">
              <a:solidFill>
                <a:srgbClr val="FFFFFF"/>
              </a:solidFill>
              <a:cs typeface="Calibri"/>
            </a:endParaRPr>
          </a:p>
        </p:txBody>
      </p:sp>
      <p:sp>
        <p:nvSpPr>
          <p:cNvPr id="76" name="Rectangle: Top Corners Rounded 75">
            <a:extLst>
              <a:ext uri="{FF2B5EF4-FFF2-40B4-BE49-F238E27FC236}">
                <a16:creationId xmlns:a16="http://schemas.microsoft.com/office/drawing/2014/main" id="{2854001E-6E9D-464A-9B65-A4012F7B3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52315" y="1050468"/>
            <a:ext cx="5609397" cy="4757058"/>
          </a:xfrm>
          <a:prstGeom prst="round2SameRect">
            <a:avLst>
              <a:gd name="adj1" fmla="val 2061"/>
              <a:gd name="adj2" fmla="val 0"/>
            </a:avLst>
          </a:prstGeom>
          <a:noFill/>
          <a:ln w="508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8" name="Straight Connector 77">
            <a:extLst>
              <a:ext uri="{FF2B5EF4-FFF2-40B4-BE49-F238E27FC236}">
                <a16:creationId xmlns:a16="http://schemas.microsoft.com/office/drawing/2014/main" id="{62C9802A-EFBD-41D4-894F-AFD985DBA5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52907" y="2856601"/>
            <a:ext cx="1597456" cy="0"/>
          </a:xfrm>
          <a:prstGeom prst="line">
            <a:avLst/>
          </a:prstGeom>
          <a:ln w="50800">
            <a:solidFill>
              <a:srgbClr val="A6A6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254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1" y="453981"/>
            <a:ext cx="11274158"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ED075A-09CD-8632-151A-F478AB800658}"/>
              </a:ext>
            </a:extLst>
          </p:cNvPr>
          <p:cNvSpPr>
            <a:spLocks noGrp="1"/>
          </p:cNvSpPr>
          <p:nvPr>
            <p:ph type="title"/>
          </p:nvPr>
        </p:nvSpPr>
        <p:spPr>
          <a:xfrm>
            <a:off x="731519" y="731520"/>
            <a:ext cx="10666145" cy="1426464"/>
          </a:xfrm>
        </p:spPr>
        <p:txBody>
          <a:bodyPr>
            <a:normAutofit/>
          </a:bodyPr>
          <a:lstStyle/>
          <a:p>
            <a:r>
              <a:rPr lang="en-US">
                <a:solidFill>
                  <a:srgbClr val="FFFFFF"/>
                </a:solidFill>
                <a:cs typeface="Calibri Light"/>
              </a:rPr>
              <a:t>Recommendations</a:t>
            </a:r>
            <a:endParaRPr lang="en-US">
              <a:solidFill>
                <a:srgbClr val="FFFFFF"/>
              </a:solidFill>
            </a:endParaRPr>
          </a:p>
        </p:txBody>
      </p:sp>
      <p:sp>
        <p:nvSpPr>
          <p:cNvPr id="10" name="Rectangle 9">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9006933"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2480956"/>
            <a:ext cx="2112264" cy="189890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4529023"/>
            <a:ext cx="2107363"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Graphic 4" descr="Teacher outline">
            <a:extLst>
              <a:ext uri="{FF2B5EF4-FFF2-40B4-BE49-F238E27FC236}">
                <a16:creationId xmlns:a16="http://schemas.microsoft.com/office/drawing/2014/main" id="{D77E3E9F-2337-277E-8456-BEC8BEF90C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921" y="2789917"/>
            <a:ext cx="1325079" cy="1325079"/>
          </a:xfrm>
          <a:prstGeom prst="rect">
            <a:avLst/>
          </a:prstGeom>
        </p:spPr>
      </p:pic>
      <p:pic>
        <p:nvPicPr>
          <p:cNvPr id="7" name="Graphic 6" descr="Target Audience outline">
            <a:extLst>
              <a:ext uri="{FF2B5EF4-FFF2-40B4-BE49-F238E27FC236}">
                <a16:creationId xmlns:a16="http://schemas.microsoft.com/office/drawing/2014/main" id="{4F203461-B1D7-D67D-7269-EE0F23A3E8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58326" y="2908895"/>
            <a:ext cx="1117600" cy="1117600"/>
          </a:xfrm>
          <a:prstGeom prst="rect">
            <a:avLst/>
          </a:prstGeom>
        </p:spPr>
      </p:pic>
      <p:sp>
        <p:nvSpPr>
          <p:cNvPr id="9" name="TextBox 8">
            <a:extLst>
              <a:ext uri="{FF2B5EF4-FFF2-40B4-BE49-F238E27FC236}">
                <a16:creationId xmlns:a16="http://schemas.microsoft.com/office/drawing/2014/main" id="{218077FE-69AE-DBCB-8595-3F89063EE58D}"/>
              </a:ext>
            </a:extLst>
          </p:cNvPr>
          <p:cNvSpPr txBox="1"/>
          <p:nvPr/>
        </p:nvSpPr>
        <p:spPr>
          <a:xfrm>
            <a:off x="4121451" y="3977955"/>
            <a:ext cx="2379444" cy="369332"/>
          </a:xfrm>
          <a:prstGeom prst="rect">
            <a:avLst/>
          </a:prstGeom>
          <a:noFill/>
        </p:spPr>
        <p:txBody>
          <a:bodyPr wrap="square" lIns="91440" tIns="45720" rIns="91440" bIns="45720" rtlCol="0" anchor="t">
            <a:spAutoFit/>
          </a:bodyPr>
          <a:lstStyle/>
          <a:p>
            <a:r>
              <a:rPr lang="en-US"/>
              <a:t>2. Find an Organization</a:t>
            </a:r>
          </a:p>
        </p:txBody>
      </p:sp>
      <p:pic>
        <p:nvPicPr>
          <p:cNvPr id="2052" name="Picture 4" descr="Georgia Bulldogs - Home | Facebook">
            <a:extLst>
              <a:ext uri="{FF2B5EF4-FFF2-40B4-BE49-F238E27FC236}">
                <a16:creationId xmlns:a16="http://schemas.microsoft.com/office/drawing/2014/main" id="{BCAB18D6-EAA2-BFF2-CA99-F446EF5BAA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69734" y="2885730"/>
            <a:ext cx="1086539" cy="1086539"/>
          </a:xfrm>
          <a:prstGeom prst="rect">
            <a:avLst/>
          </a:prstGeom>
          <a:noFill/>
          <a:extLst>
            <a:ext uri="{909E8E84-426E-40DD-AFC4-6F175D3DCCD1}">
              <a14:hiddenFill xmlns:a14="http://schemas.microsoft.com/office/drawing/2010/main">
                <a:solidFill>
                  <a:srgbClr val="FFFFFF"/>
                </a:solidFill>
              </a14:hiddenFill>
            </a:ext>
          </a:extLst>
        </p:spPr>
      </p:pic>
      <p:pic>
        <p:nvPicPr>
          <p:cNvPr id="13" name="Graphic 12" descr="Double Tap Gesture outline">
            <a:extLst>
              <a:ext uri="{FF2B5EF4-FFF2-40B4-BE49-F238E27FC236}">
                <a16:creationId xmlns:a16="http://schemas.microsoft.com/office/drawing/2014/main" id="{FF0C9B8D-2D2C-E457-5B03-1505854E9E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17669" y="3030975"/>
            <a:ext cx="914400" cy="914400"/>
          </a:xfrm>
          <a:prstGeom prst="rect">
            <a:avLst/>
          </a:prstGeom>
        </p:spPr>
      </p:pic>
      <p:sp>
        <p:nvSpPr>
          <p:cNvPr id="17" name="TextBox 16">
            <a:extLst>
              <a:ext uri="{FF2B5EF4-FFF2-40B4-BE49-F238E27FC236}">
                <a16:creationId xmlns:a16="http://schemas.microsoft.com/office/drawing/2014/main" id="{B17A3329-1247-F9E3-ECF7-4E1CE4F51F3E}"/>
              </a:ext>
            </a:extLst>
          </p:cNvPr>
          <p:cNvSpPr txBox="1"/>
          <p:nvPr/>
        </p:nvSpPr>
        <p:spPr>
          <a:xfrm>
            <a:off x="735348" y="4013674"/>
            <a:ext cx="2524459" cy="369332"/>
          </a:xfrm>
          <a:prstGeom prst="rect">
            <a:avLst/>
          </a:prstGeom>
          <a:noFill/>
        </p:spPr>
        <p:txBody>
          <a:bodyPr wrap="square" rtlCol="0">
            <a:spAutoFit/>
          </a:bodyPr>
          <a:lstStyle/>
          <a:p>
            <a:r>
              <a:rPr lang="en-US"/>
              <a:t>1. Revamp Your Pitch</a:t>
            </a:r>
          </a:p>
        </p:txBody>
      </p:sp>
      <p:sp>
        <p:nvSpPr>
          <p:cNvPr id="18" name="TextBox 17">
            <a:extLst>
              <a:ext uri="{FF2B5EF4-FFF2-40B4-BE49-F238E27FC236}">
                <a16:creationId xmlns:a16="http://schemas.microsoft.com/office/drawing/2014/main" id="{B2980204-5CB7-EB55-BAD3-2C5FF096B100}"/>
              </a:ext>
            </a:extLst>
          </p:cNvPr>
          <p:cNvSpPr txBox="1"/>
          <p:nvPr/>
        </p:nvSpPr>
        <p:spPr>
          <a:xfrm>
            <a:off x="7385933" y="3930330"/>
            <a:ext cx="1967774" cy="369332"/>
          </a:xfrm>
          <a:prstGeom prst="rect">
            <a:avLst/>
          </a:prstGeom>
          <a:noFill/>
        </p:spPr>
        <p:txBody>
          <a:bodyPr wrap="square" rtlCol="0">
            <a:spAutoFit/>
          </a:bodyPr>
          <a:lstStyle/>
          <a:p>
            <a:r>
              <a:rPr lang="en-US"/>
              <a:t>3. Choose a Facility</a:t>
            </a:r>
          </a:p>
        </p:txBody>
      </p:sp>
      <p:pic>
        <p:nvPicPr>
          <p:cNvPr id="20" name="Graphic 19" descr="Employee badge outline">
            <a:extLst>
              <a:ext uri="{FF2B5EF4-FFF2-40B4-BE49-F238E27FC236}">
                <a16:creationId xmlns:a16="http://schemas.microsoft.com/office/drawing/2014/main" id="{FF34279E-49CC-BEC7-ABA3-DAB2D85E40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4660" y="4644739"/>
            <a:ext cx="1221340" cy="1221340"/>
          </a:xfrm>
          <a:prstGeom prst="rect">
            <a:avLst/>
          </a:prstGeom>
        </p:spPr>
      </p:pic>
      <p:sp>
        <p:nvSpPr>
          <p:cNvPr id="23" name="TextBox 22">
            <a:extLst>
              <a:ext uri="{FF2B5EF4-FFF2-40B4-BE49-F238E27FC236}">
                <a16:creationId xmlns:a16="http://schemas.microsoft.com/office/drawing/2014/main" id="{178E4CAE-043D-6CE3-A0EB-28C8E930E602}"/>
              </a:ext>
            </a:extLst>
          </p:cNvPr>
          <p:cNvSpPr txBox="1"/>
          <p:nvPr/>
        </p:nvSpPr>
        <p:spPr>
          <a:xfrm>
            <a:off x="668019" y="5740239"/>
            <a:ext cx="2524459" cy="369332"/>
          </a:xfrm>
          <a:prstGeom prst="rect">
            <a:avLst/>
          </a:prstGeom>
          <a:noFill/>
        </p:spPr>
        <p:txBody>
          <a:bodyPr wrap="square" rtlCol="0">
            <a:spAutoFit/>
          </a:bodyPr>
          <a:lstStyle/>
          <a:p>
            <a:r>
              <a:rPr lang="en-US"/>
              <a:t>4. Find a Point of Contact</a:t>
            </a:r>
          </a:p>
        </p:txBody>
      </p:sp>
      <p:sp>
        <p:nvSpPr>
          <p:cNvPr id="25" name="TextBox 24">
            <a:extLst>
              <a:ext uri="{FF2B5EF4-FFF2-40B4-BE49-F238E27FC236}">
                <a16:creationId xmlns:a16="http://schemas.microsoft.com/office/drawing/2014/main" id="{7AF3EF1B-E375-1DA9-BE36-1CF287C22DD5}"/>
              </a:ext>
            </a:extLst>
          </p:cNvPr>
          <p:cNvSpPr txBox="1"/>
          <p:nvPr/>
        </p:nvSpPr>
        <p:spPr>
          <a:xfrm>
            <a:off x="9620816" y="4526209"/>
            <a:ext cx="2112263" cy="2369880"/>
          </a:xfrm>
          <a:prstGeom prst="rect">
            <a:avLst/>
          </a:prstGeom>
          <a:noFill/>
        </p:spPr>
        <p:txBody>
          <a:bodyPr wrap="square" lIns="91440" tIns="45720" rIns="91440" bIns="45720" anchor="t">
            <a:spAutoFit/>
          </a:bodyPr>
          <a:lstStyle/>
          <a:p>
            <a:r>
              <a:rPr lang="en-US" sz="1400">
                <a:solidFill>
                  <a:schemeClr val="bg1"/>
                </a:solidFill>
                <a:cs typeface="Calibri"/>
              </a:rPr>
              <a:t>Stegeman Coliseum Rehabilitation</a:t>
            </a:r>
          </a:p>
          <a:p>
            <a:endParaRPr lang="en-US" sz="1400">
              <a:solidFill>
                <a:schemeClr val="bg1"/>
              </a:solidFill>
              <a:cs typeface="Calibri"/>
            </a:endParaRPr>
          </a:p>
          <a:p>
            <a:r>
              <a:rPr lang="en-US" sz="1400">
                <a:solidFill>
                  <a:schemeClr val="bg1"/>
                </a:solidFill>
                <a:cs typeface="Calibri"/>
              </a:rPr>
              <a:t>Mike Dew – Director of Rehabilitation</a:t>
            </a:r>
          </a:p>
          <a:p>
            <a:r>
              <a:rPr lang="en-US" sz="1400">
                <a:solidFill>
                  <a:schemeClr val="bg1"/>
                </a:solidFill>
                <a:cs typeface="Calibri"/>
              </a:rPr>
              <a:t>mdew@sports.uga.edu	706-542-4934</a:t>
            </a:r>
          </a:p>
          <a:p>
            <a:endParaRPr lang="en-US" sz="1400">
              <a:solidFill>
                <a:schemeClr val="bg1"/>
              </a:solidFill>
              <a:cs typeface="Calibri"/>
            </a:endParaRPr>
          </a:p>
          <a:p>
            <a:endParaRPr lang="en-US" sz="1800">
              <a:solidFill>
                <a:schemeClr val="bg1"/>
              </a:solidFill>
              <a:cs typeface="Calibri"/>
            </a:endParaRPr>
          </a:p>
          <a:p>
            <a:endParaRPr lang="en-US">
              <a:solidFill>
                <a:schemeClr val="bg1"/>
              </a:solidFill>
            </a:endParaRPr>
          </a:p>
        </p:txBody>
      </p:sp>
      <p:sp>
        <p:nvSpPr>
          <p:cNvPr id="27" name="TextBox 26">
            <a:extLst>
              <a:ext uri="{FF2B5EF4-FFF2-40B4-BE49-F238E27FC236}">
                <a16:creationId xmlns:a16="http://schemas.microsoft.com/office/drawing/2014/main" id="{6FE00C25-AE0D-46A2-042D-BF4BC3E8B759}"/>
              </a:ext>
            </a:extLst>
          </p:cNvPr>
          <p:cNvSpPr txBox="1"/>
          <p:nvPr/>
        </p:nvSpPr>
        <p:spPr>
          <a:xfrm>
            <a:off x="9831615" y="3969214"/>
            <a:ext cx="1899920" cy="369332"/>
          </a:xfrm>
          <a:prstGeom prst="rect">
            <a:avLst/>
          </a:prstGeom>
          <a:noFill/>
        </p:spPr>
        <p:txBody>
          <a:bodyPr wrap="square">
            <a:spAutoFit/>
          </a:bodyPr>
          <a:lstStyle/>
          <a:p>
            <a:r>
              <a:rPr lang="en-US" sz="1800">
                <a:solidFill>
                  <a:schemeClr val="bg1"/>
                </a:solidFill>
                <a:cs typeface="Calibri"/>
              </a:rPr>
              <a:t>Georgia Bulldogs</a:t>
            </a:r>
          </a:p>
        </p:txBody>
      </p:sp>
      <p:pic>
        <p:nvPicPr>
          <p:cNvPr id="3" name="Graphic 3" descr="Lecturer outline">
            <a:extLst>
              <a:ext uri="{FF2B5EF4-FFF2-40B4-BE49-F238E27FC236}">
                <a16:creationId xmlns:a16="http://schemas.microsoft.com/office/drawing/2014/main" id="{8669A0C6-F18C-04D1-5E97-5C00540D917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64894" y="4805362"/>
            <a:ext cx="914400" cy="914400"/>
          </a:xfrm>
          <a:prstGeom prst="rect">
            <a:avLst/>
          </a:prstGeom>
        </p:spPr>
      </p:pic>
      <p:sp>
        <p:nvSpPr>
          <p:cNvPr id="4" name="TextBox 3">
            <a:extLst>
              <a:ext uri="{FF2B5EF4-FFF2-40B4-BE49-F238E27FC236}">
                <a16:creationId xmlns:a16="http://schemas.microsoft.com/office/drawing/2014/main" id="{B69D33EF-9BF9-C15E-2619-3A7687DA5DC9}"/>
              </a:ext>
            </a:extLst>
          </p:cNvPr>
          <p:cNvSpPr txBox="1"/>
          <p:nvPr/>
        </p:nvSpPr>
        <p:spPr>
          <a:xfrm>
            <a:off x="3676650" y="5736430"/>
            <a:ext cx="32789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5. Present a Live Demonstration</a:t>
            </a:r>
            <a:endParaRPr lang="en-US">
              <a:cs typeface="Calibri"/>
            </a:endParaRPr>
          </a:p>
        </p:txBody>
      </p:sp>
      <p:pic>
        <p:nvPicPr>
          <p:cNvPr id="15" name="Graphic 15" descr="Group brainstorm outline">
            <a:extLst>
              <a:ext uri="{FF2B5EF4-FFF2-40B4-BE49-F238E27FC236}">
                <a16:creationId xmlns:a16="http://schemas.microsoft.com/office/drawing/2014/main" id="{C6ABE635-166B-F4FE-3EB2-C734597ED84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913427" y="4791501"/>
            <a:ext cx="914400" cy="914400"/>
          </a:xfrm>
          <a:prstGeom prst="rect">
            <a:avLst/>
          </a:prstGeom>
        </p:spPr>
      </p:pic>
      <p:sp>
        <p:nvSpPr>
          <p:cNvPr id="6" name="TextBox 5">
            <a:extLst>
              <a:ext uri="{FF2B5EF4-FFF2-40B4-BE49-F238E27FC236}">
                <a16:creationId xmlns:a16="http://schemas.microsoft.com/office/drawing/2014/main" id="{9A1502B4-0A1D-22F2-2D43-0824DC3C8189}"/>
              </a:ext>
            </a:extLst>
          </p:cNvPr>
          <p:cNvSpPr txBox="1"/>
          <p:nvPr/>
        </p:nvSpPr>
        <p:spPr>
          <a:xfrm>
            <a:off x="7544938" y="5736609"/>
            <a:ext cx="16513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6. Evaluate</a:t>
            </a:r>
          </a:p>
        </p:txBody>
      </p:sp>
    </p:spTree>
    <p:extLst>
      <p:ext uri="{BB962C8B-B14F-4D97-AF65-F5344CB8AC3E}">
        <p14:creationId xmlns:p14="http://schemas.microsoft.com/office/powerpoint/2010/main" val="151866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244F99-043E-217B-02F7-898FB75D6199}"/>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6000" kern="1200">
                <a:solidFill>
                  <a:schemeClr val="bg1"/>
                </a:solidFill>
                <a:latin typeface="+mj-lt"/>
                <a:ea typeface="+mj-ea"/>
                <a:cs typeface="+mj-cs"/>
              </a:rPr>
              <a:t>Questions?</a:t>
            </a:r>
          </a:p>
        </p:txBody>
      </p:sp>
      <p:sp>
        <p:nvSpPr>
          <p:cNvPr id="41" name="Freeform: Shape 40">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4" name="Picture 34" descr="Icon&#10;&#10;Description automatically generated">
            <a:extLst>
              <a:ext uri="{FF2B5EF4-FFF2-40B4-BE49-F238E27FC236}">
                <a16:creationId xmlns:a16="http://schemas.microsoft.com/office/drawing/2014/main" id="{E81062BD-0E36-D156-C795-47F9D0E43687}"/>
              </a:ext>
            </a:extLst>
          </p:cNvPr>
          <p:cNvPicPr>
            <a:picLocks noChangeAspect="1"/>
          </p:cNvPicPr>
          <p:nvPr/>
        </p:nvPicPr>
        <p:blipFill>
          <a:blip r:embed="rId2"/>
          <a:stretch>
            <a:fillRect/>
          </a:stretch>
        </p:blipFill>
        <p:spPr>
          <a:xfrm>
            <a:off x="419382" y="1541690"/>
            <a:ext cx="4047843" cy="2406449"/>
          </a:xfrm>
          <a:prstGeom prst="rect">
            <a:avLst/>
          </a:prstGeom>
        </p:spPr>
      </p:pic>
    </p:spTree>
    <p:extLst>
      <p:ext uri="{BB962C8B-B14F-4D97-AF65-F5344CB8AC3E}">
        <p14:creationId xmlns:p14="http://schemas.microsoft.com/office/powerpoint/2010/main" val="608950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779EDF-B8FA-9C7A-A24D-0FF5D0BEF919}"/>
              </a:ext>
            </a:extLst>
          </p:cNvPr>
          <p:cNvSpPr>
            <a:spLocks noGrp="1"/>
          </p:cNvSpPr>
          <p:nvPr>
            <p:ph type="title"/>
          </p:nvPr>
        </p:nvSpPr>
        <p:spPr>
          <a:xfrm>
            <a:off x="838200" y="2774051"/>
            <a:ext cx="10515600" cy="1325563"/>
          </a:xfrm>
        </p:spPr>
        <p:txBody>
          <a:bodyPr>
            <a:normAutofit/>
          </a:bodyPr>
          <a:lstStyle/>
          <a:p>
            <a:pPr algn="ctr"/>
            <a:r>
              <a:rPr lang="en-US" sz="5400" dirty="0">
                <a:cs typeface="Calibri Light"/>
              </a:rPr>
              <a:t>Appendix</a:t>
            </a:r>
          </a:p>
        </p:txBody>
      </p:sp>
    </p:spTree>
    <p:extLst>
      <p:ext uri="{BB962C8B-B14F-4D97-AF65-F5344CB8AC3E}">
        <p14:creationId xmlns:p14="http://schemas.microsoft.com/office/powerpoint/2010/main" val="3184723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C4E52-621E-E3A9-DDF6-057CB2C77358}"/>
              </a:ext>
            </a:extLst>
          </p:cNvPr>
          <p:cNvSpPr>
            <a:spLocks noGrp="1"/>
          </p:cNvSpPr>
          <p:nvPr>
            <p:ph type="title"/>
          </p:nvPr>
        </p:nvSpPr>
        <p:spPr/>
        <p:txBody>
          <a:bodyPr/>
          <a:lstStyle/>
          <a:p>
            <a:r>
              <a:rPr lang="en-US" dirty="0">
                <a:cs typeface="Calibri Light"/>
              </a:rPr>
              <a:t>Methods Used to Find Research</a:t>
            </a:r>
            <a:endParaRPr lang="en-US" dirty="0"/>
          </a:p>
        </p:txBody>
      </p:sp>
      <p:graphicFrame>
        <p:nvGraphicFramePr>
          <p:cNvPr id="5" name="Content Placeholder 2">
            <a:extLst>
              <a:ext uri="{FF2B5EF4-FFF2-40B4-BE49-F238E27FC236}">
                <a16:creationId xmlns:a16="http://schemas.microsoft.com/office/drawing/2014/main" id="{A7EDAAAA-1ACD-AE8D-22B9-7AA3C5DDC7A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1474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6E7DCB5-7AE7-AF45-AE30-6892EA15951F}"/>
              </a:ext>
            </a:extLst>
          </p:cNvPr>
          <p:cNvSpPr>
            <a:spLocks noGrp="1"/>
          </p:cNvSpPr>
          <p:nvPr>
            <p:ph type="title"/>
          </p:nvPr>
        </p:nvSpPr>
        <p:spPr>
          <a:xfrm>
            <a:off x="731520" y="731520"/>
            <a:ext cx="6089904" cy="1426464"/>
          </a:xfrm>
        </p:spPr>
        <p:txBody>
          <a:bodyPr>
            <a:normAutofit/>
          </a:bodyPr>
          <a:lstStyle/>
          <a:p>
            <a:r>
              <a:rPr lang="en-US">
                <a:solidFill>
                  <a:srgbClr val="FFFFFF"/>
                </a:solidFill>
                <a:cs typeface="Calibri Light"/>
              </a:rPr>
              <a:t>Sources</a:t>
            </a:r>
            <a:endParaRPr lang="en-US">
              <a:solidFill>
                <a:srgbClr val="FFFFFF"/>
              </a:solidFill>
            </a:endParaRPr>
          </a:p>
        </p:txBody>
      </p:sp>
      <p:sp>
        <p:nvSpPr>
          <p:cNvPr id="17"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21D355-29FB-7712-97D1-2B4AA4B4482D}"/>
              </a:ext>
            </a:extLst>
          </p:cNvPr>
          <p:cNvSpPr>
            <a:spLocks noGrp="1"/>
          </p:cNvSpPr>
          <p:nvPr>
            <p:ph idx="1"/>
          </p:nvPr>
        </p:nvSpPr>
        <p:spPr>
          <a:xfrm>
            <a:off x="674397" y="2334672"/>
            <a:ext cx="10597729" cy="4302502"/>
          </a:xfrm>
        </p:spPr>
        <p:txBody>
          <a:bodyPr vert="horz" lIns="91440" tIns="45720" rIns="91440" bIns="45720" rtlCol="0" anchor="ctr">
            <a:noAutofit/>
          </a:bodyPr>
          <a:lstStyle/>
          <a:p>
            <a:pPr marL="0" indent="0">
              <a:lnSpc>
                <a:spcPct val="85000"/>
              </a:lnSpc>
              <a:spcBef>
                <a:spcPts val="1300"/>
              </a:spcBef>
              <a:buNone/>
            </a:pPr>
            <a:r>
              <a:rPr lang="en-US" sz="1600" i="1">
                <a:ea typeface="+mn-lt"/>
                <a:cs typeface="+mn-lt"/>
              </a:rPr>
              <a:t>Ankle injuries and pain</a:t>
            </a:r>
            <a:r>
              <a:rPr lang="en-US" sz="1600">
                <a:ea typeface="+mn-lt"/>
                <a:cs typeface="+mn-lt"/>
              </a:rPr>
              <a:t>. Champion Sports Medicine. (2022). Retrieved from </a:t>
            </a:r>
            <a:r>
              <a:rPr lang="en-US" sz="1600">
                <a:ea typeface="+mn-lt"/>
                <a:cs typeface="+mn-lt"/>
                <a:hlinkClick r:id="rId2"/>
              </a:rPr>
              <a:t>https://www.csmsportsmedicine.com/#locations-cards_g=42.3624704|-71.0639616&amp;locations-cards_o=Distance%2CAscending</a:t>
            </a:r>
            <a:r>
              <a:rPr lang="en-US" sz="1600">
                <a:ea typeface="+mn-lt"/>
                <a:cs typeface="+mn-lt"/>
              </a:rPr>
              <a:t> </a:t>
            </a:r>
            <a:endParaRPr lang="en-US" sz="1600">
              <a:cs typeface="Calibri"/>
            </a:endParaRPr>
          </a:p>
          <a:p>
            <a:pPr marL="0" indent="0">
              <a:lnSpc>
                <a:spcPct val="85000"/>
              </a:lnSpc>
              <a:spcBef>
                <a:spcPts val="1300"/>
              </a:spcBef>
              <a:buNone/>
            </a:pPr>
            <a:r>
              <a:rPr lang="en-US" sz="1600">
                <a:ea typeface="+mn-lt"/>
                <a:cs typeface="+mn-lt"/>
              </a:rPr>
              <a:t>Campbell, P. (2020). </a:t>
            </a:r>
            <a:r>
              <a:rPr lang="en-US" sz="1600" i="1">
                <a:ea typeface="+mn-lt"/>
                <a:cs typeface="+mn-lt"/>
              </a:rPr>
              <a:t>Why a Value Based Pricing Strategy Works Best for Saas. </a:t>
            </a:r>
            <a:r>
              <a:rPr lang="en-US" sz="1600">
                <a:ea typeface="+mn-lt"/>
                <a:cs typeface="+mn-lt"/>
              </a:rPr>
              <a:t>Recur by </a:t>
            </a:r>
            <a:r>
              <a:rPr lang="en-US" sz="1600" err="1">
                <a:ea typeface="+mn-lt"/>
                <a:cs typeface="+mn-lt"/>
              </a:rPr>
              <a:t>Profitwell</a:t>
            </a:r>
            <a:r>
              <a:rPr lang="en-US" sz="1600">
                <a:ea typeface="+mn-lt"/>
                <a:cs typeface="+mn-lt"/>
              </a:rPr>
              <a:t>. Retrieved from </a:t>
            </a:r>
            <a:r>
              <a:rPr lang="en-US" sz="1600">
                <a:ea typeface="+mn-lt"/>
                <a:cs typeface="+mn-lt"/>
                <a:hlinkClick r:id="rId3"/>
              </a:rPr>
              <a:t>https://www.profitwell.com/recur/all/value-based-pricing</a:t>
            </a:r>
            <a:r>
              <a:rPr lang="en-US" sz="1600">
                <a:ea typeface="+mn-lt"/>
                <a:cs typeface="+mn-lt"/>
              </a:rPr>
              <a:t> </a:t>
            </a:r>
          </a:p>
          <a:p>
            <a:pPr>
              <a:buNone/>
            </a:pPr>
            <a:r>
              <a:rPr lang="en-US" sz="1600">
                <a:ea typeface="+mn-lt"/>
                <a:cs typeface="+mn-lt"/>
              </a:rPr>
              <a:t>Crotti, Nancy. (2020, January 16). 5 tips to raise funding for your medical device. Retrieved from </a:t>
            </a:r>
            <a:r>
              <a:rPr lang="en-US" sz="1600">
                <a:ea typeface="+mn-lt"/>
                <a:cs typeface="+mn-lt"/>
                <a:hlinkClick r:id="rId4">
                  <a:extLst>
                    <a:ext uri="{A12FA001-AC4F-418D-AE19-62706E023703}">
                      <ahyp:hlinkClr xmlns:ahyp="http://schemas.microsoft.com/office/drawing/2018/hyperlinkcolor" val="tx"/>
                    </a:ext>
                  </a:extLst>
                </a:hlinkClick>
              </a:rPr>
              <a:t>https://www.medicaldesignandoutsourcing.com/5-tips-to-raise-funding-for-your-medical-device/</a:t>
            </a:r>
            <a:endParaRPr lang="en-US" sz="1600">
              <a:ea typeface="+mn-lt"/>
              <a:cs typeface="+mn-lt"/>
            </a:endParaRPr>
          </a:p>
          <a:p>
            <a:pPr>
              <a:buNone/>
            </a:pPr>
            <a:r>
              <a:rPr lang="en-US" sz="1600">
                <a:ea typeface="+mn-lt"/>
                <a:cs typeface="+mn-lt"/>
              </a:rPr>
              <a:t>Fijalkowska, Iwona. (2019, July 15). </a:t>
            </a:r>
            <a:r>
              <a:rPr lang="en-US" sz="1600" i="1">
                <a:ea typeface="+mn-lt"/>
                <a:cs typeface="+mn-lt"/>
              </a:rPr>
              <a:t>The Pre-Submission How to Efficiently Communicate with FDA About Planned Applications.</a:t>
            </a:r>
            <a:r>
              <a:rPr lang="en-US" sz="1600">
                <a:ea typeface="+mn-lt"/>
                <a:cs typeface="+mn-lt"/>
              </a:rPr>
              <a:t> Retrieved from </a:t>
            </a:r>
            <a:r>
              <a:rPr lang="en-US" sz="1600">
                <a:ea typeface="+mn-lt"/>
                <a:cs typeface="+mn-lt"/>
                <a:hlinkClick r:id="rId5"/>
              </a:rPr>
              <a:t>https://www.fda.gov/media/131738/download</a:t>
            </a:r>
            <a:endParaRPr lang="en-US" sz="1600">
              <a:ea typeface="+mn-lt"/>
              <a:cs typeface="+mn-lt"/>
            </a:endParaRPr>
          </a:p>
          <a:p>
            <a:pPr>
              <a:buNone/>
            </a:pPr>
            <a:r>
              <a:rPr lang="en-US" sz="1600">
                <a:ea typeface="+mn-lt"/>
                <a:cs typeface="+mn-lt"/>
              </a:rPr>
              <a:t>Magnani, David. (2021, August 25).</a:t>
            </a:r>
            <a:r>
              <a:rPr lang="en-US" sz="1600" dirty="0">
                <a:ea typeface="+mn-lt"/>
                <a:cs typeface="+mn-lt"/>
              </a:rPr>
              <a:t> </a:t>
            </a:r>
            <a:r>
              <a:rPr lang="en-US" sz="1600" i="1">
                <a:ea typeface="+mn-lt"/>
                <a:cs typeface="+mn-lt"/>
              </a:rPr>
              <a:t>Top 7 challenges facing the medical device</a:t>
            </a:r>
            <a:r>
              <a:rPr lang="en-US" sz="1600" i="1" dirty="0">
                <a:ea typeface="+mn-lt"/>
                <a:cs typeface="+mn-lt"/>
              </a:rPr>
              <a:t> </a:t>
            </a:r>
            <a:r>
              <a:rPr lang="en-US" sz="1600" i="1">
                <a:ea typeface="+mn-lt"/>
                <a:cs typeface="+mn-lt"/>
              </a:rPr>
              <a:t>market.</a:t>
            </a:r>
            <a:r>
              <a:rPr lang="en-US" sz="1600" i="1" dirty="0">
                <a:ea typeface="+mn-lt"/>
                <a:cs typeface="+mn-lt"/>
              </a:rPr>
              <a:t> </a:t>
            </a:r>
            <a:r>
              <a:rPr lang="en-US" sz="1600">
                <a:ea typeface="+mn-lt"/>
                <a:cs typeface="+mn-lt"/>
              </a:rPr>
              <a:t>Retrieved</a:t>
            </a:r>
            <a:r>
              <a:rPr lang="en-US" sz="1600" dirty="0">
                <a:ea typeface="+mn-lt"/>
                <a:cs typeface="+mn-lt"/>
              </a:rPr>
              <a:t> </a:t>
            </a:r>
            <a:r>
              <a:rPr lang="en-US" sz="1600">
                <a:ea typeface="+mn-lt"/>
                <a:cs typeface="+mn-lt"/>
              </a:rPr>
              <a:t>from </a:t>
            </a:r>
            <a:r>
              <a:rPr lang="en-US" sz="1600">
                <a:ea typeface="+mn-lt"/>
                <a:cs typeface="+mn-lt"/>
                <a:hlinkClick r:id="rId6"/>
              </a:rPr>
              <a:t>https://medcitynews.com/2021/08/top-7-challenges-facing-the-medical-device-market/</a:t>
            </a:r>
            <a:endParaRPr lang="en-US" sz="1600">
              <a:ea typeface="+mn-lt"/>
              <a:cs typeface="+mn-lt"/>
            </a:endParaRPr>
          </a:p>
          <a:p>
            <a:pPr marL="0" indent="0">
              <a:lnSpc>
                <a:spcPct val="85000"/>
              </a:lnSpc>
              <a:spcBef>
                <a:spcPts val="1300"/>
              </a:spcBef>
              <a:buNone/>
            </a:pPr>
            <a:r>
              <a:rPr lang="en-US" sz="1600" dirty="0">
                <a:ea typeface="+mn-lt"/>
                <a:cs typeface="+mn-lt"/>
              </a:rPr>
              <a:t>Manuel</a:t>
            </a:r>
            <a:r>
              <a:rPr lang="en-US" sz="1600">
                <a:ea typeface="+mn-lt"/>
                <a:cs typeface="+mn-lt"/>
              </a:rPr>
              <a:t>, </a:t>
            </a:r>
            <a:r>
              <a:rPr lang="en-US" sz="1600" dirty="0">
                <a:ea typeface="+mn-lt"/>
                <a:cs typeface="+mn-lt"/>
              </a:rPr>
              <a:t>D</a:t>
            </a:r>
            <a:r>
              <a:rPr lang="en-US" sz="1600">
                <a:ea typeface="+mn-lt"/>
                <a:cs typeface="+mn-lt"/>
              </a:rPr>
              <a:t>. (</a:t>
            </a:r>
            <a:r>
              <a:rPr lang="en-US" sz="1600" dirty="0">
                <a:ea typeface="+mn-lt"/>
                <a:cs typeface="+mn-lt"/>
              </a:rPr>
              <a:t>2022</a:t>
            </a:r>
            <a:r>
              <a:rPr lang="en-US" sz="1600">
                <a:ea typeface="+mn-lt"/>
                <a:cs typeface="+mn-lt"/>
              </a:rPr>
              <a:t>, </a:t>
            </a:r>
            <a:r>
              <a:rPr lang="en-US" sz="1600" dirty="0">
                <a:ea typeface="+mn-lt"/>
                <a:cs typeface="+mn-lt"/>
              </a:rPr>
              <a:t>June </a:t>
            </a:r>
            <a:r>
              <a:rPr lang="en-US" sz="1600">
                <a:ea typeface="+mn-lt"/>
                <a:cs typeface="+mn-lt"/>
              </a:rPr>
              <a:t>12). </a:t>
            </a:r>
            <a:r>
              <a:rPr lang="en-US" sz="1600" i="1" dirty="0">
                <a:ea typeface="+mn-lt"/>
                <a:cs typeface="+mn-lt"/>
              </a:rPr>
              <a:t>There are 834 </a:t>
            </a:r>
            <a:r>
              <a:rPr lang="en-US" sz="1600" i="1">
                <a:ea typeface="+mn-lt"/>
                <a:cs typeface="+mn-lt"/>
              </a:rPr>
              <a:t>college </a:t>
            </a:r>
            <a:r>
              <a:rPr lang="en-US" sz="1600" i="1" dirty="0">
                <a:ea typeface="+mn-lt"/>
                <a:cs typeface="+mn-lt"/>
              </a:rPr>
              <a:t>football teams in the United States as of This moment</a:t>
            </a:r>
            <a:r>
              <a:rPr lang="en-US" sz="1600">
                <a:ea typeface="+mn-lt"/>
                <a:cs typeface="+mn-lt"/>
              </a:rPr>
              <a:t>. </a:t>
            </a:r>
            <a:r>
              <a:rPr lang="en-US" sz="1600" dirty="0">
                <a:ea typeface="+mn-lt"/>
                <a:cs typeface="+mn-lt"/>
              </a:rPr>
              <a:t>Sports King</a:t>
            </a:r>
            <a:r>
              <a:rPr lang="en-US" sz="1600">
                <a:ea typeface="+mn-lt"/>
                <a:cs typeface="+mn-lt"/>
              </a:rPr>
              <a:t>. Retrieved</a:t>
            </a:r>
            <a:r>
              <a:rPr lang="en-US" sz="1600" dirty="0">
                <a:ea typeface="+mn-lt"/>
                <a:cs typeface="+mn-lt"/>
              </a:rPr>
              <a:t> </a:t>
            </a:r>
            <a:r>
              <a:rPr lang="en-US" sz="1600">
                <a:ea typeface="+mn-lt"/>
                <a:cs typeface="+mn-lt"/>
              </a:rPr>
              <a:t>from </a:t>
            </a:r>
            <a:r>
              <a:rPr lang="en-US" sz="1600" dirty="0">
                <a:ea typeface="+mn-lt"/>
                <a:cs typeface="+mn-lt"/>
                <a:hlinkClick r:id="rId7"/>
              </a:rPr>
              <a:t>https://www.sports-king.com/how-many-college-football-teams-3338/</a:t>
            </a:r>
            <a:r>
              <a:rPr lang="en-US" sz="1600" dirty="0">
                <a:ea typeface="+mn-lt"/>
                <a:cs typeface="+mn-lt"/>
              </a:rPr>
              <a:t> </a:t>
            </a:r>
          </a:p>
        </p:txBody>
      </p:sp>
    </p:spTree>
    <p:extLst>
      <p:ext uri="{BB962C8B-B14F-4D97-AF65-F5344CB8AC3E}">
        <p14:creationId xmlns:p14="http://schemas.microsoft.com/office/powerpoint/2010/main" val="3023199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6E7DCB5-7AE7-AF45-AE30-6892EA15951F}"/>
              </a:ext>
            </a:extLst>
          </p:cNvPr>
          <p:cNvSpPr>
            <a:spLocks noGrp="1"/>
          </p:cNvSpPr>
          <p:nvPr>
            <p:ph type="title"/>
          </p:nvPr>
        </p:nvSpPr>
        <p:spPr>
          <a:xfrm>
            <a:off x="731520" y="731520"/>
            <a:ext cx="6089904" cy="1426464"/>
          </a:xfrm>
        </p:spPr>
        <p:txBody>
          <a:bodyPr>
            <a:normAutofit/>
          </a:bodyPr>
          <a:lstStyle/>
          <a:p>
            <a:r>
              <a:rPr lang="en-US">
                <a:solidFill>
                  <a:srgbClr val="FFFFFF"/>
                </a:solidFill>
                <a:cs typeface="Calibri Light"/>
              </a:rPr>
              <a:t>Sources Continued</a:t>
            </a:r>
            <a:endParaRPr lang="en-US">
              <a:solidFill>
                <a:srgbClr val="FFFFFF"/>
              </a:solidFill>
            </a:endParaRPr>
          </a:p>
        </p:txBody>
      </p:sp>
      <p:sp>
        <p:nvSpPr>
          <p:cNvPr id="17"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21D355-29FB-7712-97D1-2B4AA4B4482D}"/>
              </a:ext>
            </a:extLst>
          </p:cNvPr>
          <p:cNvSpPr>
            <a:spLocks noGrp="1"/>
          </p:cNvSpPr>
          <p:nvPr>
            <p:ph idx="1"/>
          </p:nvPr>
        </p:nvSpPr>
        <p:spPr>
          <a:xfrm>
            <a:off x="733475" y="2990957"/>
            <a:ext cx="10597729" cy="2980622"/>
          </a:xfrm>
        </p:spPr>
        <p:txBody>
          <a:bodyPr vert="horz" lIns="91440" tIns="45720" rIns="91440" bIns="45720" rtlCol="0" anchor="ctr">
            <a:noAutofit/>
          </a:bodyPr>
          <a:lstStyle/>
          <a:p>
            <a:pPr marL="0" indent="0">
              <a:lnSpc>
                <a:spcPct val="85000"/>
              </a:lnSpc>
              <a:spcBef>
                <a:spcPts val="1300"/>
              </a:spcBef>
              <a:buNone/>
            </a:pPr>
            <a:r>
              <a:rPr lang="en-US" sz="1600" dirty="0">
                <a:ea typeface="+mn-lt"/>
                <a:cs typeface="+mn-lt"/>
              </a:rPr>
              <a:t>Putnik , G. (2021, September 12). </a:t>
            </a:r>
            <a:r>
              <a:rPr lang="en-US" sz="1600" i="1" dirty="0">
                <a:ea typeface="+mn-lt"/>
                <a:cs typeface="+mn-lt"/>
              </a:rPr>
              <a:t>NFL players by college on 2021 rosters</a:t>
            </a:r>
            <a:r>
              <a:rPr lang="en-US" sz="1600" dirty="0">
                <a:ea typeface="+mn-lt"/>
                <a:cs typeface="+mn-lt"/>
              </a:rPr>
              <a:t>. NCAA. Retrieved from </a:t>
            </a:r>
            <a:r>
              <a:rPr lang="en-US" sz="1600" dirty="0">
                <a:ea typeface="+mn-lt"/>
                <a:cs typeface="+mn-lt"/>
                <a:hlinkClick r:id="rId2"/>
              </a:rPr>
              <a:t>https://www.ncaa.com/news/football/article/2021-09-06/nfl-players-college-2021-rosters</a:t>
            </a:r>
            <a:r>
              <a:rPr lang="en-US" sz="1600" dirty="0">
                <a:ea typeface="+mn-lt"/>
                <a:cs typeface="+mn-lt"/>
              </a:rPr>
              <a:t> </a:t>
            </a:r>
            <a:endParaRPr lang="en-US"/>
          </a:p>
          <a:p>
            <a:pPr marL="0" indent="0">
              <a:lnSpc>
                <a:spcPct val="85000"/>
              </a:lnSpc>
              <a:spcBef>
                <a:spcPts val="1300"/>
              </a:spcBef>
              <a:buNone/>
            </a:pPr>
            <a:r>
              <a:rPr lang="en-US" sz="1600" i="1">
                <a:ea typeface="+mn-lt"/>
                <a:cs typeface="+mn-lt"/>
              </a:rPr>
              <a:t>Professional Football Athletic Trainers Society</a:t>
            </a:r>
            <a:r>
              <a:rPr lang="en-US" sz="1600">
                <a:ea typeface="+mn-lt"/>
                <a:cs typeface="+mn-lt"/>
              </a:rPr>
              <a:t>. PFATS. (2022). Retrieved from </a:t>
            </a:r>
            <a:r>
              <a:rPr lang="en-US" sz="1600">
                <a:ea typeface="+mn-lt"/>
                <a:cs typeface="+mn-lt"/>
                <a:hlinkClick r:id="rId3"/>
              </a:rPr>
              <a:t>https://www.pfats.com/about/partners/</a:t>
            </a:r>
            <a:r>
              <a:rPr lang="en-US" sz="1600">
                <a:ea typeface="+mn-lt"/>
                <a:cs typeface="+mn-lt"/>
              </a:rPr>
              <a:t> </a:t>
            </a:r>
            <a:endParaRPr lang="en-US" sz="1600">
              <a:cs typeface="Calibri"/>
            </a:endParaRPr>
          </a:p>
          <a:p>
            <a:pPr>
              <a:buNone/>
            </a:pPr>
            <a:r>
              <a:rPr lang="en-US" sz="1600" dirty="0">
                <a:ea typeface="+mn-lt"/>
                <a:cs typeface="+mn-lt"/>
              </a:rPr>
              <a:t>Sapatnekar, T., Joshi, K., &amp; Sumant, O. (2018, September). </a:t>
            </a:r>
            <a:r>
              <a:rPr lang="en-US" sz="1600" i="1" dirty="0">
                <a:ea typeface="+mn-lt"/>
                <a:cs typeface="+mn-lt"/>
              </a:rPr>
              <a:t>Sports medicine devices market size, share: Industry growth, 2025</a:t>
            </a:r>
            <a:r>
              <a:rPr lang="en-US" sz="1600" dirty="0">
                <a:ea typeface="+mn-lt"/>
                <a:cs typeface="+mn-lt"/>
              </a:rPr>
              <a:t>. Allied Market Research. Retrieved June 30, 2022, from </a:t>
            </a:r>
            <a:r>
              <a:rPr lang="en-US" sz="1600" dirty="0">
                <a:ea typeface="+mn-lt"/>
                <a:cs typeface="+mn-lt"/>
                <a:hlinkClick r:id="rId4"/>
              </a:rPr>
              <a:t>https://www.alliedmarketresearch.com/sports-medicine-devices-market</a:t>
            </a:r>
            <a:r>
              <a:rPr lang="en-US" sz="1600" dirty="0">
                <a:ea typeface="+mn-lt"/>
                <a:cs typeface="+mn-lt"/>
              </a:rPr>
              <a:t> </a:t>
            </a:r>
            <a:endParaRPr lang="en-US">
              <a:cs typeface="Calibri" panose="020F0502020204030204"/>
            </a:endParaRPr>
          </a:p>
          <a:p>
            <a:pPr>
              <a:buNone/>
            </a:pPr>
            <a:r>
              <a:rPr lang="en-US" sz="1600">
                <a:ea typeface="+mn-lt"/>
                <a:cs typeface="+mn-lt"/>
              </a:rPr>
              <a:t>Shepherd, M. (2017, October 2). </a:t>
            </a:r>
            <a:r>
              <a:rPr lang="en-US" sz="1600" i="1">
                <a:ea typeface="+mn-lt"/>
                <a:cs typeface="+mn-lt"/>
              </a:rPr>
              <a:t>Orthopedic device price strategies: Who is going to pay for it?</a:t>
            </a:r>
            <a:r>
              <a:rPr lang="en-US" sz="1600">
                <a:ea typeface="+mn-lt"/>
                <a:cs typeface="+mn-lt"/>
              </a:rPr>
              <a:t> Orthopedic Design &amp; Technology. Retrieved from </a:t>
            </a:r>
            <a:r>
              <a:rPr lang="en-US" sz="1600">
                <a:ea typeface="+mn-lt"/>
                <a:cs typeface="+mn-lt"/>
                <a:hlinkClick r:id="rId5"/>
              </a:rPr>
              <a:t>https://www.odtmag.com/issues/2017-10-01/view_columns/orthopedic-device-price-strategies-who-is-going-to-pay-for-it</a:t>
            </a:r>
            <a:r>
              <a:rPr lang="en-US" sz="1600">
                <a:ea typeface="+mn-lt"/>
                <a:cs typeface="+mn-lt"/>
              </a:rPr>
              <a:t> </a:t>
            </a:r>
            <a:endParaRPr lang="en-US" sz="2400">
              <a:ea typeface="+mn-lt"/>
              <a:cs typeface="+mn-lt"/>
            </a:endParaRPr>
          </a:p>
          <a:p>
            <a:pPr marL="0" indent="0">
              <a:lnSpc>
                <a:spcPct val="85000"/>
              </a:lnSpc>
              <a:spcBef>
                <a:spcPts val="1300"/>
              </a:spcBef>
              <a:buNone/>
            </a:pPr>
            <a:r>
              <a:rPr lang="en-US" sz="1600">
                <a:ea typeface="+mn-lt"/>
                <a:cs typeface="+mn-lt"/>
              </a:rPr>
              <a:t>“Sports Medicine Devices Market Size Estimated to Reach $7.5 Billion by 2027.” </a:t>
            </a:r>
            <a:r>
              <a:rPr lang="en-US" sz="1600" i="1">
                <a:ea typeface="+mn-lt"/>
                <a:cs typeface="+mn-lt"/>
              </a:rPr>
              <a:t>M2 </a:t>
            </a:r>
            <a:r>
              <a:rPr lang="en-US" sz="1600" i="1" err="1">
                <a:ea typeface="+mn-lt"/>
                <a:cs typeface="+mn-lt"/>
              </a:rPr>
              <a:t>Presswire</a:t>
            </a:r>
            <a:r>
              <a:rPr lang="en-US" sz="1600">
                <a:ea typeface="+mn-lt"/>
                <a:cs typeface="+mn-lt"/>
              </a:rPr>
              <a:t>,</a:t>
            </a:r>
            <a:r>
              <a:rPr lang="en-US" sz="1600" dirty="0">
                <a:ea typeface="+mn-lt"/>
                <a:cs typeface="+mn-lt"/>
              </a:rPr>
              <a:t> </a:t>
            </a:r>
            <a:r>
              <a:rPr lang="en-US" sz="1600">
                <a:ea typeface="+mn-lt"/>
                <a:cs typeface="+mn-lt"/>
              </a:rPr>
              <a:t>30 Mar. 2022. </a:t>
            </a:r>
            <a:r>
              <a:rPr lang="en-US" sz="1600" i="1">
                <a:ea typeface="+mn-lt"/>
                <a:cs typeface="+mn-lt"/>
              </a:rPr>
              <a:t>EBSCOhost</a:t>
            </a:r>
            <a:r>
              <a:rPr lang="en-US" sz="1600">
                <a:ea typeface="+mn-lt"/>
                <a:cs typeface="+mn-lt"/>
              </a:rPr>
              <a:t>, </a:t>
            </a:r>
            <a:r>
              <a:rPr lang="en-US" sz="1600">
                <a:ea typeface="+mn-lt"/>
                <a:cs typeface="+mn-lt"/>
                <a:hlinkClick r:id="rId6"/>
              </a:rPr>
              <a:t>https://search-ebscohost-com.ezproxysuf.flo.org/login.aspx?direct=true&amp;db=edsgih&amp;AN=edsgcl.698727734&amp;site=eds-live</a:t>
            </a:r>
            <a:endParaRPr lang="en-US"/>
          </a:p>
        </p:txBody>
      </p:sp>
    </p:spTree>
    <p:extLst>
      <p:ext uri="{BB962C8B-B14F-4D97-AF65-F5344CB8AC3E}">
        <p14:creationId xmlns:p14="http://schemas.microsoft.com/office/powerpoint/2010/main" val="4084758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6E7DCB5-7AE7-AF45-AE30-6892EA15951F}"/>
              </a:ext>
            </a:extLst>
          </p:cNvPr>
          <p:cNvSpPr>
            <a:spLocks noGrp="1"/>
          </p:cNvSpPr>
          <p:nvPr>
            <p:ph type="title"/>
          </p:nvPr>
        </p:nvSpPr>
        <p:spPr>
          <a:xfrm>
            <a:off x="731520" y="731520"/>
            <a:ext cx="6089904" cy="1426464"/>
          </a:xfrm>
        </p:spPr>
        <p:txBody>
          <a:bodyPr>
            <a:normAutofit/>
          </a:bodyPr>
          <a:lstStyle/>
          <a:p>
            <a:r>
              <a:rPr lang="en-US">
                <a:solidFill>
                  <a:srgbClr val="FFFFFF"/>
                </a:solidFill>
                <a:cs typeface="Calibri Light"/>
              </a:rPr>
              <a:t>Sources Continued</a:t>
            </a:r>
            <a:endParaRPr lang="en-US">
              <a:solidFill>
                <a:srgbClr val="FFFFFF"/>
              </a:solidFill>
            </a:endParaRPr>
          </a:p>
        </p:txBody>
      </p:sp>
      <p:sp>
        <p:nvSpPr>
          <p:cNvPr id="17"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21D355-29FB-7712-97D1-2B4AA4B4482D}"/>
              </a:ext>
            </a:extLst>
          </p:cNvPr>
          <p:cNvSpPr>
            <a:spLocks noGrp="1"/>
          </p:cNvSpPr>
          <p:nvPr>
            <p:ph idx="1"/>
          </p:nvPr>
        </p:nvSpPr>
        <p:spPr>
          <a:xfrm>
            <a:off x="733475" y="2592372"/>
            <a:ext cx="10914030" cy="3809201"/>
          </a:xfrm>
        </p:spPr>
        <p:txBody>
          <a:bodyPr vert="horz" lIns="91440" tIns="45720" rIns="91440" bIns="45720" rtlCol="0" anchor="ctr">
            <a:noAutofit/>
          </a:bodyPr>
          <a:lstStyle/>
          <a:p>
            <a:pPr marL="0" indent="0">
              <a:lnSpc>
                <a:spcPct val="85000"/>
              </a:lnSpc>
              <a:spcBef>
                <a:spcPts val="1300"/>
              </a:spcBef>
              <a:buNone/>
            </a:pPr>
            <a:endParaRPr lang="en-US" sz="1600" dirty="0">
              <a:ea typeface="+mn-lt"/>
              <a:cs typeface="+mn-lt"/>
            </a:endParaRPr>
          </a:p>
          <a:p>
            <a:pPr marL="0" indent="0">
              <a:lnSpc>
                <a:spcPct val="85000"/>
              </a:lnSpc>
              <a:spcBef>
                <a:spcPts val="1300"/>
              </a:spcBef>
              <a:buNone/>
            </a:pPr>
            <a:endParaRPr lang="en-US" sz="1600" dirty="0">
              <a:ea typeface="+mn-lt"/>
              <a:cs typeface="+mn-lt"/>
            </a:endParaRPr>
          </a:p>
          <a:p>
            <a:pPr marL="0" indent="0">
              <a:lnSpc>
                <a:spcPct val="85000"/>
              </a:lnSpc>
              <a:spcBef>
                <a:spcPts val="1300"/>
              </a:spcBef>
              <a:buNone/>
            </a:pPr>
            <a:endParaRPr lang="en-US" sz="1600" dirty="0">
              <a:ea typeface="+mn-lt"/>
              <a:cs typeface="+mn-lt"/>
            </a:endParaRPr>
          </a:p>
          <a:p>
            <a:pPr marL="0" indent="0">
              <a:lnSpc>
                <a:spcPct val="85000"/>
              </a:lnSpc>
              <a:spcBef>
                <a:spcPts val="1300"/>
              </a:spcBef>
              <a:buNone/>
            </a:pPr>
            <a:r>
              <a:rPr lang="en-US" sz="1600" dirty="0">
                <a:ea typeface="+mn-lt"/>
                <a:cs typeface="+mn-lt"/>
              </a:rPr>
              <a:t>“Stobierski, T. (2020, December 18). </a:t>
            </a:r>
            <a:r>
              <a:rPr lang="en-US" sz="1600" i="1" dirty="0">
                <a:ea typeface="+mn-lt"/>
                <a:cs typeface="+mn-lt"/>
              </a:rPr>
              <a:t>What is conjoint analysis, and how can it be used?</a:t>
            </a:r>
            <a:r>
              <a:rPr lang="en-US" sz="1600" dirty="0">
                <a:ea typeface="+mn-lt"/>
                <a:cs typeface="+mn-lt"/>
              </a:rPr>
              <a:t> Harvard Business School Online. Retrieved from </a:t>
            </a:r>
            <a:r>
              <a:rPr lang="en-US" sz="1600" dirty="0">
                <a:ea typeface="+mn-lt"/>
                <a:cs typeface="+mn-lt"/>
                <a:hlinkClick r:id="rId2"/>
              </a:rPr>
              <a:t>https://online.hbs.edu/blog/post/what-is-conjoint-analysis#:~:text=Conjoint%20Analysis%20in%20Pricing,to%20develop%20its%20pricing%20strategy</a:t>
            </a:r>
            <a:r>
              <a:rPr lang="en-US" sz="1600" dirty="0">
                <a:ea typeface="+mn-lt"/>
                <a:cs typeface="+mn-lt"/>
              </a:rPr>
              <a:t> </a:t>
            </a:r>
            <a:endParaRPr lang="en-US">
              <a:cs typeface="Calibri"/>
            </a:endParaRPr>
          </a:p>
          <a:p>
            <a:pPr marL="0" indent="0">
              <a:lnSpc>
                <a:spcPct val="85000"/>
              </a:lnSpc>
              <a:spcBef>
                <a:spcPts val="1300"/>
              </a:spcBef>
              <a:buNone/>
            </a:pPr>
            <a:r>
              <a:rPr lang="en-US" sz="1600" dirty="0">
                <a:ea typeface="+mn-lt"/>
                <a:cs typeface="+mn-lt"/>
              </a:rPr>
              <a:t>U.S. Food &amp; Drug Administration ClinicalTrials.gov. (2022, June 7). </a:t>
            </a:r>
          </a:p>
          <a:p>
            <a:pPr marL="0" indent="0">
              <a:lnSpc>
                <a:spcPct val="85000"/>
              </a:lnSpc>
              <a:spcBef>
                <a:spcPts val="1300"/>
              </a:spcBef>
              <a:buNone/>
            </a:pPr>
            <a:r>
              <a:rPr lang="en-US" sz="1600" dirty="0">
                <a:cs typeface="Calibri" panose="020F0502020204030204"/>
              </a:rPr>
              <a:t>U.S. National Library of Medicine. (2022, June). </a:t>
            </a:r>
            <a:r>
              <a:rPr lang="en-US" sz="1600" i="1" dirty="0">
                <a:cs typeface="Calibri" panose="020F0502020204030204"/>
              </a:rPr>
              <a:t>How to Register your study. </a:t>
            </a:r>
            <a:r>
              <a:rPr lang="en-US" sz="1600" dirty="0">
                <a:cs typeface="Calibri" panose="020F0502020204030204"/>
              </a:rPr>
              <a:t>Retrieved from </a:t>
            </a:r>
            <a:r>
              <a:rPr lang="en-US" sz="1600" dirty="0">
                <a:cs typeface="Calibri" panose="020F0502020204030204"/>
                <a:hlinkClick r:id="rId3"/>
              </a:rPr>
              <a:t>https://clinicaltrials.gov/ct2/manage-recs/how-register#StepsForRegistering</a:t>
            </a:r>
          </a:p>
          <a:p>
            <a:pPr>
              <a:buNone/>
            </a:pPr>
            <a:r>
              <a:rPr lang="en-US" sz="1600" dirty="0">
                <a:ea typeface="+mn-lt"/>
                <a:cs typeface="+mn-lt"/>
              </a:rPr>
              <a:t>Gough, C. (n.d.). </a:t>
            </a:r>
            <a:r>
              <a:rPr lang="en-US" sz="1600" i="1" dirty="0">
                <a:ea typeface="+mn-lt"/>
                <a:cs typeface="+mn-lt"/>
              </a:rPr>
              <a:t>Topic: National Football League (NFL)</a:t>
            </a:r>
            <a:r>
              <a:rPr lang="en-US" sz="1600" dirty="0">
                <a:ea typeface="+mn-lt"/>
                <a:cs typeface="+mn-lt"/>
              </a:rPr>
              <a:t>. Statista. From</a:t>
            </a:r>
            <a:endParaRPr lang="en-US" dirty="0">
              <a:ea typeface="+mn-lt"/>
              <a:cs typeface="+mn-lt"/>
            </a:endParaRPr>
          </a:p>
          <a:p>
            <a:pPr>
              <a:buNone/>
            </a:pPr>
            <a:r>
              <a:rPr lang="en-US" sz="1600" dirty="0">
                <a:ea typeface="+mn-lt"/>
                <a:cs typeface="+mn-lt"/>
              </a:rPr>
              <a:t> </a:t>
            </a:r>
            <a:r>
              <a:rPr lang="en-US" sz="1600" dirty="0">
                <a:ea typeface="+mn-lt"/>
                <a:cs typeface="+mn-lt"/>
                <a:hlinkClick r:id="rId4"/>
              </a:rPr>
              <a:t>https://www.statista.com/topics/963/national-football-league/#topicHeader__wrapper</a:t>
            </a:r>
            <a:r>
              <a:rPr lang="en-US" sz="1600" dirty="0">
                <a:ea typeface="+mn-lt"/>
                <a:cs typeface="+mn-lt"/>
              </a:rPr>
              <a:t> </a:t>
            </a:r>
            <a:endParaRPr lang="en-US">
              <a:cs typeface="Calibri"/>
            </a:endParaRPr>
          </a:p>
          <a:p>
            <a:pPr>
              <a:buNone/>
            </a:pPr>
            <a:r>
              <a:rPr lang="en-US" sz="1600" i="1" dirty="0">
                <a:ea typeface="+mn-lt"/>
                <a:cs typeface="+mn-lt"/>
              </a:rPr>
              <a:t>Sports medicine - facilities</a:t>
            </a:r>
            <a:r>
              <a:rPr lang="en-US" sz="1600" dirty="0">
                <a:ea typeface="+mn-lt"/>
                <a:cs typeface="+mn-lt"/>
              </a:rPr>
              <a:t>. University of Georgia Athletics. (n.d.). From</a:t>
            </a:r>
            <a:endParaRPr lang="en-US" dirty="0">
              <a:ea typeface="+mn-lt"/>
              <a:cs typeface="+mn-lt"/>
            </a:endParaRPr>
          </a:p>
          <a:p>
            <a:pPr>
              <a:buNone/>
            </a:pPr>
            <a:r>
              <a:rPr lang="en-US" sz="1600" dirty="0">
                <a:ea typeface="+mn-lt"/>
                <a:cs typeface="+mn-lt"/>
              </a:rPr>
              <a:t> </a:t>
            </a:r>
            <a:r>
              <a:rPr lang="en-US" sz="1600" dirty="0">
                <a:ea typeface="+mn-lt"/>
                <a:cs typeface="+mn-lt"/>
                <a:hlinkClick r:id="rId5"/>
              </a:rPr>
              <a:t>https://georgiadogs.com/sports/2017/6/17/ot-sports-medicine-sports-med-facilities-html.aspx</a:t>
            </a:r>
            <a:r>
              <a:rPr lang="en-US" sz="1600" dirty="0">
                <a:ea typeface="+mn-lt"/>
                <a:cs typeface="+mn-lt"/>
              </a:rPr>
              <a:t> </a:t>
            </a:r>
            <a:endParaRPr lang="en-US">
              <a:ea typeface="+mn-lt"/>
              <a:cs typeface="+mn-lt"/>
            </a:endParaRPr>
          </a:p>
          <a:p>
            <a:pPr>
              <a:buNone/>
            </a:pPr>
            <a:endParaRPr lang="en-US" sz="1600" dirty="0">
              <a:cs typeface="Calibri" panose="020F0502020204030204"/>
            </a:endParaRPr>
          </a:p>
          <a:p>
            <a:pPr>
              <a:buNone/>
            </a:pPr>
            <a:endParaRPr lang="en-US" sz="1600" dirty="0">
              <a:cs typeface="Calibri" panose="020F0502020204030204"/>
            </a:endParaRPr>
          </a:p>
          <a:p>
            <a:pPr>
              <a:buNone/>
            </a:pPr>
            <a:endParaRPr lang="en-US" sz="1600" dirty="0">
              <a:cs typeface="Calibri" panose="020F0502020204030204"/>
            </a:endParaRPr>
          </a:p>
          <a:p>
            <a:pPr marL="0" indent="0">
              <a:lnSpc>
                <a:spcPct val="85000"/>
              </a:lnSpc>
              <a:spcBef>
                <a:spcPts val="1300"/>
              </a:spcBef>
              <a:buNone/>
            </a:pPr>
            <a:endParaRPr lang="en-US" sz="1600" dirty="0">
              <a:cs typeface="Calibri" panose="020F0502020204030204"/>
            </a:endParaRPr>
          </a:p>
        </p:txBody>
      </p:sp>
    </p:spTree>
    <p:extLst>
      <p:ext uri="{BB962C8B-B14F-4D97-AF65-F5344CB8AC3E}">
        <p14:creationId xmlns:p14="http://schemas.microsoft.com/office/powerpoint/2010/main" val="2786788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6E7DCB5-7AE7-AF45-AE30-6892EA15951F}"/>
              </a:ext>
            </a:extLst>
          </p:cNvPr>
          <p:cNvSpPr>
            <a:spLocks noGrp="1"/>
          </p:cNvSpPr>
          <p:nvPr>
            <p:ph type="title"/>
          </p:nvPr>
        </p:nvSpPr>
        <p:spPr>
          <a:xfrm>
            <a:off x="731520" y="731520"/>
            <a:ext cx="6089904" cy="1426464"/>
          </a:xfrm>
        </p:spPr>
        <p:txBody>
          <a:bodyPr>
            <a:normAutofit/>
          </a:bodyPr>
          <a:lstStyle/>
          <a:p>
            <a:r>
              <a:rPr lang="en-US">
                <a:solidFill>
                  <a:srgbClr val="FFFFFF"/>
                </a:solidFill>
                <a:cs typeface="Calibri Light"/>
              </a:rPr>
              <a:t>Sources Continued</a:t>
            </a:r>
            <a:endParaRPr lang="en-US">
              <a:solidFill>
                <a:srgbClr val="FFFFFF"/>
              </a:solidFill>
            </a:endParaRPr>
          </a:p>
        </p:txBody>
      </p:sp>
      <p:sp>
        <p:nvSpPr>
          <p:cNvPr id="17"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21D355-29FB-7712-97D1-2B4AA4B4482D}"/>
              </a:ext>
            </a:extLst>
          </p:cNvPr>
          <p:cNvSpPr>
            <a:spLocks noGrp="1"/>
          </p:cNvSpPr>
          <p:nvPr>
            <p:ph idx="1"/>
          </p:nvPr>
        </p:nvSpPr>
        <p:spPr>
          <a:xfrm>
            <a:off x="733475" y="2592372"/>
            <a:ext cx="10914030" cy="3809201"/>
          </a:xfrm>
        </p:spPr>
        <p:txBody>
          <a:bodyPr vert="horz" lIns="91440" tIns="45720" rIns="91440" bIns="45720" rtlCol="0" anchor="ctr">
            <a:noAutofit/>
          </a:bodyPr>
          <a:lstStyle/>
          <a:p>
            <a:pPr marL="0" indent="0">
              <a:lnSpc>
                <a:spcPct val="85000"/>
              </a:lnSpc>
              <a:spcBef>
                <a:spcPts val="1300"/>
              </a:spcBef>
              <a:buNone/>
            </a:pPr>
            <a:endParaRPr lang="en-US" sz="1600" dirty="0">
              <a:cs typeface="Calibri" panose="020F0502020204030204"/>
            </a:endParaRPr>
          </a:p>
          <a:p>
            <a:pPr>
              <a:buNone/>
            </a:pPr>
            <a:endParaRPr lang="en-US" sz="1600" dirty="0">
              <a:cs typeface="Calibri" panose="020F0502020204030204"/>
            </a:endParaRPr>
          </a:p>
          <a:p>
            <a:pPr>
              <a:buNone/>
            </a:pPr>
            <a:endParaRPr lang="en-US" sz="1600" dirty="0">
              <a:cs typeface="Calibri" panose="020F0502020204030204"/>
            </a:endParaRPr>
          </a:p>
          <a:p>
            <a:pPr marL="0" indent="0">
              <a:lnSpc>
                <a:spcPct val="85000"/>
              </a:lnSpc>
              <a:spcBef>
                <a:spcPts val="1300"/>
              </a:spcBef>
              <a:buNone/>
            </a:pPr>
            <a:endParaRPr lang="en-US" sz="1600" dirty="0">
              <a:cs typeface="Calibri" panose="020F0502020204030204"/>
            </a:endParaRPr>
          </a:p>
        </p:txBody>
      </p:sp>
      <p:sp>
        <p:nvSpPr>
          <p:cNvPr id="4" name="TextBox 3">
            <a:extLst>
              <a:ext uri="{FF2B5EF4-FFF2-40B4-BE49-F238E27FC236}">
                <a16:creationId xmlns:a16="http://schemas.microsoft.com/office/drawing/2014/main" id="{615CB53F-0E9C-A283-5213-2779FF508383}"/>
              </a:ext>
            </a:extLst>
          </p:cNvPr>
          <p:cNvSpPr txBox="1"/>
          <p:nvPr/>
        </p:nvSpPr>
        <p:spPr>
          <a:xfrm>
            <a:off x="454325" y="2395268"/>
            <a:ext cx="1128335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i="1" dirty="0">
              <a:latin typeface="Calibri"/>
              <a:cs typeface="Segoe UI"/>
            </a:endParaRPr>
          </a:p>
          <a:p>
            <a:r>
              <a:rPr lang="en-US" sz="1600" i="1" dirty="0">
                <a:latin typeface="Calibri"/>
                <a:cs typeface="Segoe UI"/>
              </a:rPr>
              <a:t>Athletics Health Care Administration Best Practices. NCAA.org. (n.d.). From​</a:t>
            </a:r>
            <a:endParaRPr lang="en-US" sz="1600" i="1">
              <a:latin typeface="Calibri"/>
              <a:cs typeface="Calibri Light"/>
            </a:endParaRPr>
          </a:p>
          <a:p>
            <a:r>
              <a:rPr lang="en-US" sz="1600" i="1" dirty="0">
                <a:latin typeface="Calibri"/>
                <a:cs typeface="Segoe UI"/>
              </a:rPr>
              <a:t> </a:t>
            </a:r>
            <a:r>
              <a:rPr lang="en-US" sz="1600" i="1" dirty="0">
                <a:solidFill>
                  <a:srgbClr val="0563C1"/>
                </a:solidFill>
                <a:latin typeface="Calibri"/>
                <a:cs typeface="Segoe UI"/>
                <a:hlinkClick r:id="rId2"/>
              </a:rPr>
              <a:t>https://www.ncaa.org/sports/2014/7/8/athletics-health-care-administration-best-practices.aspx</a:t>
            </a:r>
            <a:r>
              <a:rPr lang="en-US" sz="1600" i="1" dirty="0">
                <a:latin typeface="Calibri"/>
                <a:cs typeface="Segoe UI"/>
              </a:rPr>
              <a:t> ​</a:t>
            </a:r>
          </a:p>
          <a:p>
            <a:endParaRPr lang="en-US" sz="1600" i="1" dirty="0">
              <a:latin typeface="Calibri"/>
              <a:cs typeface="Segoe UI"/>
            </a:endParaRPr>
          </a:p>
          <a:p>
            <a:r>
              <a:rPr lang="en-US" sz="1600" i="1" dirty="0">
                <a:latin typeface="Calibri"/>
                <a:cs typeface="Segoe UI"/>
              </a:rPr>
              <a:t>Lindsey, H., Mortensen, S., &amp; Miller, E. (2022, April 18). Inside the big business of college sports. Signpost. From </a:t>
            </a:r>
            <a:r>
              <a:rPr lang="en-US" sz="1600" i="1" dirty="0">
                <a:solidFill>
                  <a:srgbClr val="0563C1"/>
                </a:solidFill>
                <a:latin typeface="Calibri"/>
                <a:cs typeface="Segoe UI"/>
                <a:hlinkClick r:id="rId3"/>
              </a:rPr>
              <a:t>https://signpost.mywebermedia.com/2022/04/18/inside-the-big-business-of-college-sports/</a:t>
            </a:r>
            <a:r>
              <a:rPr lang="en-US" sz="1600" i="1" dirty="0">
                <a:latin typeface="Calibri"/>
                <a:cs typeface="Segoe UI"/>
              </a:rPr>
              <a:t> ​</a:t>
            </a:r>
          </a:p>
        </p:txBody>
      </p:sp>
    </p:spTree>
    <p:extLst>
      <p:ext uri="{BB962C8B-B14F-4D97-AF65-F5344CB8AC3E}">
        <p14:creationId xmlns:p14="http://schemas.microsoft.com/office/powerpoint/2010/main" val="40025601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1814</Words>
  <Application>Microsoft Office PowerPoint</Application>
  <PresentationFormat>Widescreen</PresentationFormat>
  <Paragraphs>161</Paragraphs>
  <Slides>19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Wingdings,Sans-Serif</vt:lpstr>
      <vt:lpstr>office theme</vt:lpstr>
      <vt:lpstr>PowerPoint Presentation</vt:lpstr>
      <vt:lpstr>Overview</vt:lpstr>
      <vt:lpstr>Problem Statement</vt:lpstr>
      <vt:lpstr>Sports Medicine Devices  Market Analysis</vt:lpstr>
      <vt:lpstr>Market Challenges</vt:lpstr>
      <vt:lpstr>Clinical Trials</vt:lpstr>
      <vt:lpstr>Seeking Funding</vt:lpstr>
      <vt:lpstr>Strategic Partnerships: Champion Sports Medicine</vt:lpstr>
      <vt:lpstr>Strategic Partnerships: Professional Football Athletic Trainers Society</vt:lpstr>
      <vt:lpstr>Pricing Strategy</vt:lpstr>
      <vt:lpstr>Professional Sports Club</vt:lpstr>
      <vt:lpstr>Recommendations</vt:lpstr>
      <vt:lpstr>Questions?</vt:lpstr>
      <vt:lpstr>Appendix</vt:lpstr>
      <vt:lpstr>Methods Used to Find Research</vt:lpstr>
      <vt:lpstr>Sources</vt:lpstr>
      <vt:lpstr>Sources Continued</vt:lpstr>
      <vt:lpstr>Sources Continued</vt:lpstr>
      <vt:lpstr>Sources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Guida</dc:creator>
  <cp:lastModifiedBy>Len Guida</cp:lastModifiedBy>
  <cp:revision>27</cp:revision>
  <dcterms:created xsi:type="dcterms:W3CDTF">2022-06-22T23:22:53Z</dcterms:created>
  <dcterms:modified xsi:type="dcterms:W3CDTF">2022-07-03T15:51:45Z</dcterms:modified>
</cp:coreProperties>
</file>