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18"/>
  </p:notesMasterIdLst>
  <p:sldIdLst>
    <p:sldId id="256" r:id="rId5"/>
    <p:sldId id="265" r:id="rId6"/>
    <p:sldId id="259" r:id="rId7"/>
    <p:sldId id="263" r:id="rId8"/>
    <p:sldId id="264" r:id="rId9"/>
    <p:sldId id="266" r:id="rId10"/>
    <p:sldId id="267" r:id="rId11"/>
    <p:sldId id="271" r:id="rId12"/>
    <p:sldId id="268" r:id="rId13"/>
    <p:sldId id="270" r:id="rId14"/>
    <p:sldId id="269" r:id="rId15"/>
    <p:sldId id="272" r:id="rId16"/>
    <p:sldId id="273" r:id="rId17"/>
  </p:sldIdLst>
  <p:sldSz cx="12192000" cy="6858000"/>
  <p:notesSz cx="6858000" cy="91440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4C090-F6DB-4FD3-883E-23BB04571EDA}" v="7" dt="2022-06-26T18:52:26.230"/>
    <p1510:client id="{124A8AA5-604E-9BE8-2EB6-1B6F7813BE8F}" v="651" dt="2022-06-25T20:26:57.566"/>
    <p1510:client id="{618BE650-5B34-40DE-90F0-CF891418134D}" v="243" dt="2022-06-29T19:20:39.217"/>
    <p1510:client id="{A41094DD-4C34-21F3-02A0-893AFBA87A21}" v="1" dt="2022-06-30T00:11:45.884"/>
    <p1510:client id="{BBE9C3D8-E8AD-5769-5D1B-354374938B09}" v="70" dt="2022-06-25T11:29:35.586"/>
    <p1510:client id="{CB9C76F0-B82B-F736-E641-E135B7A52C6D}" v="193" dt="2022-06-25T21:29:32.409"/>
    <p1510:client id="{D381033E-504B-62FB-4036-7D53D1D968C1}" v="22" dt="2022-06-26T01:22:13.120"/>
    <p1510:client id="{DC3722B6-2483-43C1-8D98-88957D799CDD}" v="154" dt="2022-06-25T17:32:25.326"/>
    <p1510:client id="{FCFEC767-820A-E734-AA09-BC944F20BB8B}" v="29" dt="2022-06-29T18:03:16.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6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807B6E-6160-4EA9-9C85-75F19EE4AA83}" type="datetimeFigureOut">
              <a:t>7/3/2022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0A0E4-E17A-4C77-B905-6CD72DC0CB63}" type="slidenum">
              <a:t>‹#›</a:t>
            </a:fld>
            <a:endParaRPr lang="en-US"/>
          </a:p>
        </p:txBody>
      </p:sp>
    </p:spTree>
    <p:extLst>
      <p:ext uri="{BB962C8B-B14F-4D97-AF65-F5344CB8AC3E}">
        <p14:creationId xmlns:p14="http://schemas.microsoft.com/office/powerpoint/2010/main" val="2985732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loanreview.mit.edu/article/developing-successful-strategic-partnerships-with-universitie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alliancesocal.org/home" TargetMode="External"/><Relationship Id="rId7" Type="http://schemas.openxmlformats.org/officeDocument/2006/relationships/hyperlink" Target="https://labiospace.calstatela.edu/"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connect.org/" TargetMode="External"/><Relationship Id="rId5" Type="http://schemas.openxmlformats.org/officeDocument/2006/relationships/hyperlink" Target="https://www.biocom.org/events/" TargetMode="External"/><Relationship Id="rId4" Type="http://schemas.openxmlformats.org/officeDocument/2006/relationships/hyperlink" Target="https://www.biocom.org/"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fda.gov/medical-devices/regulatory-controls/general-controls-medical-device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bdc.ca/en/articles-tools/marketing-sales-export/marketing/pricing-5-common-strategies"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www.marketing91.com/value-based-pricing/" TargetMode="External"/><Relationship Id="rId4" Type="http://schemas.openxmlformats.org/officeDocument/2006/relationships/hyperlink" Target="https://corporatefinanceinstitute.com/resources/knowledge/strategy/penetration-pricing/"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randviewresearch.com/industry-analysis/sports-medicine-industry#:~:text=The%20global%20sports%20medicine%20market%20size%20was%20estimated%20at%20USD,USD%208.7%20billion%20in%202020"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businesswire.com/news/home/20220607005987/en/The-Worldwide-Sports-Medicine-Industry-is-Projected-to-Reach-12.8-Billion-by-2030---ResearchAndMarkets.com"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40A0E4-E17A-4C77-B905-6CD72DC0CB63}" type="slidenum">
              <a:rPr lang="en-US" smtClean="0"/>
              <a:t>1</a:t>
            </a:fld>
            <a:endParaRPr lang="en-US"/>
          </a:p>
        </p:txBody>
      </p:sp>
    </p:spTree>
    <p:extLst>
      <p:ext uri="{BB962C8B-B14F-4D97-AF65-F5344CB8AC3E}">
        <p14:creationId xmlns:p14="http://schemas.microsoft.com/office/powerpoint/2010/main" val="1867160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we have learned from our client as well as through our research, Free joint motion’s patent pending product is unlike any other ankle rehabilitation device on the market. While there are many options for this type of injury, none of them are as advanced as Free Joint Motion’s. The six axes allow the foot to have natural movement and allows the ankle to strengthen in a safer, more effective way.</a:t>
            </a:r>
          </a:p>
          <a:p>
            <a:br>
              <a:rPr lang="en-US"/>
            </a:br>
            <a:endParaRPr lang="en-US"/>
          </a:p>
          <a:p>
            <a:r>
              <a:rPr lang="en-US"/>
              <a:t>However, free joint motion is a startup company and has some factors to overcome when entering the US Market. They are facing a lack of funding which is necessary for research and development, they also need to gain insight on what types of certification and training will be necessary in the US. In addition to that, we must research the market in order to find the size of the market, mode of entry and other necessary market data.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8B40A0E4-E17A-4C77-B905-6CD72DC0CB63}" type="slidenum">
              <a:t>2</a:t>
            </a:fld>
            <a:endParaRPr lang="en-US"/>
          </a:p>
        </p:txBody>
      </p:sp>
    </p:spTree>
    <p:extLst>
      <p:ext uri="{BB962C8B-B14F-4D97-AF65-F5344CB8AC3E}">
        <p14:creationId xmlns:p14="http://schemas.microsoft.com/office/powerpoint/2010/main" val="1230767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Cultural and Administrative distances to consider:</a:t>
            </a:r>
          </a:p>
          <a:p>
            <a:endParaRPr lang="en-US"/>
          </a:p>
          <a:p>
            <a:r>
              <a:rPr lang="en-US" i="1"/>
              <a:t>Cultural:</a:t>
            </a:r>
            <a:endParaRPr lang="en-US" i="1">
              <a:cs typeface="Calibri" panose="020F0502020204030204"/>
            </a:endParaRPr>
          </a:p>
          <a:p>
            <a:r>
              <a:rPr lang="en-US"/>
              <a:t>•Communication in the U.S. is more direct verbally with less body language.</a:t>
            </a:r>
            <a:endParaRPr lang="en-US">
              <a:cs typeface="Calibri" panose="020F0502020204030204"/>
            </a:endParaRPr>
          </a:p>
          <a:p>
            <a:r>
              <a:rPr lang="en-US"/>
              <a:t>•Communication in Argentina is emotive, being more personal and personal space is not limited.</a:t>
            </a:r>
            <a:endParaRPr lang="en-US">
              <a:cs typeface="Calibri" panose="020F0502020204030204"/>
            </a:endParaRPr>
          </a:p>
          <a:p>
            <a:r>
              <a:rPr lang="en-US"/>
              <a:t>•Values in the U.S. are individualistic, independence and self-determination.</a:t>
            </a:r>
            <a:endParaRPr lang="en-US">
              <a:cs typeface="Calibri" panose="020F0502020204030204"/>
            </a:endParaRPr>
          </a:p>
          <a:p>
            <a:r>
              <a:rPr lang="en-US"/>
              <a:t>•Values in Argentina are friendly, hospitable, loyal and committed to family.</a:t>
            </a:r>
            <a:endParaRPr lang="en-US">
              <a:cs typeface="Calibri" panose="020F0502020204030204"/>
            </a:endParaRPr>
          </a:p>
          <a:p>
            <a:endParaRPr lang="en-US"/>
          </a:p>
          <a:p>
            <a:r>
              <a:rPr lang="en-US" i="1" u="none"/>
              <a:t>Administrative:</a:t>
            </a:r>
            <a:endParaRPr lang="en-US" i="1" u="none">
              <a:cs typeface="Calibri" panose="020F0502020204030204"/>
            </a:endParaRPr>
          </a:p>
          <a:p>
            <a:r>
              <a:rPr lang="en-US"/>
              <a:t>•Regulations in the market can be strict and expensive in the U.S. compared in Argentina.</a:t>
            </a:r>
            <a:endParaRPr lang="en-US">
              <a:cs typeface="Calibri" panose="020F0502020204030204"/>
            </a:endParaRPr>
          </a:p>
          <a:p>
            <a:r>
              <a:rPr lang="en-US"/>
              <a:t>•Opportunity and recognition are high in the U.S. compared in Argentina.</a:t>
            </a:r>
            <a:endParaRPr lang="en-US">
              <a:cs typeface="Calibri" panose="020F0502020204030204"/>
            </a:endParaRP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8B40A0E4-E17A-4C77-B905-6CD72DC0CB63}" type="slidenum">
              <a:t>3</a:t>
            </a:fld>
            <a:endParaRPr lang="en-US"/>
          </a:p>
        </p:txBody>
      </p:sp>
    </p:spTree>
    <p:extLst>
      <p:ext uri="{BB962C8B-B14F-4D97-AF65-F5344CB8AC3E}">
        <p14:creationId xmlns:p14="http://schemas.microsoft.com/office/powerpoint/2010/main" val="1296412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a:solidFill>
                  <a:srgbClr val="202124"/>
                </a:solidFill>
                <a:effectLst/>
                <a:latin typeface="Roboto"/>
                <a:ea typeface="Roboto"/>
              </a:rPr>
              <a:t>There are many Factors that are included in the industry analysis, some of which are </a:t>
            </a:r>
            <a:r>
              <a:rPr lang="en-US" sz="2800" b="0" i="0" kern="1200">
                <a:solidFill>
                  <a:srgbClr val="202124"/>
                </a:solidFill>
                <a:effectLst/>
                <a:latin typeface="Roboto"/>
                <a:ea typeface="Roboto"/>
              </a:rPr>
              <a:t>economics trends, social and political factors, changes in technology and the rate of which they change at. the overall attractiveness of the industry; and other the critical determinants that can guide Free Motion to have future success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0" i="0" kern="1200">
              <a:solidFill>
                <a:srgbClr val="202124"/>
              </a:solidFill>
              <a:effectLst/>
              <a:latin typeface="Roboto" panose="02000000000000000000" pitchFamily="2" charset="0"/>
              <a:ea typeface="+mn-ea"/>
              <a:cs typeface="+mn-cs"/>
            </a:endParaRPr>
          </a:p>
          <a:p>
            <a:pPr>
              <a:defRPr/>
            </a:pPr>
            <a:r>
              <a:rPr lang="en-US" sz="2800" b="1" i="0" kern="1200">
                <a:solidFill>
                  <a:srgbClr val="202124"/>
                </a:solidFill>
                <a:effectLst/>
                <a:latin typeface="Roboto"/>
                <a:ea typeface="Roboto"/>
              </a:rPr>
              <a:t>Similarities:</a:t>
            </a:r>
            <a:r>
              <a:rPr lang="en-US" sz="2800">
                <a:solidFill>
                  <a:srgbClr val="202124"/>
                </a:solidFill>
                <a:latin typeface="Roboto"/>
                <a:ea typeface="Roboto"/>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kern="1200">
                <a:solidFill>
                  <a:srgbClr val="202124"/>
                </a:solidFill>
                <a:effectLst/>
                <a:latin typeface="Roboto"/>
                <a:ea typeface="Roboto"/>
              </a:rPr>
              <a:t>1. Expertise among educated professionals is a big, helpful commonality. This will be easily transferable to help move Free motion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kern="1200">
                <a:solidFill>
                  <a:srgbClr val="202124"/>
                </a:solidFill>
                <a:effectLst/>
                <a:latin typeface="Roboto"/>
                <a:ea typeface="Roboto"/>
              </a:rPr>
              <a:t>2. The Government is very welcoming to startups and new business into the industry. In fact, they offer several potential grants and crowd funding to qualified organizations to further promote innovation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kern="1200">
                <a:solidFill>
                  <a:srgbClr val="202124"/>
                </a:solidFill>
                <a:effectLst/>
                <a:latin typeface="Roboto"/>
                <a:ea typeface="Roboto"/>
              </a:rPr>
              <a:t>3. Product differentiation is what makes your product or service stand out to your target audience. It's how you distinguish what you sell from what your competitors do, and it increases brand loyalty, sales, and growth. Focusing on your customers is a good start to successful product differentiation.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kern="1200">
                <a:solidFill>
                  <a:srgbClr val="202124"/>
                </a:solidFill>
                <a:effectLst/>
                <a:latin typeface="Roboto"/>
                <a:ea typeface="Roboto"/>
              </a:rPr>
              <a:t>4. Patents, trademarks, and copyrights are very important! These methods of protecting your intangibles while publicly providing notice to other businesses avoid copying or infringing on your intellectual property is highly encouraged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0" i="0" kern="1200">
              <a:solidFill>
                <a:srgbClr val="202124"/>
              </a:solidFill>
              <a:effectLst/>
              <a:latin typeface="Roboto" panose="02000000000000000000" pitchFamily="2" charset="0"/>
              <a:ea typeface="+mn-ea"/>
              <a:cs typeface="+mn-cs"/>
            </a:endParaRPr>
          </a:p>
          <a:p>
            <a:pPr>
              <a:defRPr/>
            </a:pPr>
            <a:r>
              <a:rPr lang="en-US" sz="2800" b="1" i="0" kern="1200">
                <a:solidFill>
                  <a:srgbClr val="202124"/>
                </a:solidFill>
                <a:effectLst/>
                <a:latin typeface="Roboto"/>
                <a:ea typeface="Roboto"/>
              </a:rPr>
              <a:t>Differences:</a:t>
            </a:r>
            <a:r>
              <a:rPr lang="en-US" sz="2800">
                <a:solidFill>
                  <a:srgbClr val="202124"/>
                </a:solidFill>
                <a:latin typeface="Roboto"/>
                <a:ea typeface="Roboto"/>
              </a:rPr>
              <a:t> </a:t>
            </a:r>
            <a:endParaRPr lang="en-US" sz="2800" b="0" i="0" kern="1200">
              <a:solidFill>
                <a:srgbClr val="202124"/>
              </a:solidFill>
              <a:effectLst/>
              <a:latin typeface="Roboto" panose="02000000000000000000" pitchFamily="2" charset="0"/>
              <a:ea typeface="Robot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kern="1200">
                <a:solidFill>
                  <a:srgbClr val="202124"/>
                </a:solidFill>
                <a:effectLst/>
                <a:latin typeface="Roboto"/>
                <a:ea typeface="Roboto"/>
              </a:rPr>
              <a:t>1. The entry into the US market has significant cost disadvantages. It’s going to require a large amount of funding in order to properly enter and staple your product to solidify your name &amp; Brand as a leader and number one choice for ankle rehabilitation</a:t>
            </a:r>
          </a:p>
          <a:p>
            <a:pPr>
              <a:defRPr/>
            </a:pPr>
            <a:r>
              <a:rPr lang="en-US" sz="2800" b="0" i="0" kern="1200">
                <a:solidFill>
                  <a:srgbClr val="202124"/>
                </a:solidFill>
                <a:effectLst/>
                <a:latin typeface="Roboto"/>
                <a:ea typeface="Roboto"/>
              </a:rPr>
              <a:t>2. A large social media Prescence from a marketing perspective and sport affiliations is a MUST HAVE in this industry. This will only help certify</a:t>
            </a:r>
            <a:r>
              <a:rPr lang="en-US" sz="2800">
                <a:solidFill>
                  <a:srgbClr val="202124"/>
                </a:solidFill>
                <a:latin typeface="Roboto"/>
                <a:ea typeface="Roboto"/>
              </a:rPr>
              <a:t>  </a:t>
            </a:r>
            <a:endParaRPr lang="en-US" sz="2800" b="0" i="0" kern="1200">
              <a:solidFill>
                <a:srgbClr val="202124"/>
              </a:solidFill>
              <a:effectLst/>
              <a:latin typeface="Roboto" panose="02000000000000000000" pitchFamily="2" charset="0"/>
              <a:ea typeface="Roboto"/>
            </a:endParaRPr>
          </a:p>
          <a:p>
            <a:pPr>
              <a:defRPr/>
            </a:pPr>
            <a:r>
              <a:rPr lang="en-US" sz="2800" b="0" i="0" kern="1200">
                <a:solidFill>
                  <a:srgbClr val="202124"/>
                </a:solidFill>
                <a:effectLst/>
                <a:latin typeface="Roboto"/>
                <a:ea typeface="Roboto"/>
              </a:rPr>
              <a:t>3&amp;4. Economies of scale lead to increased profits, generating a higher return on capital investment and providing businesses with the platform to </a:t>
            </a:r>
            <a:r>
              <a:rPr lang="en-US" sz="2800">
                <a:solidFill>
                  <a:srgbClr val="202124"/>
                </a:solidFill>
                <a:latin typeface="Roboto"/>
                <a:ea typeface="Roboto"/>
              </a:rPr>
              <a:t>grow on a Larger</a:t>
            </a:r>
            <a:r>
              <a:rPr lang="en-US" sz="2800" b="0" i="0" kern="1200">
                <a:solidFill>
                  <a:srgbClr val="202124"/>
                </a:solidFill>
                <a:effectLst/>
                <a:latin typeface="Roboto"/>
                <a:ea typeface="Roboto"/>
              </a:rPr>
              <a:t> business scale –</a:t>
            </a:r>
            <a:r>
              <a:rPr lang="en-US" sz="2800">
                <a:solidFill>
                  <a:srgbClr val="202124"/>
                </a:solidFill>
                <a:latin typeface="Roboto"/>
                <a:ea typeface="Roboto"/>
              </a:rPr>
              <a:t> </a:t>
            </a:r>
            <a:r>
              <a:rPr lang="en-US" sz="2800" b="0" i="0" kern="1200">
                <a:solidFill>
                  <a:srgbClr val="202124"/>
                </a:solidFill>
                <a:effectLst/>
                <a:latin typeface="Roboto"/>
                <a:ea typeface="Roboto"/>
              </a:rPr>
              <a:t> With this being said, through our research we found that North America is projected to have the largest growth in the industry over the next 7 years however, this brings us to your next challenge which is the </a:t>
            </a:r>
            <a:r>
              <a:rPr lang="en-US" sz="4000"/>
              <a:t>Industry Intensity &amp; rivalry among competitors. If we able to find this information, then organization like Johnson &amp; Johnson, Medtronic, Pfizer and Procter &amp; Gamble</a:t>
            </a:r>
            <a:endParaRPr lang="en-US" sz="4000">
              <a:cs typeface="Calibri"/>
            </a:endParaRPr>
          </a:p>
          <a:p>
            <a:pPr>
              <a:defRPr/>
            </a:pPr>
            <a:r>
              <a:rPr lang="en-US" sz="4000"/>
              <a:t>5. Marketing, Past Sales, &amp; Earnings Performance are Very Important, as a new startup with only a patent pending prototype without any physical sellable product units, may send the wrong message to potential customers and users in the industry. </a:t>
            </a:r>
            <a:endParaRPr lang="en-US" sz="4000">
              <a:cs typeface="Calibri"/>
            </a:endParaRPr>
          </a:p>
        </p:txBody>
      </p:sp>
      <p:sp>
        <p:nvSpPr>
          <p:cNvPr id="4" name="Slide Number Placeholder 3"/>
          <p:cNvSpPr>
            <a:spLocks noGrp="1"/>
          </p:cNvSpPr>
          <p:nvPr>
            <p:ph type="sldNum" sz="quarter" idx="5"/>
          </p:nvPr>
        </p:nvSpPr>
        <p:spPr/>
        <p:txBody>
          <a:bodyPr/>
          <a:lstStyle/>
          <a:p>
            <a:fld id="{8B40A0E4-E17A-4C77-B905-6CD72DC0CB63}" type="slidenum">
              <a:t>4</a:t>
            </a:fld>
            <a:endParaRPr lang="en-US"/>
          </a:p>
        </p:txBody>
      </p:sp>
    </p:spTree>
    <p:extLst>
      <p:ext uri="{BB962C8B-B14F-4D97-AF65-F5344CB8AC3E}">
        <p14:creationId xmlns:p14="http://schemas.microsoft.com/office/powerpoint/2010/main" val="1933115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 first recommendation is to identify the target market. We believe the ideal target market would be rehabilitation centers as well as major and college sports teams. There is a huge market in these two sectors especially because ankle injuries are so common. For this presentation, we have decided to focus in on major universities as our entry point as we believe this is the easiest market to first tackle. </a:t>
            </a:r>
          </a:p>
          <a:p>
            <a:r>
              <a:rPr lang="en-US">
                <a:cs typeface="Calibri"/>
              </a:rPr>
              <a:t>Within these markets there are many grants available that Free joint motion could qualify for that we have found through our research such as </a:t>
            </a:r>
            <a:r>
              <a:rPr lang="en-US"/>
              <a:t>The Foundation for Physical Therapy Research which provides grants to companies like Free joint motion.</a:t>
            </a:r>
            <a:endParaRPr lang="en-US">
              <a:cs typeface="Calibri"/>
            </a:endParaRPr>
          </a:p>
          <a:p>
            <a:r>
              <a:rPr lang="en-US"/>
              <a:t> Depending on the target market chosen, we believe the use of social media will be our biggest help. Partnering up with a popular college or even professional sports team or even minor athletes with a large following and having them show how the product works in action will spread the word about Free Joint Motion and reach people all over the United States. Lastly, we must identify barriers to entry, specifically the requirements of the food and drug administration in order to break into the US market.</a:t>
            </a:r>
            <a:endParaRPr lang="en-US">
              <a:cs typeface="Calibri"/>
            </a:endParaRPr>
          </a:p>
        </p:txBody>
      </p:sp>
      <p:sp>
        <p:nvSpPr>
          <p:cNvPr id="4" name="Slide Number Placeholder 3"/>
          <p:cNvSpPr>
            <a:spLocks noGrp="1"/>
          </p:cNvSpPr>
          <p:nvPr>
            <p:ph type="sldNum" sz="quarter" idx="5"/>
          </p:nvPr>
        </p:nvSpPr>
        <p:spPr/>
        <p:txBody>
          <a:bodyPr/>
          <a:lstStyle/>
          <a:p>
            <a:fld id="{8B40A0E4-E17A-4C77-B905-6CD72DC0CB63}" type="slidenum">
              <a:t>5</a:t>
            </a:fld>
            <a:endParaRPr lang="en-US"/>
          </a:p>
        </p:txBody>
      </p:sp>
    </p:spTree>
    <p:extLst>
      <p:ext uri="{BB962C8B-B14F-4D97-AF65-F5344CB8AC3E}">
        <p14:creationId xmlns:p14="http://schemas.microsoft.com/office/powerpoint/2010/main" val="2102139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Free  Joint Motion will gain greater access to cutting-edge research and scientific talent at a time when corporate R&amp;D budgets are increasingly under pressure. Universities will gain access to financial support and partners in research at a time when government funding is shrinking and t</a:t>
            </a:r>
          </a:p>
          <a:p>
            <a:endParaRPr lang="en-US">
              <a:cs typeface="Calibri"/>
            </a:endParaRPr>
          </a:p>
          <a:p>
            <a:r>
              <a:rPr lang="en-US"/>
              <a:t>Partnerships are an important part of a startup's market development strategy. The partnership helps to ensure that your company has a product that appeals to your target market. It also enables you to integrate your value chain to create a whole product solution.</a:t>
            </a:r>
            <a:endParaRPr lang="en-US">
              <a:cs typeface="Calibri"/>
            </a:endParaRPr>
          </a:p>
          <a:p>
            <a:endParaRPr lang="en-US">
              <a:cs typeface="Calibri"/>
            </a:endParaRPr>
          </a:p>
          <a:p>
            <a:r>
              <a:rPr lang="en-US"/>
              <a:t>For example, corporate giants like General Electric, Siemens, Rolls-Royce, and IBM, which have collaborated with universities for years, Still to this day - companies including Amazon, Facebook, Google, and Uber are using universities as a key part of their early-stage innovation and new ventures strategies </a:t>
            </a:r>
          </a:p>
          <a:p>
            <a:endParaRPr lang="en-US"/>
          </a:p>
          <a:p>
            <a:r>
              <a:rPr lang="en-US">
                <a:hlinkClick r:id="rId3"/>
              </a:rPr>
              <a:t>https://sloanreview.mit.edu/article/developing-successful-strategic-partnerships-with-universities/</a:t>
            </a:r>
            <a:endParaRPr lang="en-US"/>
          </a:p>
        </p:txBody>
      </p:sp>
      <p:sp>
        <p:nvSpPr>
          <p:cNvPr id="4" name="Slide Number Placeholder 3"/>
          <p:cNvSpPr>
            <a:spLocks noGrp="1"/>
          </p:cNvSpPr>
          <p:nvPr>
            <p:ph type="sldNum" sz="quarter" idx="5"/>
          </p:nvPr>
        </p:nvSpPr>
        <p:spPr/>
        <p:txBody>
          <a:bodyPr/>
          <a:lstStyle/>
          <a:p>
            <a:fld id="{8B40A0E4-E17A-4C77-B905-6CD72DC0CB63}" type="slidenum">
              <a:t>6</a:t>
            </a:fld>
            <a:endParaRPr lang="en-US"/>
          </a:p>
        </p:txBody>
      </p:sp>
    </p:spTree>
    <p:extLst>
      <p:ext uri="{BB962C8B-B14F-4D97-AF65-F5344CB8AC3E}">
        <p14:creationId xmlns:p14="http://schemas.microsoft.com/office/powerpoint/2010/main" val="1802354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Collaborations with universities are critical drivers for Free Motions innovation. These relationships have long been a mainstay of corporate research and development (R&amp;D) — from creating the knowledge foundations for the next generation of solutions, to serving as an extended “workbench” to solve short-term, incremental problems, to providing a flow of newly minted talent. As many corporations look to open innovation to augment their internal R&amp;D efforts, universities have become essential partners. </a:t>
            </a:r>
          </a:p>
          <a:p>
            <a:endParaRPr lang="en-US"/>
          </a:p>
          <a:p>
            <a:r>
              <a:rPr lang="en-US"/>
              <a:t>University of Southern California -  Has the USC Stevens Center for innovation </a:t>
            </a:r>
            <a:endParaRPr lang="en-US">
              <a:cs typeface="Calibri" panose="020F0502020204030204"/>
            </a:endParaRPr>
          </a:p>
          <a:p>
            <a:endParaRPr lang="en-US">
              <a:cs typeface="Calibri" panose="020F0502020204030204"/>
            </a:endParaRPr>
          </a:p>
          <a:p>
            <a:r>
              <a:rPr lang="en-US">
                <a:hlinkClick r:id="rId3"/>
              </a:rPr>
              <a:t>Alliance for SoCal Innovation</a:t>
            </a:r>
            <a:endParaRPr lang="en-US"/>
          </a:p>
          <a:p>
            <a:pPr marL="171450" indent="-171450">
              <a:buFont typeface="Arial"/>
              <a:buChar char="•"/>
            </a:pPr>
            <a:r>
              <a:rPr lang="en-US"/>
              <a:t>The Alliance works to bridge critical gaps. This programs focus on developing and connecting you with SoCal’s diverse innovation communities while attracting new capital by identifying, nurturing, and matching high potential startups to leading venture investors.</a:t>
            </a:r>
            <a:endParaRPr lang="en-US">
              <a:cs typeface="Calibri" panose="020F0502020204030204"/>
            </a:endParaRPr>
          </a:p>
          <a:p>
            <a:pPr marL="171450" indent="-171450">
              <a:buFont typeface="Arial"/>
              <a:buChar char="•"/>
            </a:pPr>
            <a:endParaRPr lang="en-US">
              <a:cs typeface="Calibri" panose="020F0502020204030204"/>
            </a:endParaRPr>
          </a:p>
          <a:p>
            <a:r>
              <a:rPr lang="en-US">
                <a:hlinkClick r:id="rId4"/>
              </a:rPr>
              <a:t>Biocom</a:t>
            </a:r>
            <a:endParaRPr lang="en-US"/>
          </a:p>
          <a:p>
            <a:pPr marL="171450" indent="-171450">
              <a:buFont typeface="Arial"/>
              <a:buChar char="•"/>
            </a:pPr>
            <a:r>
              <a:rPr lang="en-US"/>
              <a:t>Biocom works to drive public policy, build a network of industry leaders, create access to capital, introduce cutting-edge workforce development and STEM education programs, and create value-driven purchasing programs. They also host </a:t>
            </a:r>
            <a:r>
              <a:rPr lang="en-US">
                <a:hlinkClick r:id="rId5"/>
              </a:rPr>
              <a:t>events and networking opportunities</a:t>
            </a:r>
            <a:r>
              <a:rPr lang="en-US"/>
              <a:t>. That Free joint motion can absolutely take advantage of to get there name and product out the market</a:t>
            </a:r>
            <a:endParaRPr lang="en-US">
              <a:cs typeface="Calibri" panose="020F0502020204030204"/>
            </a:endParaRPr>
          </a:p>
          <a:p>
            <a:pPr marL="171450" indent="-171450">
              <a:buFont typeface="Arial"/>
              <a:buChar char="•"/>
            </a:pPr>
            <a:endParaRPr lang="en-US">
              <a:cs typeface="Calibri" panose="020F0502020204030204"/>
            </a:endParaRPr>
          </a:p>
          <a:p>
            <a:r>
              <a:rPr lang="en-US">
                <a:hlinkClick r:id="rId6"/>
              </a:rPr>
              <a:t>Connect with SDVG</a:t>
            </a:r>
            <a:endParaRPr lang="en-US">
              <a:cs typeface="Calibri" panose="020F0502020204030204"/>
            </a:endParaRPr>
          </a:p>
          <a:p>
            <a:pPr marL="171450" indent="-171450">
              <a:buFont typeface="Arial"/>
              <a:buChar char="•"/>
            </a:pPr>
            <a:r>
              <a:rPr lang="en-US"/>
              <a:t>Formed through a merger of Connect and the San Diego Venture Group, they serve entrepreneurs and startups from early stage throughout their growth journey. Connect with SDVG offers a suite of curated programs and events aimed to help companies grow, gain access to capital, and scale.</a:t>
            </a:r>
            <a:endParaRPr lang="en-US">
              <a:cs typeface="Calibri" panose="020F0502020204030204"/>
            </a:endParaRPr>
          </a:p>
          <a:p>
            <a:pPr marL="171450" indent="-171450">
              <a:buFont typeface="Arial"/>
              <a:buChar char="•"/>
            </a:pPr>
            <a:endParaRPr lang="en-US">
              <a:cs typeface="Calibri" panose="020F0502020204030204"/>
            </a:endParaRPr>
          </a:p>
          <a:p>
            <a:r>
              <a:rPr lang="en-US">
                <a:hlinkClick r:id="rId7"/>
              </a:rPr>
              <a:t>Cal State LA </a:t>
            </a:r>
            <a:r>
              <a:rPr lang="en-US" err="1">
                <a:hlinkClick r:id="rId7"/>
              </a:rPr>
              <a:t>BioSpace</a:t>
            </a:r>
            <a:endParaRPr lang="en-US"/>
          </a:p>
          <a:p>
            <a:pPr marL="171450" indent="-171450">
              <a:buFont typeface="Arial"/>
              <a:buChar char="•"/>
            </a:pPr>
            <a:r>
              <a:rPr lang="en-US"/>
              <a:t>Provides emerging entrepreneurs with facilities, resources, training, and knowledge to launch startup ventures and spur regional economic development.</a:t>
            </a:r>
            <a:endParaRPr lang="en-US">
              <a:cs typeface="Calibri" panose="020F0502020204030204"/>
            </a:endParaRPr>
          </a:p>
          <a:p>
            <a:endParaRPr lang="en-US">
              <a:cs typeface="Calibri" panose="020F0502020204030204"/>
            </a:endParaRPr>
          </a:p>
          <a:p>
            <a:endParaRPr lang="en-US">
              <a:cs typeface="Calibri" panose="020F0502020204030204"/>
            </a:endParaRPr>
          </a:p>
          <a:p>
            <a:endParaRPr lang="en-US">
              <a:cs typeface="Calibri" panose="020F0502020204030204"/>
            </a:endParaRP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8B40A0E4-E17A-4C77-B905-6CD72DC0CB63}" type="slidenum">
              <a:t>7</a:t>
            </a:fld>
            <a:endParaRPr lang="en-US"/>
          </a:p>
        </p:txBody>
      </p:sp>
    </p:spTree>
    <p:extLst>
      <p:ext uri="{BB962C8B-B14F-4D97-AF65-F5344CB8AC3E}">
        <p14:creationId xmlns:p14="http://schemas.microsoft.com/office/powerpoint/2010/main" val="1460729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As previously mentioned, there are options available to start-up physical medicine products such as Free joint motion. The foundation for Physical therapy research is one example of a foundation that is giving away up to $500,000 for research grants in 2022. Another is the foundation for physical medicine research who also offers a variety of research grants. </a:t>
            </a:r>
          </a:p>
          <a:p>
            <a:endParaRPr lang="en-US">
              <a:cs typeface="Calibri"/>
            </a:endParaRPr>
          </a:p>
          <a:p>
            <a:r>
              <a:rPr lang="en-US">
                <a:cs typeface="Calibri"/>
              </a:rPr>
              <a:t>Attending conferences such as the American conference of rehabilitation medicine. These types of in-person events not only allow us access to the latest research, network with colleagues from around the world, but also have access to potential funding opportunities.</a:t>
            </a:r>
          </a:p>
        </p:txBody>
      </p:sp>
      <p:sp>
        <p:nvSpPr>
          <p:cNvPr id="4" name="Slide Number Placeholder 3"/>
          <p:cNvSpPr>
            <a:spLocks noGrp="1"/>
          </p:cNvSpPr>
          <p:nvPr>
            <p:ph type="sldNum" sz="quarter" idx="5"/>
          </p:nvPr>
        </p:nvSpPr>
        <p:spPr/>
        <p:txBody>
          <a:bodyPr/>
          <a:lstStyle/>
          <a:p>
            <a:fld id="{8B40A0E4-E17A-4C77-B905-6CD72DC0CB63}" type="slidenum">
              <a:t>8</a:t>
            </a:fld>
            <a:endParaRPr lang="en-US"/>
          </a:p>
        </p:txBody>
      </p:sp>
    </p:spTree>
    <p:extLst>
      <p:ext uri="{BB962C8B-B14F-4D97-AF65-F5344CB8AC3E}">
        <p14:creationId xmlns:p14="http://schemas.microsoft.com/office/powerpoint/2010/main" val="3710379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FDA approval on this type of product is an obstacle that could restrict Free joint motion from entering into this industry. It is crucial that we complete our due diligence and know what to expect. After some research, we have identified Free Joint Motion as a Class I product. According toe FDA, Class I products present minimal potential for harm to the user and are often simpler in design and less invasive than class II or III devices. Class I devices are typically the fastest and easiest to bring to the market and are sometimes exempt from some requirements such as Premarket approval. Regardless of that, Class I devices still must adhere to the FDA General controls. The FDA has general controls for medical devices that ensures their safety and effectiveness. Free joint motion must ensure that the product is ready to be marketed properly and is safe and effective.</a:t>
            </a:r>
          </a:p>
          <a:p>
            <a:endParaRPr lang="en-US">
              <a:cs typeface="Calibri"/>
            </a:endParaRPr>
          </a:p>
          <a:p>
            <a:endParaRPr lang="en-US">
              <a:cs typeface="Calibri"/>
            </a:endParaRPr>
          </a:p>
          <a:p>
            <a:r>
              <a:rPr lang="en-US">
                <a:hlinkClick r:id="rId3"/>
              </a:rPr>
              <a:t>https://www.fda.gov/medical-devices/regulatory-controls/general-controls-medical-devices</a:t>
            </a:r>
            <a:endParaRPr lang="en-US">
              <a:cs typeface="Calibri"/>
            </a:endParaRPr>
          </a:p>
        </p:txBody>
      </p:sp>
      <p:sp>
        <p:nvSpPr>
          <p:cNvPr id="4" name="Slide Number Placeholder 3"/>
          <p:cNvSpPr>
            <a:spLocks noGrp="1"/>
          </p:cNvSpPr>
          <p:nvPr>
            <p:ph type="sldNum" sz="quarter" idx="5"/>
          </p:nvPr>
        </p:nvSpPr>
        <p:spPr/>
        <p:txBody>
          <a:bodyPr/>
          <a:lstStyle/>
          <a:p>
            <a:fld id="{8B40A0E4-E17A-4C77-B905-6CD72DC0CB63}" type="slidenum">
              <a:t>9</a:t>
            </a:fld>
            <a:endParaRPr lang="en-US"/>
          </a:p>
        </p:txBody>
      </p:sp>
    </p:spTree>
    <p:extLst>
      <p:ext uri="{BB962C8B-B14F-4D97-AF65-F5344CB8AC3E}">
        <p14:creationId xmlns:p14="http://schemas.microsoft.com/office/powerpoint/2010/main" val="1986752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different pricing strategies to figuring out how to price your model, however, there are some examples that have the best benefits and fit with Motion's goals.</a:t>
            </a:r>
          </a:p>
          <a:p>
            <a:endParaRPr lang="en-US">
              <a:cs typeface="Calibri"/>
            </a:endParaRPr>
          </a:p>
          <a:p>
            <a:r>
              <a:rPr lang="en-US">
                <a:cs typeface="Calibri"/>
              </a:rPr>
              <a:t>Penetration pricing is ideal </a:t>
            </a:r>
            <a:r>
              <a:rPr lang="en-US"/>
              <a:t>in a market with numerous similar products and customers sensitive to price, a significantly lower price can make your product stand out. This strategy is generally used by new entrants into a market. You can motivate customers to switch brands and build demand for your product. As a result, that increase in sales volume may bring economies of scale and reduce your unit cost.</a:t>
            </a:r>
            <a:endParaRPr lang="en-US">
              <a:cs typeface="Calibri"/>
            </a:endParaRPr>
          </a:p>
          <a:p>
            <a:endParaRPr lang="en-US">
              <a:cs typeface="Calibri"/>
            </a:endParaRPr>
          </a:p>
          <a:p>
            <a:r>
              <a:rPr lang="en-US"/>
              <a:t>Value-based pricing is the perceived value to the customer is primarily based on how well it’s suited to the needs and wants of each customer. The first and top advantage of using value-based pricing is the increased value of the brand. Offering products that stand out in the market and will help better convey the uniqueness that the product. It allows for increased profits and customer loyalty.</a:t>
            </a:r>
            <a:endParaRPr lang="en-US">
              <a:cs typeface="Calibri" panose="020F0502020204030204"/>
            </a:endParaRPr>
          </a:p>
          <a:p>
            <a:endParaRPr lang="en-US">
              <a:cs typeface="Calibri" panose="020F0502020204030204"/>
            </a:endParaRPr>
          </a:p>
          <a:p>
            <a:r>
              <a:rPr lang="en-US">
                <a:cs typeface="Calibri" panose="020F0502020204030204"/>
              </a:rPr>
              <a:t>And lastly, a good suggestion would be exchanging a competitor's older product and offering your new product at a discount can entice and keep customers interested.</a:t>
            </a:r>
          </a:p>
          <a:p>
            <a:endParaRPr lang="en-US"/>
          </a:p>
          <a:p>
            <a:endParaRPr lang="en-US"/>
          </a:p>
          <a:p>
            <a:r>
              <a:rPr lang="en-US">
                <a:hlinkClick r:id="rId3"/>
              </a:rPr>
              <a:t>https://www.bdc.ca/en/articles-tools/marketing-sales-export/marketing/pricing-5-common-strategies</a:t>
            </a:r>
            <a:endParaRPr lang="en-US">
              <a:cs typeface="Calibri"/>
              <a:hlinkClick r:id="" action="ppaction://noaction"/>
            </a:endParaRPr>
          </a:p>
          <a:p>
            <a:endParaRPr lang="en-US"/>
          </a:p>
          <a:p>
            <a:r>
              <a:rPr lang="en-US">
                <a:hlinkClick r:id="rId4"/>
              </a:rPr>
              <a:t>https://corporatefinanceinstitute.com/resources/knowledge/strategy/penetration-pricing/</a:t>
            </a:r>
            <a:endParaRPr lang="en-US">
              <a:cs typeface="Calibri"/>
              <a:hlinkClick r:id="rId4"/>
            </a:endParaRPr>
          </a:p>
          <a:p>
            <a:endParaRPr lang="en-US">
              <a:cs typeface="Calibri" panose="020F0502020204030204"/>
            </a:endParaRPr>
          </a:p>
          <a:p>
            <a:r>
              <a:rPr lang="en-US">
                <a:hlinkClick r:id="rId5"/>
              </a:rPr>
              <a:t>https://www.marketing91.com/value-based-pricing/</a:t>
            </a:r>
            <a:endParaRPr lang="en-US">
              <a:cs typeface="Calibri"/>
              <a:hlinkClick r:id="rId5"/>
            </a:endParaRP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8B40A0E4-E17A-4C77-B905-6CD72DC0CB63}" type="slidenum">
              <a:t>10</a:t>
            </a:fld>
            <a:endParaRPr lang="en-US"/>
          </a:p>
        </p:txBody>
      </p:sp>
    </p:spTree>
    <p:extLst>
      <p:ext uri="{BB962C8B-B14F-4D97-AF65-F5344CB8AC3E}">
        <p14:creationId xmlns:p14="http://schemas.microsoft.com/office/powerpoint/2010/main" val="2751533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factors that drive the market growth include rise in incidences of injuries associated with sports, increase in adoption of sports activities by people, and growth in demand for minimally invasive treatment methods. Thus, rise in incidences of sports injuries worldwide propels demand for the market growth. Also, government initiatives for the sports industry are continuously liable for expansion of the market.</a:t>
            </a:r>
          </a:p>
          <a:p>
            <a:endParaRPr lang="en-US">
              <a:cs typeface="Calibri"/>
            </a:endParaRPr>
          </a:p>
          <a:p>
            <a:r>
              <a:rPr lang="en-US"/>
              <a:t>Sports Medicine -  Body Sport &amp; Recovery segment </a:t>
            </a:r>
            <a:endParaRPr lang="en-US">
              <a:cs typeface="Calibri"/>
            </a:endParaRPr>
          </a:p>
          <a:p>
            <a:endParaRPr lang="en-US">
              <a:cs typeface="Calibri"/>
            </a:endParaRPr>
          </a:p>
          <a:p>
            <a:r>
              <a:rPr lang="en-US">
                <a:cs typeface="Calibri"/>
              </a:rPr>
              <a:t>Rehabilitation – Mobility segment</a:t>
            </a:r>
          </a:p>
          <a:p>
            <a:endParaRPr lang="en-US"/>
          </a:p>
          <a:p>
            <a:r>
              <a:rPr lang="en-US">
                <a:hlinkClick r:id="rId3"/>
              </a:rPr>
              <a:t>https://www.grandviewresearch.com/industry-analysis/sports-medicine-industry#:~:text=The%20global%20sports%20medicine%20market%20size%20was%20estimated%20at%20USD,USD%208.7%20billion%20in%202020</a:t>
            </a:r>
            <a:endParaRPr lang="en-US">
              <a:cs typeface="Calibri" panose="020F0502020204030204"/>
            </a:endParaRPr>
          </a:p>
          <a:p>
            <a:endParaRPr lang="en-US">
              <a:cs typeface="Calibri" panose="020F0502020204030204"/>
            </a:endParaRPr>
          </a:p>
          <a:p>
            <a:r>
              <a:rPr lang="en-US">
                <a:hlinkClick r:id="rId4"/>
              </a:rPr>
              <a:t>https://www.businesswire.com/news/home/20220607005987/en/The-Worldwide-Sports-Medicine-Industry-is-Projected-to-Reach-12.8-Billion-by-2030---ResearchAndMarkets.com</a:t>
            </a:r>
            <a:endParaRPr lang="en-US">
              <a:cs typeface="Calibri"/>
              <a:hlinkClick r:id="rId4"/>
            </a:endParaRPr>
          </a:p>
          <a:p>
            <a:endParaRPr lang="en-US">
              <a:cs typeface="Calibri"/>
            </a:endParaRPr>
          </a:p>
        </p:txBody>
      </p:sp>
      <p:sp>
        <p:nvSpPr>
          <p:cNvPr id="4" name="Slide Number Placeholder 3"/>
          <p:cNvSpPr>
            <a:spLocks noGrp="1"/>
          </p:cNvSpPr>
          <p:nvPr>
            <p:ph type="sldNum" sz="quarter" idx="5"/>
          </p:nvPr>
        </p:nvSpPr>
        <p:spPr/>
        <p:txBody>
          <a:bodyPr/>
          <a:lstStyle/>
          <a:p>
            <a:fld id="{8B40A0E4-E17A-4C77-B905-6CD72DC0CB63}" type="slidenum">
              <a:t>11</a:t>
            </a:fld>
            <a:endParaRPr lang="en-US"/>
          </a:p>
        </p:txBody>
      </p:sp>
    </p:spTree>
    <p:extLst>
      <p:ext uri="{BB962C8B-B14F-4D97-AF65-F5344CB8AC3E}">
        <p14:creationId xmlns:p14="http://schemas.microsoft.com/office/powerpoint/2010/main" val="4033287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8B40A0E4-E17A-4C77-B905-6CD72DC0CB63}" type="slidenum">
              <a:t>12</a:t>
            </a:fld>
            <a:endParaRPr lang="en-US"/>
          </a:p>
        </p:txBody>
      </p:sp>
    </p:spTree>
    <p:extLst>
      <p:ext uri="{BB962C8B-B14F-4D97-AF65-F5344CB8AC3E}">
        <p14:creationId xmlns:p14="http://schemas.microsoft.com/office/powerpoint/2010/main" val="4160435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8B40A0E4-E17A-4C77-B905-6CD72DC0CB63}" type="slidenum">
              <a:t>13</a:t>
            </a:fld>
            <a:endParaRPr lang="en-US"/>
          </a:p>
        </p:txBody>
      </p:sp>
    </p:spTree>
    <p:extLst>
      <p:ext uri="{BB962C8B-B14F-4D97-AF65-F5344CB8AC3E}">
        <p14:creationId xmlns:p14="http://schemas.microsoft.com/office/powerpoint/2010/main" val="4287436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796001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113144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072430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7/3/2022</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981741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7/3/2022</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721784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7/3/2022</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95975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968517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7/3/2022</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530301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7/3/2022</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57245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7/3/2022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748736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7/3/2022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05794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7/3/2022</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57059565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jpeg"/><Relationship Id="rId5" Type="http://schemas.openxmlformats.org/officeDocument/2006/relationships/image" Target="../media/image1.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7.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hyperlink" Target="https://stevens.usc.edu/usc-startups/external-resources/" TargetMode="External"/><Relationship Id="rId5" Type="http://schemas.openxmlformats.org/officeDocument/2006/relationships/image" Target="../media/image1.emf"/><Relationship Id="rId4" Type="http://schemas.openxmlformats.org/officeDocument/2006/relationships/oleObject" Target="../embeddings/oleObject7.bin"/><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hyperlink" Target="https://conference.acrm.org/2022-conference/register/" TargetMode="Externa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hyperlink" Target="https://foundation4pt.org/grants/" TargetMode="External"/><Relationship Id="rId5" Type="http://schemas.openxmlformats.org/officeDocument/2006/relationships/image" Target="../media/image1.e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8" Type="http://schemas.openxmlformats.org/officeDocument/2006/relationships/hyperlink" Target="https://corporatefinanceinstitute.com/resources/knowledge/strategy/penetration-pricing/" TargetMode="External"/><Relationship Id="rId3" Type="http://schemas.openxmlformats.org/officeDocument/2006/relationships/notesSlide" Target="../notesSlides/notesSlide13.xml"/><Relationship Id="rId7" Type="http://schemas.openxmlformats.org/officeDocument/2006/relationships/hyperlink" Target="https://www.bdc.ca/en/articles-tools/marketing-sales-export/marketing/pricing-5-common-strategies" TargetMode="Externa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hyperlink" Target="https://www.fda.gov/medical-devices/regulatory-controls/general-controls-medical-devices" TargetMode="External"/><Relationship Id="rId11" Type="http://schemas.openxmlformats.org/officeDocument/2006/relationships/hyperlink" Target="https://www.businesswire.com/news/home/20220607005987/en/The-Worldwide-Sports-Medicine-Industry-is-Projected-to-Reach-12.8-Billion-by-2030---ResearchAndMarkets.com" TargetMode="External"/><Relationship Id="rId5" Type="http://schemas.openxmlformats.org/officeDocument/2006/relationships/image" Target="../media/image1.emf"/><Relationship Id="rId10" Type="http://schemas.openxmlformats.org/officeDocument/2006/relationships/hyperlink" Target="https://www.grandviewresearch.com/industry-analysis/sports-medicine-industry#:~:text=The%20global%20sports%20medicine%20market%20size%20was%20estimated%20at%20USD,USD%208.7%20billion%20in%202020" TargetMode="External"/><Relationship Id="rId4" Type="http://schemas.openxmlformats.org/officeDocument/2006/relationships/oleObject" Target="../embeddings/oleObject11.bin"/><Relationship Id="rId9" Type="http://schemas.openxmlformats.org/officeDocument/2006/relationships/hyperlink" Target="https://www.marketing91.com/value-based-pric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226FC2-3B47-21B6-990F-B369D5332E5E}"/>
              </a:ext>
            </a:extLst>
          </p:cNvPr>
          <p:cNvGraphicFramePr>
            <a:graphicFrameLocks noChangeAspect="1"/>
          </p:cNvGraphicFramePr>
          <p:nvPr>
            <p:custDataLst>
              <p:tags r:id="rId1"/>
            </p:custDataLst>
            <p:extLst>
              <p:ext uri="{D42A27DB-BD31-4B8C-83A1-F6EECF244321}">
                <p14:modId xmlns:p14="http://schemas.microsoft.com/office/powerpoint/2010/main" val="3816800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4" name="Object 3" hidden="1">
                        <a:extLst>
                          <a:ext uri="{FF2B5EF4-FFF2-40B4-BE49-F238E27FC236}">
                            <a16:creationId xmlns:a16="http://schemas.microsoft.com/office/drawing/2014/main" id="{E1226FC2-3B47-21B6-990F-B369D5332E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68D962-346E-22A9-B53F-C69AE2A3C193}"/>
              </a:ext>
            </a:extLst>
          </p:cNvPr>
          <p:cNvSpPr>
            <a:spLocks noGrp="1"/>
          </p:cNvSpPr>
          <p:nvPr>
            <p:ph type="ctrTitle"/>
          </p:nvPr>
        </p:nvSpPr>
        <p:spPr>
          <a:xfrm>
            <a:off x="410547" y="765111"/>
            <a:ext cx="8696131" cy="3788602"/>
          </a:xfrm>
        </p:spPr>
        <p:txBody>
          <a:bodyPr vert="horz">
            <a:normAutofit/>
          </a:bodyPr>
          <a:lstStyle/>
          <a:p>
            <a:r>
              <a:rPr lang="en-US"/>
              <a:t>Client Project Final Presentation</a:t>
            </a:r>
            <a:br>
              <a:rPr lang="en-US"/>
            </a:br>
            <a:br>
              <a:rPr lang="en-US"/>
            </a:br>
            <a:r>
              <a:rPr lang="en-US"/>
              <a:t>Team 5-Motion</a:t>
            </a:r>
          </a:p>
        </p:txBody>
      </p:sp>
      <p:sp>
        <p:nvSpPr>
          <p:cNvPr id="3" name="Subtitle 2">
            <a:extLst>
              <a:ext uri="{FF2B5EF4-FFF2-40B4-BE49-F238E27FC236}">
                <a16:creationId xmlns:a16="http://schemas.microsoft.com/office/drawing/2014/main" id="{1EE04ADB-50A2-5D62-A825-A1B9427F300F}"/>
              </a:ext>
            </a:extLst>
          </p:cNvPr>
          <p:cNvSpPr>
            <a:spLocks noGrp="1"/>
          </p:cNvSpPr>
          <p:nvPr>
            <p:ph type="subTitle" idx="1"/>
          </p:nvPr>
        </p:nvSpPr>
        <p:spPr/>
        <p:txBody>
          <a:bodyPr>
            <a:noAutofit/>
          </a:bodyPr>
          <a:lstStyle/>
          <a:p>
            <a:r>
              <a:rPr lang="en-US" sz="2400"/>
              <a:t>Stephanie Sykora</a:t>
            </a:r>
          </a:p>
          <a:p>
            <a:r>
              <a:rPr lang="en-US" sz="2400"/>
              <a:t>Stefania Polverelli</a:t>
            </a:r>
          </a:p>
          <a:p>
            <a:r>
              <a:rPr lang="en-US" sz="2400"/>
              <a:t>Corey West</a:t>
            </a:r>
          </a:p>
        </p:txBody>
      </p:sp>
    </p:spTree>
    <p:extLst>
      <p:ext uri="{BB962C8B-B14F-4D97-AF65-F5344CB8AC3E}">
        <p14:creationId xmlns:p14="http://schemas.microsoft.com/office/powerpoint/2010/main" val="2530588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6000"/>
              <a:t>Scenario:</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pPr marL="342900" indent="-342900"/>
            <a:endParaRPr lang="en-US"/>
          </a:p>
          <a:p>
            <a:pPr marL="845820" lvl="1" indent="-342900"/>
            <a:endParaRPr lang="en-US"/>
          </a:p>
          <a:p>
            <a:pPr marL="342900" indent="-342900"/>
            <a:endParaRPr lang="en-US"/>
          </a:p>
          <a:p>
            <a:pPr marL="845820" lvl="1" indent="-342900"/>
            <a:endParaRPr lang="en-US"/>
          </a:p>
          <a:p>
            <a:pPr marL="845820" lvl="1" indent="-342900"/>
            <a:endParaRPr lang="en-US"/>
          </a:p>
        </p:txBody>
      </p:sp>
      <p:sp>
        <p:nvSpPr>
          <p:cNvPr id="6" name="Content Placeholder 2">
            <a:extLst>
              <a:ext uri="{FF2B5EF4-FFF2-40B4-BE49-F238E27FC236}">
                <a16:creationId xmlns:a16="http://schemas.microsoft.com/office/drawing/2014/main" id="{8D77F277-9AC5-423D-AF74-9E5B04C8D6BE}"/>
              </a:ext>
            </a:extLst>
          </p:cNvPr>
          <p:cNvSpPr txBox="1">
            <a:spLocks/>
          </p:cNvSpPr>
          <p:nvPr/>
        </p:nvSpPr>
        <p:spPr>
          <a:xfrm>
            <a:off x="3672176" y="970923"/>
            <a:ext cx="8131724" cy="5412031"/>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342900" indent="-342900"/>
            <a:endParaRPr lang="en-US"/>
          </a:p>
          <a:p>
            <a:pPr marL="845820" lvl="1" indent="-342900"/>
            <a:endParaRPr lang="en-US"/>
          </a:p>
          <a:p>
            <a:pPr marL="342900" indent="-342900"/>
            <a:endParaRPr lang="en-US"/>
          </a:p>
          <a:p>
            <a:pPr marL="845820" lvl="1" indent="-342900"/>
            <a:endParaRPr lang="en-US"/>
          </a:p>
          <a:p>
            <a:pPr marL="845820" lvl="1" indent="-342900"/>
            <a:endParaRPr lang="en-US"/>
          </a:p>
        </p:txBody>
      </p:sp>
      <p:sp>
        <p:nvSpPr>
          <p:cNvPr id="7" name="TextBox 6">
            <a:extLst>
              <a:ext uri="{FF2B5EF4-FFF2-40B4-BE49-F238E27FC236}">
                <a16:creationId xmlns:a16="http://schemas.microsoft.com/office/drawing/2014/main" id="{30EF6603-6553-4734-AF8C-8FD133CC19E6}"/>
              </a:ext>
            </a:extLst>
          </p:cNvPr>
          <p:cNvSpPr txBox="1"/>
          <p:nvPr/>
        </p:nvSpPr>
        <p:spPr>
          <a:xfrm>
            <a:off x="4501871" y="1132473"/>
            <a:ext cx="6167534" cy="830997"/>
          </a:xfrm>
          <a:prstGeom prst="rect">
            <a:avLst/>
          </a:prstGeom>
          <a:noFill/>
        </p:spPr>
        <p:txBody>
          <a:bodyPr wrap="square">
            <a:spAutoFit/>
          </a:bodyPr>
          <a:lstStyle/>
          <a:p>
            <a:pPr algn="ctr"/>
            <a:r>
              <a:rPr lang="en-US" sz="2400">
                <a:solidFill>
                  <a:schemeClr val="accent1"/>
                </a:solidFill>
              </a:rPr>
              <a:t>Free Joint Motion has a new, patented product unlike any other ankle therapy available.</a:t>
            </a:r>
          </a:p>
        </p:txBody>
      </p:sp>
      <p:sp>
        <p:nvSpPr>
          <p:cNvPr id="9" name="TextBox 8">
            <a:extLst>
              <a:ext uri="{FF2B5EF4-FFF2-40B4-BE49-F238E27FC236}">
                <a16:creationId xmlns:a16="http://schemas.microsoft.com/office/drawing/2014/main" id="{5ACDFD00-ABBB-46FB-B96D-4314D8258B9F}"/>
              </a:ext>
            </a:extLst>
          </p:cNvPr>
          <p:cNvSpPr txBox="1"/>
          <p:nvPr/>
        </p:nvSpPr>
        <p:spPr>
          <a:xfrm>
            <a:off x="3821463" y="2542740"/>
            <a:ext cx="7319287" cy="3207032"/>
          </a:xfrm>
          <a:prstGeom prst="rect">
            <a:avLst/>
          </a:prstGeom>
          <a:noFill/>
        </p:spPr>
        <p:txBody>
          <a:bodyPr wrap="square" lIns="91440" tIns="45720" rIns="91440" bIns="45720" anchor="t">
            <a:spAutoFit/>
          </a:bodyPr>
          <a:lstStyle/>
          <a:p>
            <a:r>
              <a:rPr lang="en-US" sz="2400" b="1">
                <a:solidFill>
                  <a:schemeClr val="tx1">
                    <a:lumMod val="65000"/>
                    <a:lumOff val="35000"/>
                  </a:schemeClr>
                </a:solidFill>
              </a:rPr>
              <a:t>However, this startup is currently facing the following issues:</a:t>
            </a:r>
          </a:p>
          <a:p>
            <a:endParaRPr lang="en-US" sz="2800">
              <a:solidFill>
                <a:schemeClr val="tx2">
                  <a:lumMod val="75000"/>
                </a:schemeClr>
              </a:solidFill>
            </a:endParaRPr>
          </a:p>
          <a:p>
            <a:pPr marL="342900" indent="-34290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Lack of funding</a:t>
            </a:r>
          </a:p>
          <a:p>
            <a:pPr marL="342900" indent="-34290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Lack of knowledge as well as disinformation</a:t>
            </a:r>
          </a:p>
          <a:p>
            <a:pPr marL="342900" indent="-34290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Certifications and training needed</a:t>
            </a:r>
          </a:p>
          <a:p>
            <a:pPr marL="342900" indent="-34290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Market research</a:t>
            </a:r>
          </a:p>
        </p:txBody>
      </p:sp>
    </p:spTree>
    <p:extLst>
      <p:ext uri="{BB962C8B-B14F-4D97-AF65-F5344CB8AC3E}">
        <p14:creationId xmlns:p14="http://schemas.microsoft.com/office/powerpoint/2010/main" val="2012168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extLst>
              <p:ext uri="{D42A27DB-BD31-4B8C-83A1-F6EECF244321}">
                <p14:modId xmlns:p14="http://schemas.microsoft.com/office/powerpoint/2010/main" val="116393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p:txBody>
          <a:bodyPr vert="horz">
            <a:normAutofit/>
          </a:bodyPr>
          <a:lstStyle/>
          <a:p>
            <a:r>
              <a:rPr lang="en-US" sz="6000"/>
              <a:t>CAGE Analysis</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pPr marL="342900" indent="-342900"/>
            <a:r>
              <a:rPr lang="en-US" sz="2400" b="1"/>
              <a:t>Cultural</a:t>
            </a:r>
          </a:p>
          <a:p>
            <a:pPr marL="845820" lvl="1" indent="-342900"/>
            <a:r>
              <a:rPr lang="en-US" sz="2400"/>
              <a:t>Communication differences</a:t>
            </a:r>
          </a:p>
          <a:p>
            <a:pPr marL="845820" lvl="1" indent="-342900"/>
            <a:r>
              <a:rPr lang="en-US" sz="2400"/>
              <a:t>Values differences</a:t>
            </a:r>
          </a:p>
          <a:p>
            <a:pPr marL="845820" lvl="1" indent="-342900"/>
            <a:endParaRPr lang="en-US" sz="2400">
              <a:solidFill>
                <a:srgbClr val="595959"/>
              </a:solidFill>
            </a:endParaRPr>
          </a:p>
          <a:p>
            <a:pPr marL="342900" indent="-342900"/>
            <a:r>
              <a:rPr lang="en-US" sz="2400" b="1"/>
              <a:t>Administrative</a:t>
            </a:r>
          </a:p>
          <a:p>
            <a:pPr marL="845820" lvl="1" indent="-342900"/>
            <a:r>
              <a:rPr lang="en-US" sz="2400"/>
              <a:t>Regulation differences</a:t>
            </a:r>
          </a:p>
          <a:p>
            <a:pPr marL="845820" lvl="1" indent="-342900"/>
            <a:r>
              <a:rPr lang="en-US" sz="2400"/>
              <a:t>Opportunity and recognition differences</a:t>
            </a:r>
          </a:p>
          <a:p>
            <a:pPr marL="845820" lvl="1" indent="-342900"/>
            <a:endParaRPr lang="en-US"/>
          </a:p>
          <a:p>
            <a:pPr marL="845820" lvl="1" indent="-342900"/>
            <a:endParaRPr lang="en-US"/>
          </a:p>
        </p:txBody>
      </p:sp>
    </p:spTree>
    <p:extLst>
      <p:ext uri="{BB962C8B-B14F-4D97-AF65-F5344CB8AC3E}">
        <p14:creationId xmlns:p14="http://schemas.microsoft.com/office/powerpoint/2010/main" val="1770357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p:txBody>
          <a:bodyPr vert="horz">
            <a:normAutofit/>
          </a:bodyPr>
          <a:lstStyle/>
          <a:p>
            <a:r>
              <a:rPr lang="en-US" sz="6000"/>
              <a:t>Industry Analysis</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pPr marL="342900" indent="-342900"/>
            <a:endParaRPr lang="en-US"/>
          </a:p>
          <a:p>
            <a:pPr marL="845820" lvl="1" indent="-342900"/>
            <a:endParaRPr lang="en-US"/>
          </a:p>
          <a:p>
            <a:pPr marL="342900" indent="-342900"/>
            <a:endParaRPr lang="en-US"/>
          </a:p>
          <a:p>
            <a:pPr marL="845820" lvl="1" indent="-342900"/>
            <a:endParaRPr lang="en-US"/>
          </a:p>
          <a:p>
            <a:pPr marL="845820" lvl="1" indent="-342900"/>
            <a:endParaRPr lang="en-US"/>
          </a:p>
        </p:txBody>
      </p:sp>
      <p:sp>
        <p:nvSpPr>
          <p:cNvPr id="6" name="Content Placeholder 2">
            <a:extLst>
              <a:ext uri="{FF2B5EF4-FFF2-40B4-BE49-F238E27FC236}">
                <a16:creationId xmlns:a16="http://schemas.microsoft.com/office/drawing/2014/main" id="{0E930E14-04A3-4FB5-93A9-CC2E4DA3B8E9}"/>
              </a:ext>
            </a:extLst>
          </p:cNvPr>
          <p:cNvSpPr txBox="1">
            <a:spLocks/>
          </p:cNvSpPr>
          <p:nvPr/>
        </p:nvSpPr>
        <p:spPr>
          <a:xfrm>
            <a:off x="3519776" y="818522"/>
            <a:ext cx="8672224" cy="5412031"/>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342900" indent="-342900"/>
            <a:r>
              <a:rPr lang="en-US" b="1"/>
              <a:t>Beneficial Similarities</a:t>
            </a:r>
          </a:p>
          <a:p>
            <a:pPr marL="845820" lvl="1" indent="-342900"/>
            <a:r>
              <a:rPr lang="en-US"/>
              <a:t>Labor (Among Educated professionals) </a:t>
            </a:r>
          </a:p>
          <a:p>
            <a:pPr marL="845820" lvl="1" indent="-342900"/>
            <a:r>
              <a:rPr lang="en-US"/>
              <a:t>The Attitude of Government towards Industry (Welcomed)</a:t>
            </a:r>
          </a:p>
          <a:p>
            <a:pPr marL="845820" lvl="1" indent="-342900"/>
            <a:r>
              <a:rPr lang="en-US"/>
              <a:t>Existence of Product Differentiations (Extremely high in the USA)</a:t>
            </a:r>
          </a:p>
          <a:p>
            <a:pPr marL="845820" lvl="1" indent="-342900"/>
            <a:r>
              <a:rPr lang="en-US"/>
              <a:t>Patents, trademarks, and copyrights are very important (encourages &amp; protects important innovations)</a:t>
            </a:r>
          </a:p>
          <a:p>
            <a:pPr marL="845820" lvl="1" indent="-342900"/>
            <a:endParaRPr lang="en-US"/>
          </a:p>
          <a:p>
            <a:pPr marL="342900" indent="-342900"/>
            <a:r>
              <a:rPr lang="en-US" b="1"/>
              <a:t>Problematic Differences</a:t>
            </a:r>
          </a:p>
          <a:p>
            <a:pPr marL="845820" lvl="1" indent="-342900"/>
            <a:r>
              <a:rPr lang="en-US"/>
              <a:t>Absolute Cost Disadvantages (Extremely high in the USA)</a:t>
            </a:r>
          </a:p>
          <a:p>
            <a:pPr marL="845820" lvl="1" indent="-342900"/>
            <a:r>
              <a:rPr lang="en-US"/>
              <a:t>Social Media &amp; Sport affiliations  (Major Driving factor in USA)</a:t>
            </a:r>
          </a:p>
          <a:p>
            <a:pPr marL="845820" lvl="1" indent="-342900"/>
            <a:r>
              <a:rPr lang="en-US"/>
              <a:t>Advantages rising from Economies of Scale</a:t>
            </a:r>
          </a:p>
          <a:p>
            <a:pPr marL="845820" lvl="1" indent="-342900"/>
            <a:r>
              <a:rPr lang="en-US"/>
              <a:t>Industry Intensity &amp; industry rivalry</a:t>
            </a:r>
          </a:p>
          <a:p>
            <a:pPr marL="845820" lvl="1" indent="-342900"/>
            <a:r>
              <a:rPr lang="en-US"/>
              <a:t>Marketing, Past Sales, &amp; Earnings Performance ( Very Important)</a:t>
            </a:r>
          </a:p>
          <a:p>
            <a:pPr marL="845820" lvl="1" indent="-342900"/>
            <a:endParaRPr lang="en-US"/>
          </a:p>
          <a:p>
            <a:pPr marL="845820" lvl="1" indent="-342900"/>
            <a:endParaRPr lang="en-US"/>
          </a:p>
          <a:p>
            <a:pPr marL="845820" lvl="1" indent="-342900"/>
            <a:endParaRPr lang="en-US"/>
          </a:p>
        </p:txBody>
      </p:sp>
    </p:spTree>
    <p:extLst>
      <p:ext uri="{BB962C8B-B14F-4D97-AF65-F5344CB8AC3E}">
        <p14:creationId xmlns:p14="http://schemas.microsoft.com/office/powerpoint/2010/main" val="336445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Recommendations</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pPr marL="342900" indent="-342900"/>
            <a:endParaRPr lang="en-US"/>
          </a:p>
          <a:p>
            <a:pPr marL="845820" lvl="1" indent="-342900"/>
            <a:endParaRPr lang="en-US"/>
          </a:p>
          <a:p>
            <a:pPr marL="342900" indent="-342900"/>
            <a:endParaRPr lang="en-US"/>
          </a:p>
          <a:p>
            <a:pPr marL="845820" lvl="1" indent="-342900"/>
            <a:endParaRPr lang="en-US"/>
          </a:p>
          <a:p>
            <a:pPr marL="845820" lvl="1" indent="-342900"/>
            <a:endParaRPr lang="en-US"/>
          </a:p>
        </p:txBody>
      </p:sp>
      <p:sp>
        <p:nvSpPr>
          <p:cNvPr id="6" name="TextBox 5">
            <a:extLst>
              <a:ext uri="{FF2B5EF4-FFF2-40B4-BE49-F238E27FC236}">
                <a16:creationId xmlns:a16="http://schemas.microsoft.com/office/drawing/2014/main" id="{47687998-11CA-4EEF-829D-8CAB159471A9}"/>
              </a:ext>
            </a:extLst>
          </p:cNvPr>
          <p:cNvSpPr txBox="1"/>
          <p:nvPr/>
        </p:nvSpPr>
        <p:spPr>
          <a:xfrm>
            <a:off x="4055705" y="1326684"/>
            <a:ext cx="6102220" cy="1314206"/>
          </a:xfrm>
          <a:prstGeom prst="rect">
            <a:avLst/>
          </a:prstGeom>
          <a:noFill/>
        </p:spPr>
        <p:txBody>
          <a:bodyPr wrap="square" lIns="91440" tIns="45720" rIns="91440" bIns="45720" anchor="t">
            <a:spAutoFit/>
          </a:bodyPr>
          <a:lstStyle/>
          <a:p>
            <a:pPr marL="342900" indent="-342900" defTabSz="914400">
              <a:lnSpc>
                <a:spcPct val="90000"/>
              </a:lnSpc>
              <a:spcBef>
                <a:spcPts val="1200"/>
              </a:spcBef>
              <a:buClr>
                <a:schemeClr val="accent1"/>
              </a:buClr>
              <a:buFont typeface="Wingdings 2" pitchFamily="18" charset="2"/>
              <a:buChar char=""/>
            </a:pPr>
            <a:r>
              <a:rPr lang="en-US" sz="2200" b="1">
                <a:solidFill>
                  <a:schemeClr val="tx1">
                    <a:lumMod val="65000"/>
                    <a:lumOff val="35000"/>
                  </a:schemeClr>
                </a:solidFill>
              </a:rPr>
              <a:t>Identify Target Market</a:t>
            </a:r>
          </a:p>
          <a:p>
            <a:pPr marL="800100" lvl="2" indent="-342900" defTabSz="914400">
              <a:lnSpc>
                <a:spcPct val="90000"/>
              </a:lnSpc>
              <a:spcBef>
                <a:spcPts val="1200"/>
              </a:spcBef>
              <a:buClr>
                <a:schemeClr val="accent1"/>
              </a:buClr>
              <a:buFont typeface="Wingdings 2" pitchFamily="18" charset="2"/>
              <a:buChar char=""/>
            </a:pPr>
            <a:r>
              <a:rPr lang="en-US" sz="2200">
                <a:solidFill>
                  <a:schemeClr val="tx1">
                    <a:lumMod val="65000"/>
                    <a:lumOff val="35000"/>
                  </a:schemeClr>
                </a:solidFill>
              </a:rPr>
              <a:t>Rehabilitation centers</a:t>
            </a:r>
          </a:p>
          <a:p>
            <a:pPr marL="800100" lvl="2" indent="-342900" defTabSz="914400">
              <a:lnSpc>
                <a:spcPct val="90000"/>
              </a:lnSpc>
              <a:spcBef>
                <a:spcPts val="1200"/>
              </a:spcBef>
              <a:buClr>
                <a:schemeClr val="accent1"/>
              </a:buClr>
              <a:buFont typeface="Wingdings 2" pitchFamily="18" charset="2"/>
              <a:buChar char=""/>
            </a:pPr>
            <a:r>
              <a:rPr lang="en-US" sz="2200">
                <a:solidFill>
                  <a:schemeClr val="tx1">
                    <a:lumMod val="65000"/>
                    <a:lumOff val="35000"/>
                  </a:schemeClr>
                </a:solidFill>
              </a:rPr>
              <a:t>Major &amp; University sports teams</a:t>
            </a:r>
            <a:r>
              <a:rPr lang="en-US" sz="2200" b="1"/>
              <a:t> </a:t>
            </a:r>
          </a:p>
        </p:txBody>
      </p:sp>
      <p:sp>
        <p:nvSpPr>
          <p:cNvPr id="8" name="TextBox 7">
            <a:extLst>
              <a:ext uri="{FF2B5EF4-FFF2-40B4-BE49-F238E27FC236}">
                <a16:creationId xmlns:a16="http://schemas.microsoft.com/office/drawing/2014/main" id="{72E77193-3D01-4416-84AD-83349A936611}"/>
              </a:ext>
            </a:extLst>
          </p:cNvPr>
          <p:cNvSpPr txBox="1"/>
          <p:nvPr/>
        </p:nvSpPr>
        <p:spPr>
          <a:xfrm>
            <a:off x="4055705" y="3094822"/>
            <a:ext cx="6693158" cy="855619"/>
          </a:xfrm>
          <a:prstGeom prst="rect">
            <a:avLst/>
          </a:prstGeom>
          <a:noFill/>
        </p:spPr>
        <p:txBody>
          <a:bodyPr wrap="square" lIns="91440" tIns="45720" rIns="91440" bIns="45720" anchor="t">
            <a:spAutoFit/>
          </a:bodyPr>
          <a:lstStyle/>
          <a:p>
            <a:pPr marL="342900" indent="-342900" defTabSz="914400">
              <a:lnSpc>
                <a:spcPct val="90000"/>
              </a:lnSpc>
              <a:spcBef>
                <a:spcPts val="1200"/>
              </a:spcBef>
              <a:buClr>
                <a:schemeClr val="accent1"/>
              </a:buClr>
              <a:buFont typeface="Wingdings 2" pitchFamily="18" charset="2"/>
              <a:buChar char=""/>
            </a:pPr>
            <a:r>
              <a:rPr lang="en-US" sz="2200" b="1">
                <a:solidFill>
                  <a:schemeClr val="tx1">
                    <a:lumMod val="65000"/>
                    <a:lumOff val="35000"/>
                  </a:schemeClr>
                </a:solidFill>
              </a:rPr>
              <a:t>Funding through grants</a:t>
            </a:r>
          </a:p>
          <a:p>
            <a:pPr marL="800100" lvl="2" indent="-342900" defTabSz="914400">
              <a:lnSpc>
                <a:spcPct val="90000"/>
              </a:lnSpc>
              <a:spcBef>
                <a:spcPts val="1200"/>
              </a:spcBef>
              <a:buClr>
                <a:schemeClr val="accent1"/>
              </a:buClr>
              <a:buFont typeface="Wingdings 2" pitchFamily="18" charset="2"/>
              <a:buChar char=""/>
            </a:pPr>
            <a:r>
              <a:rPr lang="en-US" sz="2200">
                <a:solidFill>
                  <a:schemeClr val="tx1">
                    <a:lumMod val="65000"/>
                    <a:lumOff val="35000"/>
                  </a:schemeClr>
                </a:solidFill>
              </a:rPr>
              <a:t>Ex. Foundation physical therapy research</a:t>
            </a:r>
          </a:p>
        </p:txBody>
      </p:sp>
      <p:sp>
        <p:nvSpPr>
          <p:cNvPr id="7" name="TextBox 6">
            <a:extLst>
              <a:ext uri="{FF2B5EF4-FFF2-40B4-BE49-F238E27FC236}">
                <a16:creationId xmlns:a16="http://schemas.microsoft.com/office/drawing/2014/main" id="{3A62D488-451A-BCC0-0629-1102DD377655}"/>
              </a:ext>
            </a:extLst>
          </p:cNvPr>
          <p:cNvSpPr txBox="1"/>
          <p:nvPr/>
        </p:nvSpPr>
        <p:spPr>
          <a:xfrm>
            <a:off x="4086806" y="4222270"/>
            <a:ext cx="6693158" cy="397032"/>
          </a:xfrm>
          <a:prstGeom prst="rect">
            <a:avLst/>
          </a:prstGeom>
          <a:noFill/>
        </p:spPr>
        <p:txBody>
          <a:bodyPr wrap="square" lIns="91440" tIns="45720" rIns="91440" bIns="45720" anchor="t">
            <a:spAutoFit/>
          </a:bodyPr>
          <a:lstStyle/>
          <a:p>
            <a:pPr marL="342900" indent="-342900" defTabSz="914400">
              <a:lnSpc>
                <a:spcPct val="90000"/>
              </a:lnSpc>
              <a:spcBef>
                <a:spcPts val="1200"/>
              </a:spcBef>
              <a:buClr>
                <a:schemeClr val="accent1"/>
              </a:buClr>
              <a:buFont typeface="Wingdings 2" pitchFamily="18" charset="2"/>
              <a:buChar char=""/>
            </a:pPr>
            <a:r>
              <a:rPr lang="en-US" sz="2200" b="1">
                <a:solidFill>
                  <a:schemeClr val="tx1">
                    <a:lumMod val="65000"/>
                    <a:lumOff val="35000"/>
                  </a:schemeClr>
                </a:solidFill>
              </a:rPr>
              <a:t>Use of Social Media</a:t>
            </a:r>
          </a:p>
        </p:txBody>
      </p:sp>
      <p:sp>
        <p:nvSpPr>
          <p:cNvPr id="9" name="TextBox 8">
            <a:extLst>
              <a:ext uri="{FF2B5EF4-FFF2-40B4-BE49-F238E27FC236}">
                <a16:creationId xmlns:a16="http://schemas.microsoft.com/office/drawing/2014/main" id="{DD852C38-A8DC-4E89-AEAE-8BAB6761B7F2}"/>
              </a:ext>
            </a:extLst>
          </p:cNvPr>
          <p:cNvSpPr txBox="1"/>
          <p:nvPr/>
        </p:nvSpPr>
        <p:spPr>
          <a:xfrm>
            <a:off x="4086806" y="5038699"/>
            <a:ext cx="6693158" cy="855619"/>
          </a:xfrm>
          <a:prstGeom prst="rect">
            <a:avLst/>
          </a:prstGeom>
          <a:noFill/>
        </p:spPr>
        <p:txBody>
          <a:bodyPr wrap="square" lIns="91440" tIns="45720" rIns="91440" bIns="45720" anchor="t">
            <a:spAutoFit/>
          </a:bodyPr>
          <a:lstStyle/>
          <a:p>
            <a:pPr marL="342900" indent="-342900" defTabSz="914400">
              <a:lnSpc>
                <a:spcPct val="90000"/>
              </a:lnSpc>
              <a:spcBef>
                <a:spcPts val="1200"/>
              </a:spcBef>
              <a:buClr>
                <a:schemeClr val="accent1"/>
              </a:buClr>
              <a:buFont typeface="Wingdings 2" pitchFamily="18" charset="2"/>
              <a:buChar char=""/>
            </a:pPr>
            <a:r>
              <a:rPr lang="en-US" sz="2200" b="1">
                <a:solidFill>
                  <a:schemeClr val="tx1">
                    <a:lumMod val="65000"/>
                    <a:lumOff val="35000"/>
                  </a:schemeClr>
                </a:solidFill>
              </a:rPr>
              <a:t>Identify Barriers to entry</a:t>
            </a:r>
          </a:p>
          <a:p>
            <a:pPr marL="800100" lvl="3" indent="-342900" defTabSz="914400">
              <a:lnSpc>
                <a:spcPct val="90000"/>
              </a:lnSpc>
              <a:spcBef>
                <a:spcPts val="1200"/>
              </a:spcBef>
              <a:buClr>
                <a:schemeClr val="accent1"/>
              </a:buClr>
              <a:buFont typeface="Wingdings 2" pitchFamily="18" charset="2"/>
              <a:buChar char=""/>
            </a:pPr>
            <a:r>
              <a:rPr lang="en-US" sz="2200">
                <a:solidFill>
                  <a:schemeClr val="tx1">
                    <a:lumMod val="65000"/>
                    <a:lumOff val="35000"/>
                  </a:schemeClr>
                </a:solidFill>
              </a:rPr>
              <a:t>Ex. Foundation physical therapy research</a:t>
            </a:r>
          </a:p>
        </p:txBody>
      </p:sp>
    </p:spTree>
    <p:extLst>
      <p:ext uri="{BB962C8B-B14F-4D97-AF65-F5344CB8AC3E}">
        <p14:creationId xmlns:p14="http://schemas.microsoft.com/office/powerpoint/2010/main" val="3436071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Why Universities?</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r>
              <a:rPr lang="en-US" sz="1800">
                <a:ea typeface="+mn-lt"/>
                <a:cs typeface="+mn-lt"/>
              </a:rPr>
              <a:t>Research and Knowledge Sharing &amp; facilities </a:t>
            </a:r>
          </a:p>
          <a:p>
            <a:r>
              <a:rPr lang="en-US" sz="1800">
                <a:ea typeface="+mn-lt"/>
                <a:cs typeface="+mn-lt"/>
              </a:rPr>
              <a:t>Labs and Workshops</a:t>
            </a:r>
          </a:p>
          <a:p>
            <a:r>
              <a:rPr lang="en-US" sz="1800">
                <a:ea typeface="+mn-lt"/>
                <a:cs typeface="+mn-lt"/>
              </a:rPr>
              <a:t>Lower overall costs and overhead</a:t>
            </a:r>
          </a:p>
          <a:p>
            <a:r>
              <a:rPr lang="en-US" sz="1800">
                <a:ea typeface="+mn-lt"/>
                <a:cs typeface="+mn-lt"/>
              </a:rPr>
              <a:t>Funding programs</a:t>
            </a:r>
          </a:p>
          <a:p>
            <a:r>
              <a:rPr lang="en-US" sz="1800">
                <a:ea typeface="+mn-lt"/>
                <a:cs typeface="+mn-lt"/>
              </a:rPr>
              <a:t>key to innovation and growth in technology</a:t>
            </a:r>
          </a:p>
          <a:p>
            <a:r>
              <a:rPr lang="en-US" sz="1800">
                <a:ea typeface="+mn-lt"/>
                <a:cs typeface="+mn-lt"/>
              </a:rPr>
              <a:t>Treasure trove of services</a:t>
            </a:r>
          </a:p>
          <a:p>
            <a:endParaRPr lang="en-US" sz="1800">
              <a:ea typeface="+mn-lt"/>
              <a:cs typeface="+mn-lt"/>
            </a:endParaRPr>
          </a:p>
        </p:txBody>
      </p:sp>
      <p:pic>
        <p:nvPicPr>
          <p:cNvPr id="4" name="Picture 5" descr="Teacher pointing at laptop screen to young students">
            <a:extLst>
              <a:ext uri="{FF2B5EF4-FFF2-40B4-BE49-F238E27FC236}">
                <a16:creationId xmlns:a16="http://schemas.microsoft.com/office/drawing/2014/main" id="{304E8A62-0CA8-91D8-6069-30F7CDB84257}"/>
              </a:ext>
            </a:extLst>
          </p:cNvPr>
          <p:cNvPicPr>
            <a:picLocks noChangeAspect="1"/>
          </p:cNvPicPr>
          <p:nvPr/>
        </p:nvPicPr>
        <p:blipFill>
          <a:blip r:embed="rId6"/>
          <a:stretch>
            <a:fillRect/>
          </a:stretch>
        </p:blipFill>
        <p:spPr>
          <a:xfrm>
            <a:off x="7395779" y="4336616"/>
            <a:ext cx="3163613" cy="2134905"/>
          </a:xfrm>
          <a:prstGeom prst="rect">
            <a:avLst/>
          </a:prstGeom>
        </p:spPr>
      </p:pic>
      <p:pic>
        <p:nvPicPr>
          <p:cNvPr id="6" name="Picture 6" descr="Two colleagues planning on board with sticky notes">
            <a:extLst>
              <a:ext uri="{FF2B5EF4-FFF2-40B4-BE49-F238E27FC236}">
                <a16:creationId xmlns:a16="http://schemas.microsoft.com/office/drawing/2014/main" id="{75435EC9-3E72-844E-D9ED-5C8554C7855F}"/>
              </a:ext>
            </a:extLst>
          </p:cNvPr>
          <p:cNvPicPr>
            <a:picLocks noChangeAspect="1"/>
          </p:cNvPicPr>
          <p:nvPr/>
        </p:nvPicPr>
        <p:blipFill>
          <a:blip r:embed="rId7"/>
          <a:stretch>
            <a:fillRect/>
          </a:stretch>
        </p:blipFill>
        <p:spPr>
          <a:xfrm>
            <a:off x="8341711" y="701120"/>
            <a:ext cx="3242440" cy="2162519"/>
          </a:xfrm>
          <a:prstGeom prst="rect">
            <a:avLst/>
          </a:prstGeom>
        </p:spPr>
      </p:pic>
    </p:spTree>
    <p:extLst>
      <p:ext uri="{BB962C8B-B14F-4D97-AF65-F5344CB8AC3E}">
        <p14:creationId xmlns:p14="http://schemas.microsoft.com/office/powerpoint/2010/main" val="2591643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Potential Partners</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831908"/>
          </a:xfrm>
        </p:spPr>
        <p:txBody>
          <a:bodyPr>
            <a:normAutofit/>
          </a:bodyPr>
          <a:lstStyle/>
          <a:p>
            <a:pPr marL="0" indent="0">
              <a:buNone/>
            </a:pPr>
            <a:r>
              <a:rPr lang="en-US" b="1">
                <a:ea typeface="+mn-lt"/>
                <a:cs typeface="+mn-lt"/>
              </a:rPr>
              <a:t>Top 10 best Colleges for Sports Medicine &amp; Rehabilitation</a:t>
            </a:r>
            <a:endParaRPr lang="en-US">
              <a:ea typeface="+mn-lt"/>
              <a:cs typeface="+mn-lt"/>
            </a:endParaRPr>
          </a:p>
          <a:p>
            <a:pPr>
              <a:buFont typeface="Wingdings 2"/>
              <a:buChar char=""/>
            </a:pPr>
            <a:r>
              <a:rPr lang="en-US">
                <a:ea typeface="+mn-lt"/>
                <a:cs typeface="+mn-lt"/>
              </a:rPr>
              <a:t>University of Southern California.</a:t>
            </a:r>
            <a:endParaRPr lang="en-US"/>
          </a:p>
          <a:p>
            <a:pPr>
              <a:buFont typeface="Wingdings 2"/>
              <a:buChar char=""/>
            </a:pPr>
            <a:r>
              <a:rPr lang="en-US">
                <a:ea typeface="+mn-lt"/>
                <a:cs typeface="+mn-lt"/>
              </a:rPr>
              <a:t>University of North Carolina.</a:t>
            </a:r>
            <a:endParaRPr lang="en-US"/>
          </a:p>
          <a:p>
            <a:pPr>
              <a:buFont typeface="Wingdings 2"/>
              <a:buChar char=""/>
            </a:pPr>
            <a:r>
              <a:rPr lang="en-US">
                <a:ea typeface="+mn-lt"/>
                <a:cs typeface="+mn-lt"/>
              </a:rPr>
              <a:t>Stanford University.</a:t>
            </a:r>
            <a:endParaRPr lang="en-US"/>
          </a:p>
          <a:p>
            <a:pPr>
              <a:buFont typeface="Wingdings 2"/>
              <a:buChar char=""/>
            </a:pPr>
            <a:r>
              <a:rPr lang="en-US">
                <a:ea typeface="+mn-lt"/>
                <a:cs typeface="+mn-lt"/>
              </a:rPr>
              <a:t>University of Pittsburgh.</a:t>
            </a:r>
            <a:endParaRPr lang="en-US"/>
          </a:p>
          <a:p>
            <a:pPr>
              <a:buFont typeface="Wingdings 2"/>
              <a:buChar char=""/>
            </a:pPr>
            <a:r>
              <a:rPr lang="en-US">
                <a:ea typeface="+mn-lt"/>
                <a:cs typeface="+mn-lt"/>
              </a:rPr>
              <a:t>Ohio State University.</a:t>
            </a:r>
            <a:endParaRPr lang="en-US"/>
          </a:p>
          <a:p>
            <a:pPr>
              <a:buFont typeface="Wingdings 2"/>
              <a:buChar char=""/>
            </a:pPr>
            <a:r>
              <a:rPr lang="en-US">
                <a:ea typeface="+mn-lt"/>
                <a:cs typeface="+mn-lt"/>
              </a:rPr>
              <a:t>University of South Florida.</a:t>
            </a:r>
            <a:endParaRPr lang="en-US"/>
          </a:p>
          <a:p>
            <a:pPr>
              <a:buFont typeface="Wingdings 2"/>
              <a:buChar char=""/>
            </a:pPr>
            <a:r>
              <a:rPr lang="en-US">
                <a:ea typeface="+mn-lt"/>
                <a:cs typeface="+mn-lt"/>
              </a:rPr>
              <a:t>University of California, Los Angeles.</a:t>
            </a:r>
            <a:endParaRPr lang="en-US"/>
          </a:p>
          <a:p>
            <a:pPr>
              <a:buFont typeface="Wingdings 2"/>
              <a:buChar char=""/>
            </a:pPr>
            <a:r>
              <a:rPr lang="en-US">
                <a:ea typeface="+mn-lt"/>
                <a:cs typeface="+mn-lt"/>
              </a:rPr>
              <a:t>Boston University.</a:t>
            </a:r>
            <a:endParaRPr lang="en-US"/>
          </a:p>
          <a:p>
            <a:pPr marL="0" indent="0">
              <a:buNone/>
            </a:pPr>
            <a:endParaRPr lang="en-US"/>
          </a:p>
          <a:p>
            <a:pPr marL="0" indent="0">
              <a:buNone/>
            </a:pPr>
            <a:endParaRPr lang="en-US">
              <a:ea typeface="+mn-lt"/>
              <a:cs typeface="+mn-lt"/>
            </a:endParaRPr>
          </a:p>
          <a:p>
            <a:pPr marL="0" indent="0">
              <a:buNone/>
            </a:pPr>
            <a:r>
              <a:rPr lang="en-US">
                <a:ea typeface="+mn-lt"/>
                <a:cs typeface="+mn-lt"/>
                <a:hlinkClick r:id="rId6"/>
              </a:rPr>
              <a:t>https://stevens.usc.edu/usc-startups/external-resources/</a:t>
            </a:r>
            <a:endParaRPr lang="en-US"/>
          </a:p>
          <a:p>
            <a:pPr marL="0" indent="0">
              <a:buNone/>
            </a:pPr>
            <a:endParaRPr lang="en-US">
              <a:ea typeface="+mn-lt"/>
              <a:cs typeface="+mn-lt"/>
            </a:endParaRPr>
          </a:p>
        </p:txBody>
      </p:sp>
      <p:pic>
        <p:nvPicPr>
          <p:cNvPr id="4" name="Picture 5" descr="Graphical user interface, website&#10;&#10;Description automatically generated">
            <a:extLst>
              <a:ext uri="{FF2B5EF4-FFF2-40B4-BE49-F238E27FC236}">
                <a16:creationId xmlns:a16="http://schemas.microsoft.com/office/drawing/2014/main" id="{33A59A35-D53E-63FC-5DB2-7E545CEB7147}"/>
              </a:ext>
            </a:extLst>
          </p:cNvPr>
          <p:cNvPicPr>
            <a:picLocks noChangeAspect="1"/>
          </p:cNvPicPr>
          <p:nvPr/>
        </p:nvPicPr>
        <p:blipFill>
          <a:blip r:embed="rId7"/>
          <a:stretch>
            <a:fillRect/>
          </a:stretch>
        </p:blipFill>
        <p:spPr>
          <a:xfrm>
            <a:off x="8665028" y="1597147"/>
            <a:ext cx="2024743" cy="3010562"/>
          </a:xfrm>
          <a:prstGeom prst="rect">
            <a:avLst/>
          </a:prstGeom>
        </p:spPr>
      </p:pic>
      <p:pic>
        <p:nvPicPr>
          <p:cNvPr id="7" name="Picture 7" descr="Text&#10;&#10;Description automatically generated">
            <a:extLst>
              <a:ext uri="{FF2B5EF4-FFF2-40B4-BE49-F238E27FC236}">
                <a16:creationId xmlns:a16="http://schemas.microsoft.com/office/drawing/2014/main" id="{1C2D6054-F7F6-C43A-25CF-F304FB55E9C2}"/>
              </a:ext>
            </a:extLst>
          </p:cNvPr>
          <p:cNvPicPr>
            <a:picLocks noChangeAspect="1"/>
          </p:cNvPicPr>
          <p:nvPr/>
        </p:nvPicPr>
        <p:blipFill>
          <a:blip r:embed="rId8"/>
          <a:stretch>
            <a:fillRect/>
          </a:stretch>
        </p:blipFill>
        <p:spPr>
          <a:xfrm>
            <a:off x="8168950" y="4723331"/>
            <a:ext cx="1282960" cy="605518"/>
          </a:xfrm>
          <a:prstGeom prst="rect">
            <a:avLst/>
          </a:prstGeom>
        </p:spPr>
      </p:pic>
      <p:pic>
        <p:nvPicPr>
          <p:cNvPr id="8" name="Picture 8" descr="Text&#10;&#10;Description automatically generated">
            <a:extLst>
              <a:ext uri="{FF2B5EF4-FFF2-40B4-BE49-F238E27FC236}">
                <a16:creationId xmlns:a16="http://schemas.microsoft.com/office/drawing/2014/main" id="{972C2003-035A-CDB8-67B3-52482E9AC29E}"/>
              </a:ext>
            </a:extLst>
          </p:cNvPr>
          <p:cNvPicPr>
            <a:picLocks noChangeAspect="1"/>
          </p:cNvPicPr>
          <p:nvPr/>
        </p:nvPicPr>
        <p:blipFill>
          <a:blip r:embed="rId9"/>
          <a:stretch>
            <a:fillRect/>
          </a:stretch>
        </p:blipFill>
        <p:spPr>
          <a:xfrm>
            <a:off x="9628705" y="4725469"/>
            <a:ext cx="1604283" cy="610572"/>
          </a:xfrm>
          <a:prstGeom prst="rect">
            <a:avLst/>
          </a:prstGeom>
        </p:spPr>
      </p:pic>
    </p:spTree>
    <p:extLst>
      <p:ext uri="{BB962C8B-B14F-4D97-AF65-F5344CB8AC3E}">
        <p14:creationId xmlns:p14="http://schemas.microsoft.com/office/powerpoint/2010/main" val="3259639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Funding</a:t>
            </a:r>
          </a:p>
        </p:txBody>
      </p:sp>
      <p:sp>
        <p:nvSpPr>
          <p:cNvPr id="6" name="TextBox 5">
            <a:extLst>
              <a:ext uri="{FF2B5EF4-FFF2-40B4-BE49-F238E27FC236}">
                <a16:creationId xmlns:a16="http://schemas.microsoft.com/office/drawing/2014/main" id="{47687998-11CA-4EEF-829D-8CAB159471A9}"/>
              </a:ext>
            </a:extLst>
          </p:cNvPr>
          <p:cNvSpPr txBox="1"/>
          <p:nvPr/>
        </p:nvSpPr>
        <p:spPr>
          <a:xfrm>
            <a:off x="3946848" y="1508554"/>
            <a:ext cx="6102220" cy="2431435"/>
          </a:xfrm>
          <a:prstGeom prst="rect">
            <a:avLst/>
          </a:prstGeom>
          <a:noFill/>
        </p:spPr>
        <p:txBody>
          <a:bodyPr wrap="square" lIns="91440" tIns="45720" rIns="91440" bIns="45720" anchor="t">
            <a:spAutoFit/>
          </a:bodyPr>
          <a:lstStyle/>
          <a:p>
            <a:pPr marL="182880" indent="-18288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Grants</a:t>
            </a:r>
          </a:p>
          <a:p>
            <a:pPr marL="640080" lvl="3" indent="-18288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Foundation for Physical Therapy Research </a:t>
            </a:r>
          </a:p>
          <a:p>
            <a:pPr marL="640080" lvl="3" indent="-18288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Foundation for Physical Medicine Research</a:t>
            </a:r>
          </a:p>
          <a:p>
            <a:pPr marL="800100" lvl="1" indent="-342900">
              <a:buFont typeface="Arial"/>
              <a:buChar char="•"/>
            </a:pPr>
            <a:endParaRPr lang="en-US" sz="2400"/>
          </a:p>
        </p:txBody>
      </p:sp>
      <p:sp>
        <p:nvSpPr>
          <p:cNvPr id="4" name="TextBox 3">
            <a:extLst>
              <a:ext uri="{FF2B5EF4-FFF2-40B4-BE49-F238E27FC236}">
                <a16:creationId xmlns:a16="http://schemas.microsoft.com/office/drawing/2014/main" id="{B933E853-1EBD-C3FB-AD4A-2311A0EEAE94}"/>
              </a:ext>
            </a:extLst>
          </p:cNvPr>
          <p:cNvSpPr txBox="1"/>
          <p:nvPr/>
        </p:nvSpPr>
        <p:spPr>
          <a:xfrm>
            <a:off x="3904937" y="3838172"/>
            <a:ext cx="6573419" cy="39826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Attend conferences such as ACRM</a:t>
            </a:r>
          </a:p>
          <a:p>
            <a:pPr marL="640080" lvl="2" indent="-18288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Access to new info</a:t>
            </a:r>
          </a:p>
          <a:p>
            <a:pPr marL="640080" lvl="2" indent="-182880" defTabSz="914400">
              <a:lnSpc>
                <a:spcPct val="90000"/>
              </a:lnSpc>
              <a:spcBef>
                <a:spcPts val="1200"/>
              </a:spcBef>
              <a:buClr>
                <a:schemeClr val="accent1"/>
              </a:buClr>
              <a:buFont typeface="Wingdings 2" pitchFamily="18" charset="2"/>
              <a:buChar char=""/>
            </a:pPr>
            <a:r>
              <a:rPr lang="en-US" sz="2400">
                <a:solidFill>
                  <a:schemeClr val="tx1">
                    <a:lumMod val="65000"/>
                    <a:lumOff val="35000"/>
                  </a:schemeClr>
                </a:solidFill>
              </a:rPr>
              <a:t>Network</a:t>
            </a:r>
          </a:p>
          <a:p>
            <a:pPr marL="742950" lvl="1" indent="-285750">
              <a:buFont typeface="Arial"/>
              <a:buChar char="•"/>
            </a:pPr>
            <a:endParaRPr lang="en-US" sz="2400"/>
          </a:p>
          <a:p>
            <a:pPr lvl="1"/>
            <a:r>
              <a:rPr lang="en-US" sz="2400">
                <a:ea typeface="+mn-lt"/>
                <a:cs typeface="+mn-lt"/>
                <a:hlinkClick r:id="rId6"/>
              </a:rPr>
              <a:t>https://foundation4pt.org/grants/</a:t>
            </a:r>
            <a:endParaRPr lang="en-US"/>
          </a:p>
          <a:p>
            <a:pPr lvl="1"/>
            <a:r>
              <a:rPr lang="en-US" sz="2400">
                <a:ea typeface="+mn-lt"/>
                <a:cs typeface="+mn-lt"/>
                <a:hlinkClick r:id="rId7"/>
              </a:rPr>
              <a:t>https://conference.acrm.org/2022-conference/register/</a:t>
            </a:r>
            <a:endParaRPr lang="en-US"/>
          </a:p>
          <a:p>
            <a:pPr lvl="1"/>
            <a:endParaRPr lang="en-US" sz="2400"/>
          </a:p>
          <a:p>
            <a:pPr lvl="1"/>
            <a:endParaRPr lang="en-US" sz="2400"/>
          </a:p>
          <a:p>
            <a:pPr marL="742950" lvl="1" indent="-285750">
              <a:buFont typeface="Arial"/>
              <a:buChar char="•"/>
            </a:pPr>
            <a:endParaRPr lang="en-US" sz="2400"/>
          </a:p>
        </p:txBody>
      </p:sp>
    </p:spTree>
    <p:extLst>
      <p:ext uri="{BB962C8B-B14F-4D97-AF65-F5344CB8AC3E}">
        <p14:creationId xmlns:p14="http://schemas.microsoft.com/office/powerpoint/2010/main" val="360125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Barriers to Entry:</a:t>
            </a:r>
            <a:br>
              <a:rPr lang="en-US" sz="3200"/>
            </a:br>
            <a:r>
              <a:rPr lang="en-US" sz="3200"/>
              <a:t>FDA</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endParaRPr lang="en-US" sz="2400"/>
          </a:p>
          <a:p>
            <a:r>
              <a:rPr lang="en-US" sz="2400"/>
              <a:t>Class I Product: </a:t>
            </a:r>
            <a:r>
              <a:rPr lang="en-US" sz="2400">
                <a:ea typeface="+mn-lt"/>
                <a:cs typeface="+mn-lt"/>
              </a:rPr>
              <a:t>These devices present minimal potential for harm to the user and are often simpler in design than Class II or Class III devices</a:t>
            </a:r>
            <a:endParaRPr lang="en-US"/>
          </a:p>
          <a:p>
            <a:endParaRPr lang="en-US" sz="2400"/>
          </a:p>
          <a:p>
            <a:r>
              <a:rPr lang="en-US" sz="2400"/>
              <a:t>Regulated by FDA but some are exempt from FDA review before marketing</a:t>
            </a:r>
          </a:p>
          <a:p>
            <a:endParaRPr lang="en-US" sz="2400"/>
          </a:p>
          <a:p>
            <a:r>
              <a:rPr lang="en-US" sz="2400"/>
              <a:t>Still must maintain quality management system and adhere to "FDA General Controls" </a:t>
            </a:r>
          </a:p>
          <a:p>
            <a:pPr lvl="1"/>
            <a:r>
              <a:rPr lang="en-US" sz="2400"/>
              <a:t>Must prove the product and safe and effective</a:t>
            </a:r>
          </a:p>
          <a:p>
            <a:pPr lvl="1"/>
            <a:r>
              <a:rPr lang="en-US" sz="2400"/>
              <a:t>Proper branding/labeling</a:t>
            </a:r>
          </a:p>
          <a:p>
            <a:pPr lvl="1"/>
            <a:r>
              <a:rPr lang="en-US" sz="2400"/>
              <a:t>Registration</a:t>
            </a:r>
          </a:p>
          <a:p>
            <a:pPr marL="502920" lvl="1" indent="0">
              <a:buNone/>
            </a:pPr>
            <a:endParaRPr lang="en-US"/>
          </a:p>
          <a:p>
            <a:pPr lvl="1"/>
            <a:endParaRPr lang="en-US"/>
          </a:p>
          <a:p>
            <a:endParaRPr lang="en-US"/>
          </a:p>
        </p:txBody>
      </p:sp>
      <p:sp>
        <p:nvSpPr>
          <p:cNvPr id="6" name="TextBox 5">
            <a:extLst>
              <a:ext uri="{FF2B5EF4-FFF2-40B4-BE49-F238E27FC236}">
                <a16:creationId xmlns:a16="http://schemas.microsoft.com/office/drawing/2014/main" id="{47687998-11CA-4EEF-829D-8CAB159471A9}"/>
              </a:ext>
            </a:extLst>
          </p:cNvPr>
          <p:cNvSpPr txBox="1"/>
          <p:nvPr/>
        </p:nvSpPr>
        <p:spPr>
          <a:xfrm>
            <a:off x="3946848" y="1508554"/>
            <a:ext cx="6102220" cy="461665"/>
          </a:xfrm>
          <a:prstGeom prst="rect">
            <a:avLst/>
          </a:prstGeom>
          <a:noFill/>
        </p:spPr>
        <p:txBody>
          <a:bodyPr wrap="square">
            <a:spAutoFit/>
          </a:bodyPr>
          <a:lstStyle/>
          <a:p>
            <a:r>
              <a:rPr lang="en-US" sz="2400"/>
              <a:t> </a:t>
            </a:r>
          </a:p>
        </p:txBody>
      </p:sp>
    </p:spTree>
    <p:extLst>
      <p:ext uri="{BB962C8B-B14F-4D97-AF65-F5344CB8AC3E}">
        <p14:creationId xmlns:p14="http://schemas.microsoft.com/office/powerpoint/2010/main" val="285786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Pricing Model</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r>
              <a:rPr lang="en-US" sz="2800"/>
              <a:t>Penetration pricing</a:t>
            </a:r>
          </a:p>
          <a:p>
            <a:pPr lvl="1" indent="-342900"/>
            <a:r>
              <a:rPr lang="en-US" sz="2400">
                <a:ea typeface="+mn-lt"/>
                <a:cs typeface="+mn-lt"/>
              </a:rPr>
              <a:t>Low price to build a large customer base.</a:t>
            </a:r>
            <a:endParaRPr lang="en-US" sz="2400"/>
          </a:p>
          <a:p>
            <a:pPr lvl="1" indent="-342900"/>
            <a:r>
              <a:rPr lang="en-US" sz="2400"/>
              <a:t>Able to stand out against competitors.</a:t>
            </a:r>
          </a:p>
          <a:p>
            <a:pPr marL="342900" lvl="1" indent="0">
              <a:buNone/>
            </a:pPr>
            <a:endParaRPr lang="en-US" sz="2400"/>
          </a:p>
          <a:p>
            <a:r>
              <a:rPr lang="en-US" sz="2800"/>
              <a:t>Value-Based pricing</a:t>
            </a:r>
          </a:p>
          <a:p>
            <a:pPr lvl="1" indent="-342900"/>
            <a:r>
              <a:rPr lang="en-US" sz="2400">
                <a:ea typeface="+mn-lt"/>
                <a:cs typeface="+mn-lt"/>
              </a:rPr>
              <a:t>The price is a better fit with the customer’s perspective.</a:t>
            </a:r>
            <a:endParaRPr lang="en-US" sz="2400"/>
          </a:p>
          <a:p>
            <a:pPr lvl="1" indent="-342900"/>
            <a:r>
              <a:rPr lang="en-US" sz="2400">
                <a:ea typeface="+mn-lt"/>
                <a:cs typeface="+mn-lt"/>
              </a:rPr>
              <a:t>The pricing brings more profit, allowing you to acquire more resources and grow.</a:t>
            </a:r>
            <a:endParaRPr lang="en-US" sz="2400"/>
          </a:p>
        </p:txBody>
      </p:sp>
      <p:sp>
        <p:nvSpPr>
          <p:cNvPr id="6" name="TextBox 5">
            <a:extLst>
              <a:ext uri="{FF2B5EF4-FFF2-40B4-BE49-F238E27FC236}">
                <a16:creationId xmlns:a16="http://schemas.microsoft.com/office/drawing/2014/main" id="{47687998-11CA-4EEF-829D-8CAB159471A9}"/>
              </a:ext>
            </a:extLst>
          </p:cNvPr>
          <p:cNvSpPr txBox="1"/>
          <p:nvPr/>
        </p:nvSpPr>
        <p:spPr>
          <a:xfrm>
            <a:off x="3946848" y="1508554"/>
            <a:ext cx="6102220" cy="461665"/>
          </a:xfrm>
          <a:prstGeom prst="rect">
            <a:avLst/>
          </a:prstGeom>
          <a:noFill/>
        </p:spPr>
        <p:txBody>
          <a:bodyPr wrap="square">
            <a:spAutoFit/>
          </a:bodyPr>
          <a:lstStyle/>
          <a:p>
            <a:r>
              <a:rPr lang="en-US" sz="2400"/>
              <a:t> </a:t>
            </a:r>
          </a:p>
        </p:txBody>
      </p:sp>
    </p:spTree>
    <p:extLst>
      <p:ext uri="{BB962C8B-B14F-4D97-AF65-F5344CB8AC3E}">
        <p14:creationId xmlns:p14="http://schemas.microsoft.com/office/powerpoint/2010/main" val="1540874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Market Size and Opportunity</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1307353"/>
            <a:ext cx="3415950" cy="2996635"/>
          </a:xfrm>
        </p:spPr>
        <p:txBody>
          <a:bodyPr/>
          <a:lstStyle/>
          <a:p>
            <a:r>
              <a:rPr lang="en-US">
                <a:ea typeface="+mn-lt"/>
                <a:cs typeface="+mn-lt"/>
              </a:rPr>
              <a:t>The global sports medicine market size is estimated at 8.7 billion and forecasted to reached 15.2 billion by 2027 with an expected growth rate of 8.2%</a:t>
            </a:r>
          </a:p>
          <a:p>
            <a:pPr marL="0" indent="0">
              <a:buNone/>
            </a:pPr>
            <a:endParaRPr lang="en-US"/>
          </a:p>
          <a:p>
            <a:endParaRPr lang="en-US"/>
          </a:p>
          <a:p>
            <a:endParaRPr lang="en-US"/>
          </a:p>
        </p:txBody>
      </p:sp>
      <p:pic>
        <p:nvPicPr>
          <p:cNvPr id="7" name="Picture 7" descr="Chart&#10;&#10;Description automatically generated">
            <a:extLst>
              <a:ext uri="{FF2B5EF4-FFF2-40B4-BE49-F238E27FC236}">
                <a16:creationId xmlns:a16="http://schemas.microsoft.com/office/drawing/2014/main" id="{D8696DCF-8CE3-F666-702C-7D7DAAF1809A}"/>
              </a:ext>
            </a:extLst>
          </p:cNvPr>
          <p:cNvPicPr>
            <a:picLocks noChangeAspect="1"/>
          </p:cNvPicPr>
          <p:nvPr/>
        </p:nvPicPr>
        <p:blipFill>
          <a:blip r:embed="rId6"/>
          <a:stretch>
            <a:fillRect/>
          </a:stretch>
        </p:blipFill>
        <p:spPr>
          <a:xfrm>
            <a:off x="7197306" y="485956"/>
            <a:ext cx="4871049" cy="2823713"/>
          </a:xfrm>
          <a:prstGeom prst="rect">
            <a:avLst/>
          </a:prstGeom>
        </p:spPr>
      </p:pic>
      <p:pic>
        <p:nvPicPr>
          <p:cNvPr id="9" name="Picture 9" descr="Chart&#10;&#10;Description automatically generated">
            <a:extLst>
              <a:ext uri="{FF2B5EF4-FFF2-40B4-BE49-F238E27FC236}">
                <a16:creationId xmlns:a16="http://schemas.microsoft.com/office/drawing/2014/main" id="{97249BC9-542A-1FFD-85F2-20F82905AB8F}"/>
              </a:ext>
            </a:extLst>
          </p:cNvPr>
          <p:cNvPicPr>
            <a:picLocks noChangeAspect="1"/>
          </p:cNvPicPr>
          <p:nvPr/>
        </p:nvPicPr>
        <p:blipFill>
          <a:blip r:embed="rId7"/>
          <a:stretch>
            <a:fillRect/>
          </a:stretch>
        </p:blipFill>
        <p:spPr>
          <a:xfrm>
            <a:off x="7197308" y="3732290"/>
            <a:ext cx="4871047" cy="2872739"/>
          </a:xfrm>
          <a:prstGeom prst="rect">
            <a:avLst/>
          </a:prstGeom>
        </p:spPr>
      </p:pic>
      <p:sp>
        <p:nvSpPr>
          <p:cNvPr id="12" name="Content Placeholder 2">
            <a:extLst>
              <a:ext uri="{FF2B5EF4-FFF2-40B4-BE49-F238E27FC236}">
                <a16:creationId xmlns:a16="http://schemas.microsoft.com/office/drawing/2014/main" id="{BFE5D776-DAF7-414F-5E23-090CC8977693}"/>
              </a:ext>
            </a:extLst>
          </p:cNvPr>
          <p:cNvSpPr txBox="1">
            <a:spLocks/>
          </p:cNvSpPr>
          <p:nvPr/>
        </p:nvSpPr>
        <p:spPr>
          <a:xfrm>
            <a:off x="3585912" y="3788886"/>
            <a:ext cx="3415950" cy="2996635"/>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a:ea typeface="+mn-lt"/>
                <a:cs typeface="+mn-lt"/>
              </a:rPr>
              <a:t>The global rehabilitation equipment market size is estimated at 10.53 billion and is expected to grow at a 6.0% growth rate during the forecast period.</a:t>
            </a:r>
          </a:p>
          <a:p>
            <a:pPr marL="0" indent="0">
              <a:buFont typeface="Wingdings 2" pitchFamily="18" charset="2"/>
              <a:buNone/>
            </a:pPr>
            <a:endParaRPr lang="en-US"/>
          </a:p>
          <a:p>
            <a:endParaRPr lang="en-US"/>
          </a:p>
        </p:txBody>
      </p:sp>
    </p:spTree>
    <p:extLst>
      <p:ext uri="{BB962C8B-B14F-4D97-AF65-F5344CB8AC3E}">
        <p14:creationId xmlns:p14="http://schemas.microsoft.com/office/powerpoint/2010/main" val="227376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Summary</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r>
              <a:rPr lang="en-US" sz="2400" b="1">
                <a:ea typeface="+mn-lt"/>
                <a:cs typeface="+mn-lt"/>
              </a:rPr>
              <a:t>Step 1:</a:t>
            </a:r>
          </a:p>
          <a:p>
            <a:pPr lvl="1"/>
            <a:r>
              <a:rPr lang="en-US" sz="2400">
                <a:ea typeface="+mn-lt"/>
                <a:cs typeface="+mn-lt"/>
              </a:rPr>
              <a:t>Grants</a:t>
            </a:r>
          </a:p>
          <a:p>
            <a:r>
              <a:rPr lang="en-US" sz="2400" b="1">
                <a:ea typeface="+mn-lt"/>
                <a:cs typeface="+mn-lt"/>
              </a:rPr>
              <a:t>Step 2:</a:t>
            </a:r>
          </a:p>
          <a:p>
            <a:pPr lvl="1"/>
            <a:r>
              <a:rPr lang="en-US" sz="2400">
                <a:ea typeface="+mn-lt"/>
                <a:cs typeface="+mn-lt"/>
              </a:rPr>
              <a:t>Focus on a University</a:t>
            </a:r>
          </a:p>
          <a:p>
            <a:r>
              <a:rPr lang="en-US" sz="2400" b="1">
                <a:ea typeface="+mn-lt"/>
                <a:cs typeface="+mn-lt"/>
              </a:rPr>
              <a:t>Step 3:</a:t>
            </a:r>
          </a:p>
          <a:p>
            <a:pPr lvl="1"/>
            <a:r>
              <a:rPr lang="en-US" sz="2400">
                <a:ea typeface="+mn-lt"/>
                <a:cs typeface="+mn-lt"/>
              </a:rPr>
              <a:t>Pricing Model</a:t>
            </a:r>
          </a:p>
          <a:p>
            <a:r>
              <a:rPr lang="en-US" sz="2400" b="1">
                <a:ea typeface="+mn-lt"/>
                <a:cs typeface="+mn-lt"/>
              </a:rPr>
              <a:t>Step 4:</a:t>
            </a:r>
          </a:p>
          <a:p>
            <a:pPr lvl="1"/>
            <a:r>
              <a:rPr lang="en-US" sz="2400">
                <a:ea typeface="+mn-lt"/>
                <a:cs typeface="+mn-lt"/>
              </a:rPr>
              <a:t>Enter Market</a:t>
            </a:r>
          </a:p>
        </p:txBody>
      </p:sp>
      <p:sp>
        <p:nvSpPr>
          <p:cNvPr id="6" name="TextBox 5">
            <a:extLst>
              <a:ext uri="{FF2B5EF4-FFF2-40B4-BE49-F238E27FC236}">
                <a16:creationId xmlns:a16="http://schemas.microsoft.com/office/drawing/2014/main" id="{47687998-11CA-4EEF-829D-8CAB159471A9}"/>
              </a:ext>
            </a:extLst>
          </p:cNvPr>
          <p:cNvSpPr txBox="1"/>
          <p:nvPr/>
        </p:nvSpPr>
        <p:spPr>
          <a:xfrm>
            <a:off x="3946848" y="1508554"/>
            <a:ext cx="6102220" cy="461665"/>
          </a:xfrm>
          <a:prstGeom prst="rect">
            <a:avLst/>
          </a:prstGeom>
          <a:noFill/>
        </p:spPr>
        <p:txBody>
          <a:bodyPr wrap="square">
            <a:spAutoFit/>
          </a:bodyPr>
          <a:lstStyle/>
          <a:p>
            <a:r>
              <a:rPr lang="en-US" sz="2400"/>
              <a:t> </a:t>
            </a:r>
          </a:p>
        </p:txBody>
      </p:sp>
    </p:spTree>
    <p:extLst>
      <p:ext uri="{BB962C8B-B14F-4D97-AF65-F5344CB8AC3E}">
        <p14:creationId xmlns:p14="http://schemas.microsoft.com/office/powerpoint/2010/main" val="4014051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68F6E45-2CD9-34AA-AC43-C6B711D92C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5" name="Object 4" hidden="1">
                        <a:extLst>
                          <a:ext uri="{FF2B5EF4-FFF2-40B4-BE49-F238E27FC236}">
                            <a16:creationId xmlns:a16="http://schemas.microsoft.com/office/drawing/2014/main" id="{C68F6E45-2CD9-34AA-AC43-C6B711D92C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15ECE8-DFA5-606E-22B3-5AA726BBE27B}"/>
              </a:ext>
            </a:extLst>
          </p:cNvPr>
          <p:cNvSpPr>
            <a:spLocks noGrp="1"/>
          </p:cNvSpPr>
          <p:nvPr>
            <p:ph type="title"/>
          </p:nvPr>
        </p:nvSpPr>
        <p:spPr>
          <a:xfrm>
            <a:off x="252918" y="1123837"/>
            <a:ext cx="3266857" cy="4601183"/>
          </a:xfrm>
        </p:spPr>
        <p:txBody>
          <a:bodyPr vert="horz">
            <a:normAutofit/>
          </a:bodyPr>
          <a:lstStyle/>
          <a:p>
            <a:r>
              <a:rPr lang="en-US" sz="3200"/>
              <a:t>Appendix</a:t>
            </a:r>
          </a:p>
        </p:txBody>
      </p:sp>
      <p:sp>
        <p:nvSpPr>
          <p:cNvPr id="3" name="Content Placeholder 2">
            <a:extLst>
              <a:ext uri="{FF2B5EF4-FFF2-40B4-BE49-F238E27FC236}">
                <a16:creationId xmlns:a16="http://schemas.microsoft.com/office/drawing/2014/main" id="{B6C2E7C8-3B4D-2825-E9F1-2C857BCED6B5}"/>
              </a:ext>
            </a:extLst>
          </p:cNvPr>
          <p:cNvSpPr>
            <a:spLocks noGrp="1"/>
          </p:cNvSpPr>
          <p:nvPr>
            <p:ph idx="1"/>
          </p:nvPr>
        </p:nvSpPr>
        <p:spPr>
          <a:xfrm>
            <a:off x="3519776" y="818523"/>
            <a:ext cx="8131724" cy="5412031"/>
          </a:xfrm>
        </p:spPr>
        <p:txBody>
          <a:bodyPr/>
          <a:lstStyle/>
          <a:p>
            <a:r>
              <a:rPr lang="en-US">
                <a:solidFill>
                  <a:srgbClr val="0070C0"/>
                </a:solidFill>
                <a:ea typeface="+mn-lt"/>
                <a:cs typeface="+mn-lt"/>
                <a:hlinkClick r:id="rId6">
                  <a:extLst>
                    <a:ext uri="{A12FA001-AC4F-418D-AE19-62706E023703}">
                      <ahyp:hlinkClr xmlns:ahyp="http://schemas.microsoft.com/office/drawing/2018/hyperlinkcolor" val="tx"/>
                    </a:ext>
                  </a:extLst>
                </a:hlinkClick>
              </a:rPr>
              <a:t>https://www.fda.gov/medical-devices/regulatory-controls/general-controls-medical-devices</a:t>
            </a:r>
          </a:p>
          <a:p>
            <a:r>
              <a:rPr lang="en-US">
                <a:solidFill>
                  <a:srgbClr val="0070C0"/>
                </a:solidFill>
                <a:ea typeface="+mn-lt"/>
                <a:cs typeface="+mn-lt"/>
                <a:hlinkClick r:id="rId7">
                  <a:extLst>
                    <a:ext uri="{A12FA001-AC4F-418D-AE19-62706E023703}">
                      <ahyp:hlinkClr xmlns:ahyp="http://schemas.microsoft.com/office/drawing/2018/hyperlinkcolor" val="tx"/>
                    </a:ext>
                  </a:extLst>
                </a:hlinkClick>
              </a:rPr>
              <a:t>https://www.bdc.ca/en/articles-tools/marketing-sales-export/marketing/pricing-5-common-strategies</a:t>
            </a:r>
          </a:p>
          <a:p>
            <a:r>
              <a:rPr lang="en-US">
                <a:solidFill>
                  <a:srgbClr val="0070C0"/>
                </a:solidFill>
                <a:ea typeface="+mn-lt"/>
                <a:cs typeface="+mn-lt"/>
                <a:hlinkClick r:id="rId8">
                  <a:extLst>
                    <a:ext uri="{A12FA001-AC4F-418D-AE19-62706E023703}">
                      <ahyp:hlinkClr xmlns:ahyp="http://schemas.microsoft.com/office/drawing/2018/hyperlinkcolor" val="tx"/>
                    </a:ext>
                  </a:extLst>
                </a:hlinkClick>
              </a:rPr>
              <a:t>https://corporatefinanceinstitute.com/resources/knowledge/strategy/penetration-pricing/</a:t>
            </a:r>
          </a:p>
          <a:p>
            <a:r>
              <a:rPr lang="en-US">
                <a:solidFill>
                  <a:srgbClr val="0070C0"/>
                </a:solidFill>
                <a:ea typeface="+mn-lt"/>
                <a:cs typeface="+mn-lt"/>
                <a:hlinkClick r:id="rId9">
                  <a:extLst>
                    <a:ext uri="{A12FA001-AC4F-418D-AE19-62706E023703}">
                      <ahyp:hlinkClr xmlns:ahyp="http://schemas.microsoft.com/office/drawing/2018/hyperlinkcolor" val="tx"/>
                    </a:ext>
                  </a:extLst>
                </a:hlinkClick>
              </a:rPr>
              <a:t>https://www.marketing91.com/value-based-pricing/</a:t>
            </a:r>
          </a:p>
          <a:p>
            <a:r>
              <a:rPr lang="en-US">
                <a:solidFill>
                  <a:srgbClr val="0070C0"/>
                </a:solidFill>
                <a:ea typeface="+mn-lt"/>
                <a:cs typeface="+mn-lt"/>
                <a:hlinkClick r:id="rId10">
                  <a:extLst>
                    <a:ext uri="{A12FA001-AC4F-418D-AE19-62706E023703}">
                      <ahyp:hlinkClr xmlns:ahyp="http://schemas.microsoft.com/office/drawing/2018/hyperlinkcolor" val="tx"/>
                    </a:ext>
                  </a:extLst>
                </a:hlinkClick>
              </a:rPr>
              <a:t>https://www.grandviewresearch.com/industry-analysis/sports-medicine-industry#:~:text=The%20global%20sports%20medicine%20market%20size%20was%20estimated%20at%20USD,USD%208.7%20billion%20in%202020</a:t>
            </a:r>
            <a:r>
              <a:rPr lang="en-US">
                <a:solidFill>
                  <a:srgbClr val="0070C0"/>
                </a:solidFill>
                <a:ea typeface="+mn-lt"/>
                <a:cs typeface="+mn-lt"/>
              </a:rPr>
              <a:t>.</a:t>
            </a:r>
          </a:p>
          <a:p>
            <a:r>
              <a:rPr lang="en-US">
                <a:solidFill>
                  <a:srgbClr val="0070C0"/>
                </a:solidFill>
                <a:ea typeface="+mn-lt"/>
                <a:cs typeface="+mn-lt"/>
                <a:hlinkClick r:id="rId11">
                  <a:extLst>
                    <a:ext uri="{A12FA001-AC4F-418D-AE19-62706E023703}">
                      <ahyp:hlinkClr xmlns:ahyp="http://schemas.microsoft.com/office/drawing/2018/hyperlinkcolor" val="tx"/>
                    </a:ext>
                  </a:extLst>
                </a:hlinkClick>
              </a:rPr>
              <a:t>https://www.businesswire.com/news/home/20220607005987/en/The-Worldwide-Sports-Medicine-Industry-is-Projected-to-Reach-12.8-Billion-by-2030---ResearchAndMarkets.com</a:t>
            </a:r>
          </a:p>
          <a:p>
            <a:endParaRPr lang="en-US">
              <a:ea typeface="+mn-lt"/>
              <a:cs typeface="+mn-lt"/>
            </a:endParaRPr>
          </a:p>
        </p:txBody>
      </p:sp>
      <p:sp>
        <p:nvSpPr>
          <p:cNvPr id="6" name="TextBox 5">
            <a:extLst>
              <a:ext uri="{FF2B5EF4-FFF2-40B4-BE49-F238E27FC236}">
                <a16:creationId xmlns:a16="http://schemas.microsoft.com/office/drawing/2014/main" id="{47687998-11CA-4EEF-829D-8CAB159471A9}"/>
              </a:ext>
            </a:extLst>
          </p:cNvPr>
          <p:cNvSpPr txBox="1"/>
          <p:nvPr/>
        </p:nvSpPr>
        <p:spPr>
          <a:xfrm>
            <a:off x="3946848" y="1508554"/>
            <a:ext cx="6102220" cy="461665"/>
          </a:xfrm>
          <a:prstGeom prst="rect">
            <a:avLst/>
          </a:prstGeom>
          <a:noFill/>
        </p:spPr>
        <p:txBody>
          <a:bodyPr wrap="square">
            <a:spAutoFit/>
          </a:bodyPr>
          <a:lstStyle/>
          <a:p>
            <a:r>
              <a:rPr lang="en-US" sz="2400"/>
              <a:t> </a:t>
            </a:r>
          </a:p>
        </p:txBody>
      </p:sp>
    </p:spTree>
    <p:extLst>
      <p:ext uri="{BB962C8B-B14F-4D97-AF65-F5344CB8AC3E}">
        <p14:creationId xmlns:p14="http://schemas.microsoft.com/office/powerpoint/2010/main" val="9100647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6D172D5294321449D45F155F70611B1" ma:contentTypeVersion="7" ma:contentTypeDescription="Create a new document." ma:contentTypeScope="" ma:versionID="dd02883fdd4dc8f4c2a38ecfe2cd2027">
  <xsd:schema xmlns:xsd="http://www.w3.org/2001/XMLSchema" xmlns:xs="http://www.w3.org/2001/XMLSchema" xmlns:p="http://schemas.microsoft.com/office/2006/metadata/properties" xmlns:ns3="34a350b2-aa94-4470-9a2a-585981edc7d7" xmlns:ns4="498f1d17-e027-4ca2-bc13-88e02d31338b" targetNamespace="http://schemas.microsoft.com/office/2006/metadata/properties" ma:root="true" ma:fieldsID="226950f4da33ada3c312b4d81ffaceab" ns3:_="" ns4:_="">
    <xsd:import namespace="34a350b2-aa94-4470-9a2a-585981edc7d7"/>
    <xsd:import namespace="498f1d17-e027-4ca2-bc13-88e02d3133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a350b2-aa94-4470-9a2a-585981edc7d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8f1d17-e027-4ca2-bc13-88e02d3133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8232DB-5DCB-400A-910C-2838B0D8F037}">
  <ds:schemaRefs>
    <ds:schemaRef ds:uri="http://schemas.microsoft.com/sharepoint/v3/contenttype/forms"/>
  </ds:schemaRefs>
</ds:datastoreItem>
</file>

<file path=customXml/itemProps2.xml><?xml version="1.0" encoding="utf-8"?>
<ds:datastoreItem xmlns:ds="http://schemas.openxmlformats.org/officeDocument/2006/customXml" ds:itemID="{A8A52E04-EC6D-4D40-B8C9-24BB0E71C664}">
  <ds:schemaRefs>
    <ds:schemaRef ds:uri="34a350b2-aa94-4470-9a2a-585981edc7d7"/>
    <ds:schemaRef ds:uri="498f1d17-e027-4ca2-bc13-88e02d31338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7C9A998-C244-4D87-840F-CE67A525DCED}">
  <ds:schemaRefs>
    <ds:schemaRef ds:uri="34a350b2-aa94-4470-9a2a-585981edc7d7"/>
    <ds:schemaRef ds:uri="498f1d17-e027-4ca2-bc13-88e02d31338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Parcel</Template>
  <TotalTime>0</TotalTime>
  <Words>2688</Words>
  <Application>Microsoft Office PowerPoint</Application>
  <PresentationFormat>Widescreen</PresentationFormat>
  <Paragraphs>226</Paragraphs>
  <Slides>13</Slides>
  <Notes>13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0" baseType="lpstr">
      <vt:lpstr>Arial</vt:lpstr>
      <vt:lpstr>Calibri</vt:lpstr>
      <vt:lpstr>Corbel</vt:lpstr>
      <vt:lpstr>Roboto</vt:lpstr>
      <vt:lpstr>Wingdings 2</vt:lpstr>
      <vt:lpstr>Frame</vt:lpstr>
      <vt:lpstr>think-cell Slide</vt:lpstr>
      <vt:lpstr>Client Project Final Presentation  Team 5-Motion</vt:lpstr>
      <vt:lpstr>Scenario:</vt:lpstr>
      <vt:lpstr>CAGE Analysis</vt:lpstr>
      <vt:lpstr>Industry Analysis</vt:lpstr>
      <vt:lpstr>Recommendations</vt:lpstr>
      <vt:lpstr>Why Universities?</vt:lpstr>
      <vt:lpstr>Potential Partners</vt:lpstr>
      <vt:lpstr>Funding</vt:lpstr>
      <vt:lpstr>Barriers to Entry: FDA</vt:lpstr>
      <vt:lpstr>Pricing Model</vt:lpstr>
      <vt:lpstr>Market Size and Opportunity</vt:lpstr>
      <vt:lpstr>Summary</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Country-Level Analysis</dc:title>
  <dc:creator>Stephanie Sykora</dc:creator>
  <cp:lastModifiedBy>Len Guida</cp:lastModifiedBy>
  <cp:revision>2</cp:revision>
  <dcterms:created xsi:type="dcterms:W3CDTF">2022-05-26T05:07:03Z</dcterms:created>
  <dcterms:modified xsi:type="dcterms:W3CDTF">2022-07-03T15:44:31Z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0x010100C6D172D5294321449D45F155F70611B1</vt:lpwstr>
  </property>
</Properties>
</file>