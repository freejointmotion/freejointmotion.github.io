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19"/>
  </p:notesMasterIdLst>
  <p:sldIdLst>
    <p:sldId id="256" r:id="rId2"/>
    <p:sldId id="258" r:id="rId3"/>
    <p:sldId id="259" r:id="rId4"/>
    <p:sldId id="277" r:id="rId5"/>
    <p:sldId id="260" r:id="rId6"/>
    <p:sldId id="278" r:id="rId7"/>
    <p:sldId id="279" r:id="rId8"/>
    <p:sldId id="274" r:id="rId9"/>
    <p:sldId id="263" r:id="rId10"/>
    <p:sldId id="262" r:id="rId11"/>
    <p:sldId id="269" r:id="rId12"/>
    <p:sldId id="270" r:id="rId13"/>
    <p:sldId id="284" r:id="rId14"/>
    <p:sldId id="275" r:id="rId15"/>
    <p:sldId id="282" r:id="rId16"/>
    <p:sldId id="267" r:id="rId17"/>
    <p:sldId id="285"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237ADB7-F953-AFDF-C9E0-4910CDF5B932}" v="175" dt="2022-06-21T20:47:20.266"/>
    <p1510:client id="{34879C38-2FAF-4F3B-AC3A-9C7A1981AE47}" v="179" dt="2022-06-21T00:45:47.248"/>
    <p1510:client id="{48605F79-FC22-1248-FFFD-19D5C05C8CEF}" v="47" dt="2022-06-21T00:37:21.345"/>
    <p1510:client id="{7FAD5741-13AF-F679-912D-7F037A476510}" v="18" dt="2022-06-30T00:17:31.834"/>
    <p1510:client id="{8AB258DA-8FA5-41CF-B852-795F61E77F6D}" v="188" dt="2022-06-13T23:51:59.138"/>
    <p1510:client id="{9A6CAFB6-D663-79E8-9C7E-19C3C2A99E52}" v="1700" dt="2022-06-23T21:17:23.992"/>
    <p1510:client id="{A0596508-B7FB-AC21-D25A-385DC1874072}" v="4" dt="2022-06-28T15:02:54.450"/>
    <p1510:client id="{A8138948-DBE7-80C1-CF73-C10AC35DF38E}" v="665" dt="2022-06-23T21:29:45.761"/>
    <p1510:client id="{B50F6CA3-E64F-0515-247E-FD18C274B711}" v="1052" dt="2022-06-23T01:04:02.506"/>
    <p1510:client id="{B7D86EA6-B1BC-1492-5F8A-49DBB4C8C211}" v="306" dt="2022-06-23T00:50:59.114"/>
    <p1510:client id="{B95F7117-53B3-4482-8367-2FBDC59FEDE8}" v="179" dt="2022-06-13T22:09:02.526"/>
    <p1510:client id="{BB04D251-EDC2-37D9-515E-4A8B7649AEDD}" v="5" dt="2022-06-21T00:35:32.935"/>
    <p1510:client id="{BDFA0FD3-C072-D905-1E9B-C3CD2F7D8DFA}" v="868" dt="2022-06-22T23:16:15.326"/>
    <p1510:client id="{E263CA6F-7F78-7B78-6CDC-660826088932}" v="71" dt="2022-06-29T23:25:24.271"/>
    <p1510:client id="{EB24F2D1-5702-4571-B085-B6267C9B1908}" v="31" dt="2022-06-21T23:49:09.369"/>
    <p1510:client id="{EEDE9CB0-8249-689A-FC50-5E74DBFDDBA1}" v="98" dt="2022-06-29T22:43:58.838"/>
    <p1510:client id="{FF807FF2-170D-998A-C29E-B5D1665A29C2}" v="328" dt="2022-06-23T18:41:00.95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7" d="100"/>
          <a:sy n="77" d="100"/>
        </p:scale>
        <p:origin x="624"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0F40DF6-6D29-436E-ABA4-B27B676318FE}"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39330AB9-322B-4544-B687-12DF70425A0D}">
      <dgm:prSet/>
      <dgm:spPr/>
      <dgm:t>
        <a:bodyPr/>
        <a:lstStyle/>
        <a:p>
          <a:r>
            <a:rPr lang="en-US"/>
            <a:t>ELGIN $</a:t>
          </a:r>
          <a:r>
            <a:rPr lang="en-US">
              <a:latin typeface="Calibri Light" panose="020F0302020204030204"/>
            </a:rPr>
            <a:t>1000+</a:t>
          </a:r>
          <a:endParaRPr lang="en-US"/>
        </a:p>
      </dgm:t>
    </dgm:pt>
    <dgm:pt modelId="{872730EC-A632-400C-8F47-B6DA8B84557E}" type="parTrans" cxnId="{72CAFD04-5ABC-4AA3-A989-E46D4CA02809}">
      <dgm:prSet/>
      <dgm:spPr/>
      <dgm:t>
        <a:bodyPr/>
        <a:lstStyle/>
        <a:p>
          <a:endParaRPr lang="en-US"/>
        </a:p>
      </dgm:t>
    </dgm:pt>
    <dgm:pt modelId="{9B0F45CB-FB8D-4BA4-AD3D-7AC100CD1F1E}" type="sibTrans" cxnId="{72CAFD04-5ABC-4AA3-A989-E46D4CA02809}">
      <dgm:prSet/>
      <dgm:spPr/>
      <dgm:t>
        <a:bodyPr/>
        <a:lstStyle/>
        <a:p>
          <a:endParaRPr lang="en-US"/>
        </a:p>
      </dgm:t>
    </dgm:pt>
    <dgm:pt modelId="{1ABDE64B-D976-4AEF-B5F9-67CCE7DB74B2}">
      <dgm:prSet/>
      <dgm:spPr/>
      <dgm:t>
        <a:bodyPr/>
        <a:lstStyle/>
        <a:p>
          <a:pPr rtl="0"/>
          <a:r>
            <a:rPr lang="en-US"/>
            <a:t>BIODEX </a:t>
          </a:r>
          <a:r>
            <a:rPr lang="en-US">
              <a:latin typeface="Calibri Light" panose="020F0302020204030204"/>
            </a:rPr>
            <a:t>average price $18000</a:t>
          </a:r>
          <a:endParaRPr lang="en-US"/>
        </a:p>
      </dgm:t>
    </dgm:pt>
    <dgm:pt modelId="{FF0CA47E-0E65-4277-B303-75EDFEA4A90E}" type="parTrans" cxnId="{D3D96B85-7C4E-427B-B361-24FB6770052A}">
      <dgm:prSet/>
      <dgm:spPr/>
      <dgm:t>
        <a:bodyPr/>
        <a:lstStyle/>
        <a:p>
          <a:endParaRPr lang="en-US"/>
        </a:p>
      </dgm:t>
    </dgm:pt>
    <dgm:pt modelId="{EDCDEDA0-B06E-48A1-AED0-95EDCAD70D25}" type="sibTrans" cxnId="{D3D96B85-7C4E-427B-B361-24FB6770052A}">
      <dgm:prSet/>
      <dgm:spPr/>
      <dgm:t>
        <a:bodyPr/>
        <a:lstStyle/>
        <a:p>
          <a:endParaRPr lang="en-US"/>
        </a:p>
      </dgm:t>
    </dgm:pt>
    <dgm:pt modelId="{97FE718D-883D-4A37-8F58-496079E3D301}">
      <dgm:prSet/>
      <dgm:spPr/>
      <dgm:t>
        <a:bodyPr/>
        <a:lstStyle/>
        <a:p>
          <a:r>
            <a:rPr lang="en-US"/>
            <a:t>MEDISPORT $1000+</a:t>
          </a:r>
        </a:p>
      </dgm:t>
    </dgm:pt>
    <dgm:pt modelId="{677FE75F-080A-480A-B478-BE2B051607D4}" type="parTrans" cxnId="{EC5798B3-556B-48A0-B770-59FC1CA936DE}">
      <dgm:prSet/>
      <dgm:spPr/>
      <dgm:t>
        <a:bodyPr/>
        <a:lstStyle/>
        <a:p>
          <a:endParaRPr lang="en-US"/>
        </a:p>
      </dgm:t>
    </dgm:pt>
    <dgm:pt modelId="{AEB4444A-20AE-466A-8EAF-94E5F11AE346}" type="sibTrans" cxnId="{EC5798B3-556B-48A0-B770-59FC1CA936DE}">
      <dgm:prSet/>
      <dgm:spPr/>
      <dgm:t>
        <a:bodyPr/>
        <a:lstStyle/>
        <a:p>
          <a:endParaRPr lang="en-US"/>
        </a:p>
      </dgm:t>
    </dgm:pt>
    <dgm:pt modelId="{C763F27A-E611-4C00-8080-170B7BB043C3}">
      <dgm:prSet phldr="0"/>
      <dgm:spPr/>
      <dgm:t>
        <a:bodyPr/>
        <a:lstStyle/>
        <a:p>
          <a:pPr rtl="0"/>
          <a:r>
            <a:rPr lang="en-US">
              <a:latin typeface="Calibri Light" panose="020F0302020204030204"/>
            </a:rPr>
            <a:t>Smith and Nephew $6400+</a:t>
          </a:r>
          <a:endParaRPr lang="en-US"/>
        </a:p>
      </dgm:t>
    </dgm:pt>
    <dgm:pt modelId="{68EDA13D-C74E-48F3-B2DC-FC1C7CED7135}" type="parTrans" cxnId="{31FF0EE1-FF64-4B2B-B216-2193CD65165D}">
      <dgm:prSet/>
      <dgm:spPr/>
    </dgm:pt>
    <dgm:pt modelId="{DF856DCA-610E-4400-95C5-712CA4733577}" type="sibTrans" cxnId="{31FF0EE1-FF64-4B2B-B216-2193CD65165D}">
      <dgm:prSet/>
      <dgm:spPr/>
    </dgm:pt>
    <dgm:pt modelId="{F2401217-71A5-473F-8070-0C7F9AA253C9}" type="pres">
      <dgm:prSet presAssocID="{60F40DF6-6D29-436E-ABA4-B27B676318FE}" presName="linear" presStyleCnt="0">
        <dgm:presLayoutVars>
          <dgm:animLvl val="lvl"/>
          <dgm:resizeHandles val="exact"/>
        </dgm:presLayoutVars>
      </dgm:prSet>
      <dgm:spPr/>
    </dgm:pt>
    <dgm:pt modelId="{8C595CD9-C75B-403C-9163-18D50F897915}" type="pres">
      <dgm:prSet presAssocID="{39330AB9-322B-4544-B687-12DF70425A0D}" presName="parentText" presStyleLbl="node1" presStyleIdx="0" presStyleCnt="4">
        <dgm:presLayoutVars>
          <dgm:chMax val="0"/>
          <dgm:bulletEnabled val="1"/>
        </dgm:presLayoutVars>
      </dgm:prSet>
      <dgm:spPr/>
    </dgm:pt>
    <dgm:pt modelId="{86231054-5380-4670-B0FE-341E25AC5A0D}" type="pres">
      <dgm:prSet presAssocID="{9B0F45CB-FB8D-4BA4-AD3D-7AC100CD1F1E}" presName="spacer" presStyleCnt="0"/>
      <dgm:spPr/>
    </dgm:pt>
    <dgm:pt modelId="{C32B4423-53FD-4839-BE6B-103291DB76EB}" type="pres">
      <dgm:prSet presAssocID="{1ABDE64B-D976-4AEF-B5F9-67CCE7DB74B2}" presName="parentText" presStyleLbl="node1" presStyleIdx="1" presStyleCnt="4">
        <dgm:presLayoutVars>
          <dgm:chMax val="0"/>
          <dgm:bulletEnabled val="1"/>
        </dgm:presLayoutVars>
      </dgm:prSet>
      <dgm:spPr/>
    </dgm:pt>
    <dgm:pt modelId="{68C7EB9F-F04F-4779-BEDC-EEF37DCC1585}" type="pres">
      <dgm:prSet presAssocID="{EDCDEDA0-B06E-48A1-AED0-95EDCAD70D25}" presName="spacer" presStyleCnt="0"/>
      <dgm:spPr/>
    </dgm:pt>
    <dgm:pt modelId="{87C97C0C-157D-49DE-9385-829BA8C61788}" type="pres">
      <dgm:prSet presAssocID="{97FE718D-883D-4A37-8F58-496079E3D301}" presName="parentText" presStyleLbl="node1" presStyleIdx="2" presStyleCnt="4">
        <dgm:presLayoutVars>
          <dgm:chMax val="0"/>
          <dgm:bulletEnabled val="1"/>
        </dgm:presLayoutVars>
      </dgm:prSet>
      <dgm:spPr/>
    </dgm:pt>
    <dgm:pt modelId="{25E2A5D3-8DA8-4A30-801A-0E671F6203AE}" type="pres">
      <dgm:prSet presAssocID="{AEB4444A-20AE-466A-8EAF-94E5F11AE346}" presName="spacer" presStyleCnt="0"/>
      <dgm:spPr/>
    </dgm:pt>
    <dgm:pt modelId="{DB736841-0403-48D1-8D34-6E49EB6164B1}" type="pres">
      <dgm:prSet presAssocID="{C763F27A-E611-4C00-8080-170B7BB043C3}" presName="parentText" presStyleLbl="node1" presStyleIdx="3" presStyleCnt="4">
        <dgm:presLayoutVars>
          <dgm:chMax val="0"/>
          <dgm:bulletEnabled val="1"/>
        </dgm:presLayoutVars>
      </dgm:prSet>
      <dgm:spPr/>
    </dgm:pt>
  </dgm:ptLst>
  <dgm:cxnLst>
    <dgm:cxn modelId="{72CAFD04-5ABC-4AA3-A989-E46D4CA02809}" srcId="{60F40DF6-6D29-436E-ABA4-B27B676318FE}" destId="{39330AB9-322B-4544-B687-12DF70425A0D}" srcOrd="0" destOrd="0" parTransId="{872730EC-A632-400C-8F47-B6DA8B84557E}" sibTransId="{9B0F45CB-FB8D-4BA4-AD3D-7AC100CD1F1E}"/>
    <dgm:cxn modelId="{D3D96B85-7C4E-427B-B361-24FB6770052A}" srcId="{60F40DF6-6D29-436E-ABA4-B27B676318FE}" destId="{1ABDE64B-D976-4AEF-B5F9-67CCE7DB74B2}" srcOrd="1" destOrd="0" parTransId="{FF0CA47E-0E65-4277-B303-75EDFEA4A90E}" sibTransId="{EDCDEDA0-B06E-48A1-AED0-95EDCAD70D25}"/>
    <dgm:cxn modelId="{B2C6F69B-71D8-4FF0-97AB-41331154AADA}" type="presOf" srcId="{39330AB9-322B-4544-B687-12DF70425A0D}" destId="{8C595CD9-C75B-403C-9163-18D50F897915}" srcOrd="0" destOrd="0" presId="urn:microsoft.com/office/officeart/2005/8/layout/vList2"/>
    <dgm:cxn modelId="{40DB5EA5-A9FA-4B3A-BEB0-EA9841494393}" type="presOf" srcId="{C763F27A-E611-4C00-8080-170B7BB043C3}" destId="{DB736841-0403-48D1-8D34-6E49EB6164B1}" srcOrd="0" destOrd="0" presId="urn:microsoft.com/office/officeart/2005/8/layout/vList2"/>
    <dgm:cxn modelId="{EC5798B3-556B-48A0-B770-59FC1CA936DE}" srcId="{60F40DF6-6D29-436E-ABA4-B27B676318FE}" destId="{97FE718D-883D-4A37-8F58-496079E3D301}" srcOrd="2" destOrd="0" parTransId="{677FE75F-080A-480A-B478-BE2B051607D4}" sibTransId="{AEB4444A-20AE-466A-8EAF-94E5F11AE346}"/>
    <dgm:cxn modelId="{A9B46EDC-D93A-4742-A836-2CC31403DD48}" type="presOf" srcId="{1ABDE64B-D976-4AEF-B5F9-67CCE7DB74B2}" destId="{C32B4423-53FD-4839-BE6B-103291DB76EB}" srcOrd="0" destOrd="0" presId="urn:microsoft.com/office/officeart/2005/8/layout/vList2"/>
    <dgm:cxn modelId="{FE4C8ADD-8A17-4CDF-96B7-95B138EF9D9E}" type="presOf" srcId="{60F40DF6-6D29-436E-ABA4-B27B676318FE}" destId="{F2401217-71A5-473F-8070-0C7F9AA253C9}" srcOrd="0" destOrd="0" presId="urn:microsoft.com/office/officeart/2005/8/layout/vList2"/>
    <dgm:cxn modelId="{31FF0EE1-FF64-4B2B-B216-2193CD65165D}" srcId="{60F40DF6-6D29-436E-ABA4-B27B676318FE}" destId="{C763F27A-E611-4C00-8080-170B7BB043C3}" srcOrd="3" destOrd="0" parTransId="{68EDA13D-C74E-48F3-B2DC-FC1C7CED7135}" sibTransId="{DF856DCA-610E-4400-95C5-712CA4733577}"/>
    <dgm:cxn modelId="{31902EEC-496C-42F0-AA4B-49C46FB9E2F6}" type="presOf" srcId="{97FE718D-883D-4A37-8F58-496079E3D301}" destId="{87C97C0C-157D-49DE-9385-829BA8C61788}" srcOrd="0" destOrd="0" presId="urn:microsoft.com/office/officeart/2005/8/layout/vList2"/>
    <dgm:cxn modelId="{425D2657-0AAD-40A3-82B0-67C99C333FCB}" type="presParOf" srcId="{F2401217-71A5-473F-8070-0C7F9AA253C9}" destId="{8C595CD9-C75B-403C-9163-18D50F897915}" srcOrd="0" destOrd="0" presId="urn:microsoft.com/office/officeart/2005/8/layout/vList2"/>
    <dgm:cxn modelId="{2000F832-545F-43E0-B676-70770520C580}" type="presParOf" srcId="{F2401217-71A5-473F-8070-0C7F9AA253C9}" destId="{86231054-5380-4670-B0FE-341E25AC5A0D}" srcOrd="1" destOrd="0" presId="urn:microsoft.com/office/officeart/2005/8/layout/vList2"/>
    <dgm:cxn modelId="{D68861C8-5A36-4A31-9201-8F0E50340010}" type="presParOf" srcId="{F2401217-71A5-473F-8070-0C7F9AA253C9}" destId="{C32B4423-53FD-4839-BE6B-103291DB76EB}" srcOrd="2" destOrd="0" presId="urn:microsoft.com/office/officeart/2005/8/layout/vList2"/>
    <dgm:cxn modelId="{D9216B14-0DCB-4C68-A06A-DDB924E34CF7}" type="presParOf" srcId="{F2401217-71A5-473F-8070-0C7F9AA253C9}" destId="{68C7EB9F-F04F-4779-BEDC-EEF37DCC1585}" srcOrd="3" destOrd="0" presId="urn:microsoft.com/office/officeart/2005/8/layout/vList2"/>
    <dgm:cxn modelId="{FC24AA35-26C1-4D27-AE13-04BE004EF299}" type="presParOf" srcId="{F2401217-71A5-473F-8070-0C7F9AA253C9}" destId="{87C97C0C-157D-49DE-9385-829BA8C61788}" srcOrd="4" destOrd="0" presId="urn:microsoft.com/office/officeart/2005/8/layout/vList2"/>
    <dgm:cxn modelId="{9B4D0DA9-86BB-4E13-A600-2C525AA439F2}" type="presParOf" srcId="{F2401217-71A5-473F-8070-0C7F9AA253C9}" destId="{25E2A5D3-8DA8-4A30-801A-0E671F6203AE}" srcOrd="5" destOrd="0" presId="urn:microsoft.com/office/officeart/2005/8/layout/vList2"/>
    <dgm:cxn modelId="{449042D2-D6C7-44B5-94AB-C688FF6432AD}" type="presParOf" srcId="{F2401217-71A5-473F-8070-0C7F9AA253C9}" destId="{DB736841-0403-48D1-8D34-6E49EB6164B1}"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812FAB0-687E-4770-8C46-660902275EC9}"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83E9E652-E0E8-4D4F-BDC2-2F31B1E480AA}">
      <dgm:prSet/>
      <dgm:spPr/>
      <dgm:t>
        <a:bodyPr/>
        <a:lstStyle/>
        <a:p>
          <a:r>
            <a:rPr lang="en-US"/>
            <a:t>FDA regulations</a:t>
          </a:r>
        </a:p>
      </dgm:t>
    </dgm:pt>
    <dgm:pt modelId="{31151DFC-D177-4926-ADEE-9452639A5800}" type="parTrans" cxnId="{CE2D36AD-D8F0-4250-AAD1-04E47AF360A2}">
      <dgm:prSet/>
      <dgm:spPr/>
      <dgm:t>
        <a:bodyPr/>
        <a:lstStyle/>
        <a:p>
          <a:endParaRPr lang="en-US"/>
        </a:p>
      </dgm:t>
    </dgm:pt>
    <dgm:pt modelId="{8827F94D-2CE8-4782-8037-3188235A23A7}" type="sibTrans" cxnId="{CE2D36AD-D8F0-4250-AAD1-04E47AF360A2}">
      <dgm:prSet/>
      <dgm:spPr/>
      <dgm:t>
        <a:bodyPr/>
        <a:lstStyle/>
        <a:p>
          <a:endParaRPr lang="en-US"/>
        </a:p>
      </dgm:t>
    </dgm:pt>
    <dgm:pt modelId="{046F8DEC-DDD8-46A8-83AB-F8D22D88DFA6}">
      <dgm:prSet/>
      <dgm:spPr/>
      <dgm:t>
        <a:bodyPr/>
        <a:lstStyle/>
        <a:p>
          <a:r>
            <a:rPr lang="en-US"/>
            <a:t>NCAA regulations </a:t>
          </a:r>
        </a:p>
      </dgm:t>
    </dgm:pt>
    <dgm:pt modelId="{215F467D-DFCC-423D-8E29-6E05A769C732}" type="parTrans" cxnId="{30AEAF2A-1B87-42BA-B684-82C21B6F8586}">
      <dgm:prSet/>
      <dgm:spPr/>
      <dgm:t>
        <a:bodyPr/>
        <a:lstStyle/>
        <a:p>
          <a:endParaRPr lang="en-US"/>
        </a:p>
      </dgm:t>
    </dgm:pt>
    <dgm:pt modelId="{EEA2535A-D16A-4BF9-885B-B66D5CF19E9C}" type="sibTrans" cxnId="{30AEAF2A-1B87-42BA-B684-82C21B6F8586}">
      <dgm:prSet/>
      <dgm:spPr/>
      <dgm:t>
        <a:bodyPr/>
        <a:lstStyle/>
        <a:p>
          <a:endParaRPr lang="en-US"/>
        </a:p>
      </dgm:t>
    </dgm:pt>
    <dgm:pt modelId="{F2C458B5-FF74-47A5-BEF9-F66AFD12C1A5}">
      <dgm:prSet/>
      <dgm:spPr/>
      <dgm:t>
        <a:bodyPr/>
        <a:lstStyle/>
        <a:p>
          <a:r>
            <a:rPr lang="en-US"/>
            <a:t>Foot and Ankle Special Interest Group Guidelines</a:t>
          </a:r>
        </a:p>
      </dgm:t>
    </dgm:pt>
    <dgm:pt modelId="{5940FBDC-F470-4096-B48F-CDE1A6C4782B}" type="parTrans" cxnId="{97B59C29-1E4D-40EA-846E-A490DD894C64}">
      <dgm:prSet/>
      <dgm:spPr/>
      <dgm:t>
        <a:bodyPr/>
        <a:lstStyle/>
        <a:p>
          <a:endParaRPr lang="en-US"/>
        </a:p>
      </dgm:t>
    </dgm:pt>
    <dgm:pt modelId="{DF6ACBE7-3CD1-4742-A97B-88895A8C1F05}" type="sibTrans" cxnId="{97B59C29-1E4D-40EA-846E-A490DD894C64}">
      <dgm:prSet/>
      <dgm:spPr/>
      <dgm:t>
        <a:bodyPr/>
        <a:lstStyle/>
        <a:p>
          <a:endParaRPr lang="en-US"/>
        </a:p>
      </dgm:t>
    </dgm:pt>
    <dgm:pt modelId="{659939BA-2A21-4867-9CB8-51F8229EF0F1}">
      <dgm:prSet/>
      <dgm:spPr/>
      <dgm:t>
        <a:bodyPr/>
        <a:lstStyle/>
        <a:p>
          <a:r>
            <a:rPr lang="en-US"/>
            <a:t>American Physical Therapy Association</a:t>
          </a:r>
        </a:p>
      </dgm:t>
    </dgm:pt>
    <dgm:pt modelId="{3C20FCBD-D97A-49A3-9709-35A75499376B}" type="parTrans" cxnId="{BB5AD374-725C-4648-964C-C7823BFED389}">
      <dgm:prSet/>
      <dgm:spPr/>
      <dgm:t>
        <a:bodyPr/>
        <a:lstStyle/>
        <a:p>
          <a:endParaRPr lang="en-US"/>
        </a:p>
      </dgm:t>
    </dgm:pt>
    <dgm:pt modelId="{07344BA2-485E-45D0-B4A9-BC241FE59A0E}" type="sibTrans" cxnId="{BB5AD374-725C-4648-964C-C7823BFED389}">
      <dgm:prSet/>
      <dgm:spPr/>
      <dgm:t>
        <a:bodyPr/>
        <a:lstStyle/>
        <a:p>
          <a:endParaRPr lang="en-US"/>
        </a:p>
      </dgm:t>
    </dgm:pt>
    <dgm:pt modelId="{A608257C-B74D-4D46-97AA-8F21B441DB22}" type="pres">
      <dgm:prSet presAssocID="{2812FAB0-687E-4770-8C46-660902275EC9}" presName="linear" presStyleCnt="0">
        <dgm:presLayoutVars>
          <dgm:animLvl val="lvl"/>
          <dgm:resizeHandles val="exact"/>
        </dgm:presLayoutVars>
      </dgm:prSet>
      <dgm:spPr/>
    </dgm:pt>
    <dgm:pt modelId="{22E0AE52-8372-435D-B964-D1E6C58D690D}" type="pres">
      <dgm:prSet presAssocID="{83E9E652-E0E8-4D4F-BDC2-2F31B1E480AA}" presName="parentText" presStyleLbl="node1" presStyleIdx="0" presStyleCnt="4">
        <dgm:presLayoutVars>
          <dgm:chMax val="0"/>
          <dgm:bulletEnabled val="1"/>
        </dgm:presLayoutVars>
      </dgm:prSet>
      <dgm:spPr/>
    </dgm:pt>
    <dgm:pt modelId="{546B1DA1-DB34-4E96-882A-1CFE310B69F7}" type="pres">
      <dgm:prSet presAssocID="{8827F94D-2CE8-4782-8037-3188235A23A7}" presName="spacer" presStyleCnt="0"/>
      <dgm:spPr/>
    </dgm:pt>
    <dgm:pt modelId="{9041D4D9-5B71-46C8-92F9-AA83EEC3D82A}" type="pres">
      <dgm:prSet presAssocID="{046F8DEC-DDD8-46A8-83AB-F8D22D88DFA6}" presName="parentText" presStyleLbl="node1" presStyleIdx="1" presStyleCnt="4">
        <dgm:presLayoutVars>
          <dgm:chMax val="0"/>
          <dgm:bulletEnabled val="1"/>
        </dgm:presLayoutVars>
      </dgm:prSet>
      <dgm:spPr/>
    </dgm:pt>
    <dgm:pt modelId="{3197AB75-1051-4D37-873B-FB7F1A005339}" type="pres">
      <dgm:prSet presAssocID="{EEA2535A-D16A-4BF9-885B-B66D5CF19E9C}" presName="spacer" presStyleCnt="0"/>
      <dgm:spPr/>
    </dgm:pt>
    <dgm:pt modelId="{02E99CAC-BC7F-4D4A-A504-7B4A4029FDCF}" type="pres">
      <dgm:prSet presAssocID="{F2C458B5-FF74-47A5-BEF9-F66AFD12C1A5}" presName="parentText" presStyleLbl="node1" presStyleIdx="2" presStyleCnt="4">
        <dgm:presLayoutVars>
          <dgm:chMax val="0"/>
          <dgm:bulletEnabled val="1"/>
        </dgm:presLayoutVars>
      </dgm:prSet>
      <dgm:spPr/>
    </dgm:pt>
    <dgm:pt modelId="{39FAC4FE-6485-478A-96F7-35F975150A09}" type="pres">
      <dgm:prSet presAssocID="{DF6ACBE7-3CD1-4742-A97B-88895A8C1F05}" presName="spacer" presStyleCnt="0"/>
      <dgm:spPr/>
    </dgm:pt>
    <dgm:pt modelId="{FEE38086-0151-4DE7-B52C-F0BC602AD3F0}" type="pres">
      <dgm:prSet presAssocID="{659939BA-2A21-4867-9CB8-51F8229EF0F1}" presName="parentText" presStyleLbl="node1" presStyleIdx="3" presStyleCnt="4">
        <dgm:presLayoutVars>
          <dgm:chMax val="0"/>
          <dgm:bulletEnabled val="1"/>
        </dgm:presLayoutVars>
      </dgm:prSet>
      <dgm:spPr/>
    </dgm:pt>
  </dgm:ptLst>
  <dgm:cxnLst>
    <dgm:cxn modelId="{B0B7390E-F77A-4EB7-8B4B-986EF7DE33E6}" type="presOf" srcId="{046F8DEC-DDD8-46A8-83AB-F8D22D88DFA6}" destId="{9041D4D9-5B71-46C8-92F9-AA83EEC3D82A}" srcOrd="0" destOrd="0" presId="urn:microsoft.com/office/officeart/2005/8/layout/vList2"/>
    <dgm:cxn modelId="{97B59C29-1E4D-40EA-846E-A490DD894C64}" srcId="{2812FAB0-687E-4770-8C46-660902275EC9}" destId="{F2C458B5-FF74-47A5-BEF9-F66AFD12C1A5}" srcOrd="2" destOrd="0" parTransId="{5940FBDC-F470-4096-B48F-CDE1A6C4782B}" sibTransId="{DF6ACBE7-3CD1-4742-A97B-88895A8C1F05}"/>
    <dgm:cxn modelId="{30AEAF2A-1B87-42BA-B684-82C21B6F8586}" srcId="{2812FAB0-687E-4770-8C46-660902275EC9}" destId="{046F8DEC-DDD8-46A8-83AB-F8D22D88DFA6}" srcOrd="1" destOrd="0" parTransId="{215F467D-DFCC-423D-8E29-6E05A769C732}" sibTransId="{EEA2535A-D16A-4BF9-885B-B66D5CF19E9C}"/>
    <dgm:cxn modelId="{48222645-6635-4E4F-92A7-9E318D682F8C}" type="presOf" srcId="{2812FAB0-687E-4770-8C46-660902275EC9}" destId="{A608257C-B74D-4D46-97AA-8F21B441DB22}" srcOrd="0" destOrd="0" presId="urn:microsoft.com/office/officeart/2005/8/layout/vList2"/>
    <dgm:cxn modelId="{BB5AD374-725C-4648-964C-C7823BFED389}" srcId="{2812FAB0-687E-4770-8C46-660902275EC9}" destId="{659939BA-2A21-4867-9CB8-51F8229EF0F1}" srcOrd="3" destOrd="0" parTransId="{3C20FCBD-D97A-49A3-9709-35A75499376B}" sibTransId="{07344BA2-485E-45D0-B4A9-BC241FE59A0E}"/>
    <dgm:cxn modelId="{0720CD59-60DF-4BEE-8E36-1E843F1C1B1E}" type="presOf" srcId="{F2C458B5-FF74-47A5-BEF9-F66AFD12C1A5}" destId="{02E99CAC-BC7F-4D4A-A504-7B4A4029FDCF}" srcOrd="0" destOrd="0" presId="urn:microsoft.com/office/officeart/2005/8/layout/vList2"/>
    <dgm:cxn modelId="{CE2D36AD-D8F0-4250-AAD1-04E47AF360A2}" srcId="{2812FAB0-687E-4770-8C46-660902275EC9}" destId="{83E9E652-E0E8-4D4F-BDC2-2F31B1E480AA}" srcOrd="0" destOrd="0" parTransId="{31151DFC-D177-4926-ADEE-9452639A5800}" sibTransId="{8827F94D-2CE8-4782-8037-3188235A23A7}"/>
    <dgm:cxn modelId="{758AAFCD-B4B0-4FC6-ACBE-6D5B06660F0E}" type="presOf" srcId="{659939BA-2A21-4867-9CB8-51F8229EF0F1}" destId="{FEE38086-0151-4DE7-B52C-F0BC602AD3F0}" srcOrd="0" destOrd="0" presId="urn:microsoft.com/office/officeart/2005/8/layout/vList2"/>
    <dgm:cxn modelId="{BE1C4AF0-2C52-4112-AACB-FCEF67453798}" type="presOf" srcId="{83E9E652-E0E8-4D4F-BDC2-2F31B1E480AA}" destId="{22E0AE52-8372-435D-B964-D1E6C58D690D}" srcOrd="0" destOrd="0" presId="urn:microsoft.com/office/officeart/2005/8/layout/vList2"/>
    <dgm:cxn modelId="{8117A637-A012-4581-AB7F-ED33B0C1920C}" type="presParOf" srcId="{A608257C-B74D-4D46-97AA-8F21B441DB22}" destId="{22E0AE52-8372-435D-B964-D1E6C58D690D}" srcOrd="0" destOrd="0" presId="urn:microsoft.com/office/officeart/2005/8/layout/vList2"/>
    <dgm:cxn modelId="{E9B0961D-0428-4062-BDBD-34F9CD1D42CE}" type="presParOf" srcId="{A608257C-B74D-4D46-97AA-8F21B441DB22}" destId="{546B1DA1-DB34-4E96-882A-1CFE310B69F7}" srcOrd="1" destOrd="0" presId="urn:microsoft.com/office/officeart/2005/8/layout/vList2"/>
    <dgm:cxn modelId="{88445577-42D2-4016-8058-490073D4AEF3}" type="presParOf" srcId="{A608257C-B74D-4D46-97AA-8F21B441DB22}" destId="{9041D4D9-5B71-46C8-92F9-AA83EEC3D82A}" srcOrd="2" destOrd="0" presId="urn:microsoft.com/office/officeart/2005/8/layout/vList2"/>
    <dgm:cxn modelId="{486844E4-656F-47D4-9879-294A3604BFEC}" type="presParOf" srcId="{A608257C-B74D-4D46-97AA-8F21B441DB22}" destId="{3197AB75-1051-4D37-873B-FB7F1A005339}" srcOrd="3" destOrd="0" presId="urn:microsoft.com/office/officeart/2005/8/layout/vList2"/>
    <dgm:cxn modelId="{D5368DD9-D79D-43F2-A7FB-13D1F50643E1}" type="presParOf" srcId="{A608257C-B74D-4D46-97AA-8F21B441DB22}" destId="{02E99CAC-BC7F-4D4A-A504-7B4A4029FDCF}" srcOrd="4" destOrd="0" presId="urn:microsoft.com/office/officeart/2005/8/layout/vList2"/>
    <dgm:cxn modelId="{926A08B6-3A89-42D2-9B2A-0755B008F2C2}" type="presParOf" srcId="{A608257C-B74D-4D46-97AA-8F21B441DB22}" destId="{39FAC4FE-6485-478A-96F7-35F975150A09}" srcOrd="5" destOrd="0" presId="urn:microsoft.com/office/officeart/2005/8/layout/vList2"/>
    <dgm:cxn modelId="{B3DA9682-5FFF-4840-9347-E69E8C1270E9}" type="presParOf" srcId="{A608257C-B74D-4D46-97AA-8F21B441DB22}" destId="{FEE38086-0151-4DE7-B52C-F0BC602AD3F0}"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94B2C75-E06D-407C-A2E2-720D99AD28CB}"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21FC97C4-FECD-44DE-A42D-CADED7D0E312}">
      <dgm:prSet/>
      <dgm:spPr/>
      <dgm:t>
        <a:bodyPr/>
        <a:lstStyle/>
        <a:p>
          <a:r>
            <a:rPr lang="en-US"/>
            <a:t>Sports Medicine Industry is rapidly growing</a:t>
          </a:r>
        </a:p>
      </dgm:t>
    </dgm:pt>
    <dgm:pt modelId="{B17AF155-3B6B-472D-880E-8DCD5E13FB51}" type="parTrans" cxnId="{FB1228E4-DD71-4F33-9AC5-5DBA62F8753B}">
      <dgm:prSet/>
      <dgm:spPr/>
      <dgm:t>
        <a:bodyPr/>
        <a:lstStyle/>
        <a:p>
          <a:endParaRPr lang="en-US"/>
        </a:p>
      </dgm:t>
    </dgm:pt>
    <dgm:pt modelId="{0F1E324C-B281-4EBE-976F-C08FDE9A02AB}" type="sibTrans" cxnId="{FB1228E4-DD71-4F33-9AC5-5DBA62F8753B}">
      <dgm:prSet/>
      <dgm:spPr/>
      <dgm:t>
        <a:bodyPr/>
        <a:lstStyle/>
        <a:p>
          <a:endParaRPr lang="en-US"/>
        </a:p>
      </dgm:t>
    </dgm:pt>
    <dgm:pt modelId="{3E64D1CF-23FF-4B92-A8C8-F442E0E3C1ED}">
      <dgm:prSet/>
      <dgm:spPr/>
      <dgm:t>
        <a:bodyPr/>
        <a:lstStyle/>
        <a:p>
          <a:r>
            <a:rPr lang="en-US"/>
            <a:t>Universities have the most disposable income</a:t>
          </a:r>
        </a:p>
      </dgm:t>
    </dgm:pt>
    <dgm:pt modelId="{6B4D3153-EDD4-45B4-9A50-23B6EC82AA0E}" type="parTrans" cxnId="{FCE1D9E6-0743-4EB1-B84F-E736636B439E}">
      <dgm:prSet/>
      <dgm:spPr/>
      <dgm:t>
        <a:bodyPr/>
        <a:lstStyle/>
        <a:p>
          <a:endParaRPr lang="en-US"/>
        </a:p>
      </dgm:t>
    </dgm:pt>
    <dgm:pt modelId="{C486004A-4B8D-44EA-BD62-68DE6278290F}" type="sibTrans" cxnId="{FCE1D9E6-0743-4EB1-B84F-E736636B439E}">
      <dgm:prSet/>
      <dgm:spPr/>
      <dgm:t>
        <a:bodyPr/>
        <a:lstStyle/>
        <a:p>
          <a:endParaRPr lang="en-US"/>
        </a:p>
      </dgm:t>
    </dgm:pt>
    <dgm:pt modelId="{B2C14579-8934-4638-9969-05F9C559EF4F}">
      <dgm:prSet/>
      <dgm:spPr/>
      <dgm:t>
        <a:bodyPr/>
        <a:lstStyle/>
        <a:p>
          <a:pPr rtl="0"/>
          <a:r>
            <a:rPr lang="en-US">
              <a:latin typeface="Calibri Light" panose="020F0302020204030204"/>
            </a:rPr>
            <a:t>Various regulations to follow pertaining</a:t>
          </a:r>
          <a:r>
            <a:rPr lang="en-US"/>
            <a:t> ankle support products in universities </a:t>
          </a:r>
        </a:p>
      </dgm:t>
    </dgm:pt>
    <dgm:pt modelId="{F31C59E3-366E-452B-A557-1A61F61722E3}" type="parTrans" cxnId="{A16D64DC-92CA-4D5D-ACEC-09FB7BA147A9}">
      <dgm:prSet/>
      <dgm:spPr/>
      <dgm:t>
        <a:bodyPr/>
        <a:lstStyle/>
        <a:p>
          <a:endParaRPr lang="en-US"/>
        </a:p>
      </dgm:t>
    </dgm:pt>
    <dgm:pt modelId="{75E725F2-2599-4770-AE7F-FF78383C7080}" type="sibTrans" cxnId="{A16D64DC-92CA-4D5D-ACEC-09FB7BA147A9}">
      <dgm:prSet/>
      <dgm:spPr/>
      <dgm:t>
        <a:bodyPr/>
        <a:lstStyle/>
        <a:p>
          <a:endParaRPr lang="en-US"/>
        </a:p>
      </dgm:t>
    </dgm:pt>
    <dgm:pt modelId="{34998F98-84CD-46AB-84B2-53F2DA3A4170}">
      <dgm:prSet/>
      <dgm:spPr/>
      <dgm:t>
        <a:bodyPr/>
        <a:lstStyle/>
        <a:p>
          <a:r>
            <a:rPr lang="en-US">
              <a:latin typeface="Calibri Light" panose="020F0302020204030204"/>
            </a:rPr>
            <a:t>Need</a:t>
          </a:r>
          <a:r>
            <a:rPr lang="en-US"/>
            <a:t> to advertise and market the product from sports studies to student athletes</a:t>
          </a:r>
        </a:p>
      </dgm:t>
    </dgm:pt>
    <dgm:pt modelId="{0AD58A65-7087-4384-B292-AE1F336832D3}" type="parTrans" cxnId="{6CED2425-EACD-40DE-8C93-F40ADC546F13}">
      <dgm:prSet/>
      <dgm:spPr/>
      <dgm:t>
        <a:bodyPr/>
        <a:lstStyle/>
        <a:p>
          <a:endParaRPr lang="en-US"/>
        </a:p>
      </dgm:t>
    </dgm:pt>
    <dgm:pt modelId="{7D725DA6-8474-4A13-9F76-57AE10BF533A}" type="sibTrans" cxnId="{6CED2425-EACD-40DE-8C93-F40ADC546F13}">
      <dgm:prSet/>
      <dgm:spPr/>
      <dgm:t>
        <a:bodyPr/>
        <a:lstStyle/>
        <a:p>
          <a:endParaRPr lang="en-US"/>
        </a:p>
      </dgm:t>
    </dgm:pt>
    <dgm:pt modelId="{2BB36A4A-F741-4D30-9D1E-D3A176BD9BCF}">
      <dgm:prSet/>
      <dgm:spPr/>
      <dgm:t>
        <a:bodyPr/>
        <a:lstStyle/>
        <a:p>
          <a:r>
            <a:rPr lang="en-US"/>
            <a:t>Various grant and joint ventures opportunities </a:t>
          </a:r>
        </a:p>
      </dgm:t>
    </dgm:pt>
    <dgm:pt modelId="{28B80D7B-F0F5-4328-86B2-2C2AA6761463}" type="parTrans" cxnId="{54B59797-3D9B-48F1-9A3F-4DE3B7A7AD00}">
      <dgm:prSet/>
      <dgm:spPr/>
      <dgm:t>
        <a:bodyPr/>
        <a:lstStyle/>
        <a:p>
          <a:endParaRPr lang="en-US"/>
        </a:p>
      </dgm:t>
    </dgm:pt>
    <dgm:pt modelId="{74D966EC-5F48-452F-A992-F074DA484B3D}" type="sibTrans" cxnId="{54B59797-3D9B-48F1-9A3F-4DE3B7A7AD00}">
      <dgm:prSet/>
      <dgm:spPr/>
      <dgm:t>
        <a:bodyPr/>
        <a:lstStyle/>
        <a:p>
          <a:endParaRPr lang="en-US"/>
        </a:p>
      </dgm:t>
    </dgm:pt>
    <dgm:pt modelId="{0D9A1097-8296-4D7F-B458-915D80071DB3}" type="pres">
      <dgm:prSet presAssocID="{D94B2C75-E06D-407C-A2E2-720D99AD28CB}" presName="linear" presStyleCnt="0">
        <dgm:presLayoutVars>
          <dgm:animLvl val="lvl"/>
          <dgm:resizeHandles val="exact"/>
        </dgm:presLayoutVars>
      </dgm:prSet>
      <dgm:spPr/>
    </dgm:pt>
    <dgm:pt modelId="{521093D3-C75D-4729-8A6B-61D6C8AD0C69}" type="pres">
      <dgm:prSet presAssocID="{21FC97C4-FECD-44DE-A42D-CADED7D0E312}" presName="parentText" presStyleLbl="node1" presStyleIdx="0" presStyleCnt="5">
        <dgm:presLayoutVars>
          <dgm:chMax val="0"/>
          <dgm:bulletEnabled val="1"/>
        </dgm:presLayoutVars>
      </dgm:prSet>
      <dgm:spPr/>
    </dgm:pt>
    <dgm:pt modelId="{078FFE2F-B8C0-4318-B367-F1FB7F7E2FC7}" type="pres">
      <dgm:prSet presAssocID="{0F1E324C-B281-4EBE-976F-C08FDE9A02AB}" presName="spacer" presStyleCnt="0"/>
      <dgm:spPr/>
    </dgm:pt>
    <dgm:pt modelId="{2283012D-DB57-4A28-B489-2E3D0052B8BA}" type="pres">
      <dgm:prSet presAssocID="{3E64D1CF-23FF-4B92-A8C8-F442E0E3C1ED}" presName="parentText" presStyleLbl="node1" presStyleIdx="1" presStyleCnt="5">
        <dgm:presLayoutVars>
          <dgm:chMax val="0"/>
          <dgm:bulletEnabled val="1"/>
        </dgm:presLayoutVars>
      </dgm:prSet>
      <dgm:spPr/>
    </dgm:pt>
    <dgm:pt modelId="{3EB4040B-0798-4663-A7F5-7ABCB74E3638}" type="pres">
      <dgm:prSet presAssocID="{C486004A-4B8D-44EA-BD62-68DE6278290F}" presName="spacer" presStyleCnt="0"/>
      <dgm:spPr/>
    </dgm:pt>
    <dgm:pt modelId="{6722BF42-A1DA-4EA4-8E52-EE814C955F98}" type="pres">
      <dgm:prSet presAssocID="{B2C14579-8934-4638-9969-05F9C559EF4F}" presName="parentText" presStyleLbl="node1" presStyleIdx="2" presStyleCnt="5">
        <dgm:presLayoutVars>
          <dgm:chMax val="0"/>
          <dgm:bulletEnabled val="1"/>
        </dgm:presLayoutVars>
      </dgm:prSet>
      <dgm:spPr/>
    </dgm:pt>
    <dgm:pt modelId="{53950EAD-3473-42CF-B19E-5FB8AE1F09C4}" type="pres">
      <dgm:prSet presAssocID="{75E725F2-2599-4770-AE7F-FF78383C7080}" presName="spacer" presStyleCnt="0"/>
      <dgm:spPr/>
    </dgm:pt>
    <dgm:pt modelId="{59107FCD-BA60-49CE-B176-4DD6D0383DF1}" type="pres">
      <dgm:prSet presAssocID="{34998F98-84CD-46AB-84B2-53F2DA3A4170}" presName="parentText" presStyleLbl="node1" presStyleIdx="3" presStyleCnt="5">
        <dgm:presLayoutVars>
          <dgm:chMax val="0"/>
          <dgm:bulletEnabled val="1"/>
        </dgm:presLayoutVars>
      </dgm:prSet>
      <dgm:spPr/>
    </dgm:pt>
    <dgm:pt modelId="{2BC5234D-D673-4CEF-A34A-824194C63DFC}" type="pres">
      <dgm:prSet presAssocID="{7D725DA6-8474-4A13-9F76-57AE10BF533A}" presName="spacer" presStyleCnt="0"/>
      <dgm:spPr/>
    </dgm:pt>
    <dgm:pt modelId="{530A2E66-BB9F-4B28-9946-C4C2A844F5F9}" type="pres">
      <dgm:prSet presAssocID="{2BB36A4A-F741-4D30-9D1E-D3A176BD9BCF}" presName="parentText" presStyleLbl="node1" presStyleIdx="4" presStyleCnt="5">
        <dgm:presLayoutVars>
          <dgm:chMax val="0"/>
          <dgm:bulletEnabled val="1"/>
        </dgm:presLayoutVars>
      </dgm:prSet>
      <dgm:spPr/>
    </dgm:pt>
  </dgm:ptLst>
  <dgm:cxnLst>
    <dgm:cxn modelId="{6CED2425-EACD-40DE-8C93-F40ADC546F13}" srcId="{D94B2C75-E06D-407C-A2E2-720D99AD28CB}" destId="{34998F98-84CD-46AB-84B2-53F2DA3A4170}" srcOrd="3" destOrd="0" parTransId="{0AD58A65-7087-4384-B292-AE1F336832D3}" sibTransId="{7D725DA6-8474-4A13-9F76-57AE10BF533A}"/>
    <dgm:cxn modelId="{9EA09364-5A6F-43FD-965D-6E145CA4AF61}" type="presOf" srcId="{21FC97C4-FECD-44DE-A42D-CADED7D0E312}" destId="{521093D3-C75D-4729-8A6B-61D6C8AD0C69}" srcOrd="0" destOrd="0" presId="urn:microsoft.com/office/officeart/2005/8/layout/vList2"/>
    <dgm:cxn modelId="{506CFA6E-A108-4599-B818-E9B7CE132317}" type="presOf" srcId="{B2C14579-8934-4638-9969-05F9C559EF4F}" destId="{6722BF42-A1DA-4EA4-8E52-EE814C955F98}" srcOrd="0" destOrd="0" presId="urn:microsoft.com/office/officeart/2005/8/layout/vList2"/>
    <dgm:cxn modelId="{BD772678-38CE-4478-BC00-A1B869AA08CF}" type="presOf" srcId="{D94B2C75-E06D-407C-A2E2-720D99AD28CB}" destId="{0D9A1097-8296-4D7F-B458-915D80071DB3}" srcOrd="0" destOrd="0" presId="urn:microsoft.com/office/officeart/2005/8/layout/vList2"/>
    <dgm:cxn modelId="{54B59797-3D9B-48F1-9A3F-4DE3B7A7AD00}" srcId="{D94B2C75-E06D-407C-A2E2-720D99AD28CB}" destId="{2BB36A4A-F741-4D30-9D1E-D3A176BD9BCF}" srcOrd="4" destOrd="0" parTransId="{28B80D7B-F0F5-4328-86B2-2C2AA6761463}" sibTransId="{74D966EC-5F48-452F-A992-F074DA484B3D}"/>
    <dgm:cxn modelId="{881AE5B5-2B4A-46AD-99C4-06D21D13B885}" type="presOf" srcId="{34998F98-84CD-46AB-84B2-53F2DA3A4170}" destId="{59107FCD-BA60-49CE-B176-4DD6D0383DF1}" srcOrd="0" destOrd="0" presId="urn:microsoft.com/office/officeart/2005/8/layout/vList2"/>
    <dgm:cxn modelId="{CA2007C0-98E6-435A-B5A4-CEABB96CD744}" type="presOf" srcId="{3E64D1CF-23FF-4B92-A8C8-F442E0E3C1ED}" destId="{2283012D-DB57-4A28-B489-2E3D0052B8BA}" srcOrd="0" destOrd="0" presId="urn:microsoft.com/office/officeart/2005/8/layout/vList2"/>
    <dgm:cxn modelId="{A16D64DC-92CA-4D5D-ACEC-09FB7BA147A9}" srcId="{D94B2C75-E06D-407C-A2E2-720D99AD28CB}" destId="{B2C14579-8934-4638-9969-05F9C559EF4F}" srcOrd="2" destOrd="0" parTransId="{F31C59E3-366E-452B-A557-1A61F61722E3}" sibTransId="{75E725F2-2599-4770-AE7F-FF78383C7080}"/>
    <dgm:cxn modelId="{9AF70DDE-D34A-450D-841C-79F34B1314E1}" type="presOf" srcId="{2BB36A4A-F741-4D30-9D1E-D3A176BD9BCF}" destId="{530A2E66-BB9F-4B28-9946-C4C2A844F5F9}" srcOrd="0" destOrd="0" presId="urn:microsoft.com/office/officeart/2005/8/layout/vList2"/>
    <dgm:cxn modelId="{FB1228E4-DD71-4F33-9AC5-5DBA62F8753B}" srcId="{D94B2C75-E06D-407C-A2E2-720D99AD28CB}" destId="{21FC97C4-FECD-44DE-A42D-CADED7D0E312}" srcOrd="0" destOrd="0" parTransId="{B17AF155-3B6B-472D-880E-8DCD5E13FB51}" sibTransId="{0F1E324C-B281-4EBE-976F-C08FDE9A02AB}"/>
    <dgm:cxn modelId="{FCE1D9E6-0743-4EB1-B84F-E736636B439E}" srcId="{D94B2C75-E06D-407C-A2E2-720D99AD28CB}" destId="{3E64D1CF-23FF-4B92-A8C8-F442E0E3C1ED}" srcOrd="1" destOrd="0" parTransId="{6B4D3153-EDD4-45B4-9A50-23B6EC82AA0E}" sibTransId="{C486004A-4B8D-44EA-BD62-68DE6278290F}"/>
    <dgm:cxn modelId="{DA37468C-F9B2-4B94-B5D8-AA536D12566F}" type="presParOf" srcId="{0D9A1097-8296-4D7F-B458-915D80071DB3}" destId="{521093D3-C75D-4729-8A6B-61D6C8AD0C69}" srcOrd="0" destOrd="0" presId="urn:microsoft.com/office/officeart/2005/8/layout/vList2"/>
    <dgm:cxn modelId="{CBEB13E5-C899-4227-8806-44A52E288F43}" type="presParOf" srcId="{0D9A1097-8296-4D7F-B458-915D80071DB3}" destId="{078FFE2F-B8C0-4318-B367-F1FB7F7E2FC7}" srcOrd="1" destOrd="0" presId="urn:microsoft.com/office/officeart/2005/8/layout/vList2"/>
    <dgm:cxn modelId="{7CF00AAA-0BFC-4DF8-8E76-1CF50EBC1649}" type="presParOf" srcId="{0D9A1097-8296-4D7F-B458-915D80071DB3}" destId="{2283012D-DB57-4A28-B489-2E3D0052B8BA}" srcOrd="2" destOrd="0" presId="urn:microsoft.com/office/officeart/2005/8/layout/vList2"/>
    <dgm:cxn modelId="{7F90BD61-0D04-4C8E-AE3C-7855311ED603}" type="presParOf" srcId="{0D9A1097-8296-4D7F-B458-915D80071DB3}" destId="{3EB4040B-0798-4663-A7F5-7ABCB74E3638}" srcOrd="3" destOrd="0" presId="urn:microsoft.com/office/officeart/2005/8/layout/vList2"/>
    <dgm:cxn modelId="{8BB6084E-A7A0-4EF9-A5C9-0157B0C9A5C1}" type="presParOf" srcId="{0D9A1097-8296-4D7F-B458-915D80071DB3}" destId="{6722BF42-A1DA-4EA4-8E52-EE814C955F98}" srcOrd="4" destOrd="0" presId="urn:microsoft.com/office/officeart/2005/8/layout/vList2"/>
    <dgm:cxn modelId="{739C264E-5C5C-46F2-A7D9-2D769A85FBB8}" type="presParOf" srcId="{0D9A1097-8296-4D7F-B458-915D80071DB3}" destId="{53950EAD-3473-42CF-B19E-5FB8AE1F09C4}" srcOrd="5" destOrd="0" presId="urn:microsoft.com/office/officeart/2005/8/layout/vList2"/>
    <dgm:cxn modelId="{BAF8F725-1DB5-41AA-8841-BD22A3F9901F}" type="presParOf" srcId="{0D9A1097-8296-4D7F-B458-915D80071DB3}" destId="{59107FCD-BA60-49CE-B176-4DD6D0383DF1}" srcOrd="6" destOrd="0" presId="urn:microsoft.com/office/officeart/2005/8/layout/vList2"/>
    <dgm:cxn modelId="{17BA0BA7-3BF0-4F62-AFE2-115589718AC8}" type="presParOf" srcId="{0D9A1097-8296-4D7F-B458-915D80071DB3}" destId="{2BC5234D-D673-4CEF-A34A-824194C63DFC}" srcOrd="7" destOrd="0" presId="urn:microsoft.com/office/officeart/2005/8/layout/vList2"/>
    <dgm:cxn modelId="{92A247DD-2CED-41A0-A11C-7B82EFD46684}" type="presParOf" srcId="{0D9A1097-8296-4D7F-B458-915D80071DB3}" destId="{530A2E66-BB9F-4B28-9946-C4C2A844F5F9}" srcOrd="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595CD9-C75B-403C-9163-18D50F897915}">
      <dsp:nvSpPr>
        <dsp:cNvPr id="0" name=""/>
        <dsp:cNvSpPr/>
      </dsp:nvSpPr>
      <dsp:spPr>
        <a:xfrm>
          <a:off x="0" y="11491"/>
          <a:ext cx="9724031" cy="62361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t>ELGIN $</a:t>
          </a:r>
          <a:r>
            <a:rPr lang="en-US" sz="2600" kern="1200">
              <a:latin typeface="Calibri Light" panose="020F0302020204030204"/>
            </a:rPr>
            <a:t>1000+</a:t>
          </a:r>
          <a:endParaRPr lang="en-US" sz="2600" kern="1200"/>
        </a:p>
      </dsp:txBody>
      <dsp:txXfrm>
        <a:off x="30442" y="41933"/>
        <a:ext cx="9663147" cy="562726"/>
      </dsp:txXfrm>
    </dsp:sp>
    <dsp:sp modelId="{C32B4423-53FD-4839-BE6B-103291DB76EB}">
      <dsp:nvSpPr>
        <dsp:cNvPr id="0" name=""/>
        <dsp:cNvSpPr/>
      </dsp:nvSpPr>
      <dsp:spPr>
        <a:xfrm>
          <a:off x="0" y="709982"/>
          <a:ext cx="9724031" cy="62361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rtl="0">
            <a:lnSpc>
              <a:spcPct val="90000"/>
            </a:lnSpc>
            <a:spcBef>
              <a:spcPct val="0"/>
            </a:spcBef>
            <a:spcAft>
              <a:spcPct val="35000"/>
            </a:spcAft>
            <a:buNone/>
          </a:pPr>
          <a:r>
            <a:rPr lang="en-US" sz="2600" kern="1200"/>
            <a:t>BIODEX </a:t>
          </a:r>
          <a:r>
            <a:rPr lang="en-US" sz="2600" kern="1200">
              <a:latin typeface="Calibri Light" panose="020F0302020204030204"/>
            </a:rPr>
            <a:t>average price $18000</a:t>
          </a:r>
          <a:endParaRPr lang="en-US" sz="2600" kern="1200"/>
        </a:p>
      </dsp:txBody>
      <dsp:txXfrm>
        <a:off x="30442" y="740424"/>
        <a:ext cx="9663147" cy="562726"/>
      </dsp:txXfrm>
    </dsp:sp>
    <dsp:sp modelId="{87C97C0C-157D-49DE-9385-829BA8C61788}">
      <dsp:nvSpPr>
        <dsp:cNvPr id="0" name=""/>
        <dsp:cNvSpPr/>
      </dsp:nvSpPr>
      <dsp:spPr>
        <a:xfrm>
          <a:off x="0" y="1408472"/>
          <a:ext cx="9724031" cy="62361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t>MEDISPORT $1000+</a:t>
          </a:r>
        </a:p>
      </dsp:txBody>
      <dsp:txXfrm>
        <a:off x="30442" y="1438914"/>
        <a:ext cx="9663147" cy="562726"/>
      </dsp:txXfrm>
    </dsp:sp>
    <dsp:sp modelId="{DB736841-0403-48D1-8D34-6E49EB6164B1}">
      <dsp:nvSpPr>
        <dsp:cNvPr id="0" name=""/>
        <dsp:cNvSpPr/>
      </dsp:nvSpPr>
      <dsp:spPr>
        <a:xfrm>
          <a:off x="0" y="2106962"/>
          <a:ext cx="9724031" cy="62361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rtl="0">
            <a:lnSpc>
              <a:spcPct val="90000"/>
            </a:lnSpc>
            <a:spcBef>
              <a:spcPct val="0"/>
            </a:spcBef>
            <a:spcAft>
              <a:spcPct val="35000"/>
            </a:spcAft>
            <a:buNone/>
          </a:pPr>
          <a:r>
            <a:rPr lang="en-US" sz="2600" kern="1200">
              <a:latin typeface="Calibri Light" panose="020F0302020204030204"/>
            </a:rPr>
            <a:t>Smith and Nephew $6400+</a:t>
          </a:r>
          <a:endParaRPr lang="en-US" sz="2600" kern="1200"/>
        </a:p>
      </dsp:txBody>
      <dsp:txXfrm>
        <a:off x="30442" y="2137404"/>
        <a:ext cx="9663147" cy="56272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2E0AE52-8372-435D-B964-D1E6C58D690D}">
      <dsp:nvSpPr>
        <dsp:cNvPr id="0" name=""/>
        <dsp:cNvSpPr/>
      </dsp:nvSpPr>
      <dsp:spPr>
        <a:xfrm>
          <a:off x="0" y="24536"/>
          <a:ext cx="9724031" cy="45571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FDA regulations</a:t>
          </a:r>
        </a:p>
      </dsp:txBody>
      <dsp:txXfrm>
        <a:off x="22246" y="46782"/>
        <a:ext cx="9679539" cy="411223"/>
      </dsp:txXfrm>
    </dsp:sp>
    <dsp:sp modelId="{9041D4D9-5B71-46C8-92F9-AA83EEC3D82A}">
      <dsp:nvSpPr>
        <dsp:cNvPr id="0" name=""/>
        <dsp:cNvSpPr/>
      </dsp:nvSpPr>
      <dsp:spPr>
        <a:xfrm>
          <a:off x="0" y="534971"/>
          <a:ext cx="9724031" cy="45571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NCAA regulations </a:t>
          </a:r>
        </a:p>
      </dsp:txBody>
      <dsp:txXfrm>
        <a:off x="22246" y="557217"/>
        <a:ext cx="9679539" cy="411223"/>
      </dsp:txXfrm>
    </dsp:sp>
    <dsp:sp modelId="{02E99CAC-BC7F-4D4A-A504-7B4A4029FDCF}">
      <dsp:nvSpPr>
        <dsp:cNvPr id="0" name=""/>
        <dsp:cNvSpPr/>
      </dsp:nvSpPr>
      <dsp:spPr>
        <a:xfrm>
          <a:off x="0" y="1045406"/>
          <a:ext cx="9724031" cy="45571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Foot and Ankle Special Interest Group Guidelines</a:t>
          </a:r>
        </a:p>
      </dsp:txBody>
      <dsp:txXfrm>
        <a:off x="22246" y="1067652"/>
        <a:ext cx="9679539" cy="411223"/>
      </dsp:txXfrm>
    </dsp:sp>
    <dsp:sp modelId="{FEE38086-0151-4DE7-B52C-F0BC602AD3F0}">
      <dsp:nvSpPr>
        <dsp:cNvPr id="0" name=""/>
        <dsp:cNvSpPr/>
      </dsp:nvSpPr>
      <dsp:spPr>
        <a:xfrm>
          <a:off x="0" y="1555842"/>
          <a:ext cx="9724031" cy="45571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American Physical Therapy Association</a:t>
          </a:r>
        </a:p>
      </dsp:txBody>
      <dsp:txXfrm>
        <a:off x="22246" y="1578088"/>
        <a:ext cx="9679539" cy="41122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1093D3-C75D-4729-8A6B-61D6C8AD0C69}">
      <dsp:nvSpPr>
        <dsp:cNvPr id="0" name=""/>
        <dsp:cNvSpPr/>
      </dsp:nvSpPr>
      <dsp:spPr>
        <a:xfrm>
          <a:off x="0" y="395783"/>
          <a:ext cx="9724031" cy="52767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Sports Medicine Industry is rapidly growing</a:t>
          </a:r>
        </a:p>
      </dsp:txBody>
      <dsp:txXfrm>
        <a:off x="25759" y="421542"/>
        <a:ext cx="9672513" cy="476152"/>
      </dsp:txXfrm>
    </dsp:sp>
    <dsp:sp modelId="{2283012D-DB57-4A28-B489-2E3D0052B8BA}">
      <dsp:nvSpPr>
        <dsp:cNvPr id="0" name=""/>
        <dsp:cNvSpPr/>
      </dsp:nvSpPr>
      <dsp:spPr>
        <a:xfrm>
          <a:off x="0" y="986813"/>
          <a:ext cx="9724031" cy="52767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Universities have the most disposable income</a:t>
          </a:r>
        </a:p>
      </dsp:txBody>
      <dsp:txXfrm>
        <a:off x="25759" y="1012572"/>
        <a:ext cx="9672513" cy="476152"/>
      </dsp:txXfrm>
    </dsp:sp>
    <dsp:sp modelId="{6722BF42-A1DA-4EA4-8E52-EE814C955F98}">
      <dsp:nvSpPr>
        <dsp:cNvPr id="0" name=""/>
        <dsp:cNvSpPr/>
      </dsp:nvSpPr>
      <dsp:spPr>
        <a:xfrm>
          <a:off x="0" y="1577844"/>
          <a:ext cx="9724031" cy="52767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rtl="0">
            <a:lnSpc>
              <a:spcPct val="90000"/>
            </a:lnSpc>
            <a:spcBef>
              <a:spcPct val="0"/>
            </a:spcBef>
            <a:spcAft>
              <a:spcPct val="35000"/>
            </a:spcAft>
            <a:buNone/>
          </a:pPr>
          <a:r>
            <a:rPr lang="en-US" sz="2200" kern="1200">
              <a:latin typeface="Calibri Light" panose="020F0302020204030204"/>
            </a:rPr>
            <a:t>Various regulations to follow pertaining</a:t>
          </a:r>
          <a:r>
            <a:rPr lang="en-US" sz="2200" kern="1200"/>
            <a:t> ankle support products in universities </a:t>
          </a:r>
        </a:p>
      </dsp:txBody>
      <dsp:txXfrm>
        <a:off x="25759" y="1603603"/>
        <a:ext cx="9672513" cy="476152"/>
      </dsp:txXfrm>
    </dsp:sp>
    <dsp:sp modelId="{59107FCD-BA60-49CE-B176-4DD6D0383DF1}">
      <dsp:nvSpPr>
        <dsp:cNvPr id="0" name=""/>
        <dsp:cNvSpPr/>
      </dsp:nvSpPr>
      <dsp:spPr>
        <a:xfrm>
          <a:off x="0" y="2168874"/>
          <a:ext cx="9724031" cy="52767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latin typeface="Calibri Light" panose="020F0302020204030204"/>
            </a:rPr>
            <a:t>Need</a:t>
          </a:r>
          <a:r>
            <a:rPr lang="en-US" sz="2200" kern="1200"/>
            <a:t> to advertise and market the product from sports studies to student athletes</a:t>
          </a:r>
        </a:p>
      </dsp:txBody>
      <dsp:txXfrm>
        <a:off x="25759" y="2194633"/>
        <a:ext cx="9672513" cy="476152"/>
      </dsp:txXfrm>
    </dsp:sp>
    <dsp:sp modelId="{530A2E66-BB9F-4B28-9946-C4C2A844F5F9}">
      <dsp:nvSpPr>
        <dsp:cNvPr id="0" name=""/>
        <dsp:cNvSpPr/>
      </dsp:nvSpPr>
      <dsp:spPr>
        <a:xfrm>
          <a:off x="0" y="2759904"/>
          <a:ext cx="9724031" cy="52767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Various grant and joint ventures opportunities </a:t>
          </a:r>
        </a:p>
      </dsp:txBody>
      <dsp:txXfrm>
        <a:off x="25759" y="2785663"/>
        <a:ext cx="9672513" cy="476152"/>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0BCD407-1EFF-49D9-9958-5722844C0B50}" type="datetimeFigureOut">
              <a:t>7/3/2022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418CDD-9296-4981-976F-3E351C8C7054}" type="slidenum">
              <a:t>‹#›</a:t>
            </a:fld>
            <a:endParaRPr lang="en-US"/>
          </a:p>
        </p:txBody>
      </p:sp>
    </p:spTree>
    <p:extLst>
      <p:ext uri="{BB962C8B-B14F-4D97-AF65-F5344CB8AC3E}">
        <p14:creationId xmlns:p14="http://schemas.microsoft.com/office/powerpoint/2010/main" val="13275458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www.northeastspineandsports.com/blog/the-history-of-sports-medicine/"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www.northeastspineandsports.com/blog/the-history-of-sports-medicine/" TargetMode="External"/><Relationship Id="rId2" Type="http://schemas.openxmlformats.org/officeDocument/2006/relationships/slide" Target="../slides/slide4.xml"/><Relationship Id="rId1" Type="http://schemas.openxmlformats.org/officeDocument/2006/relationships/notesMaster" Target="../notesMasters/notesMaster1.xml"/><Relationship Id="rId4" Type="http://schemas.openxmlformats.org/officeDocument/2006/relationships/hyperlink" Target="https://www.grandviewresearch.com/industry-analysis/sports-medicine-industry" TargetMode="Externa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thecampanile.org/2020/02/16/different-countries-place-cultural-emphasis-on-specific-sports/" TargetMode="Externa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ppsapta.org/sl_files/1FB60FE7-5056-A04E-371B71A3FD1B4F08.pdf" TargetMode="External"/><Relationship Id="rId2" Type="http://schemas.openxmlformats.org/officeDocument/2006/relationships/slide" Target="../slides/slide6.xml"/><Relationship Id="rId1" Type="http://schemas.openxmlformats.org/officeDocument/2006/relationships/notesMaster" Target="../notesMasters/notesMaster1.xml"/><Relationship Id="rId6" Type="http://schemas.openxmlformats.org/officeDocument/2006/relationships/hyperlink" Target="https://www.stack.com/a/expensive-college-athletic-training-facilities/" TargetMode="External"/><Relationship Id="rId5" Type="http://schemas.openxmlformats.org/officeDocument/2006/relationships/hyperlink" Target="https://www.clubindustry.com/sponsored/how-to-maximize-your-equipment-investment#:~:text=Although%20it%20varies%20by%20facility,lasts%2010%20years%20or%20more" TargetMode="External"/><Relationship Id="rId4" Type="http://schemas.openxmlformats.org/officeDocument/2006/relationships/hyperlink" Target="https://www.fitnessexpostores.com/list-of-top-commonly-used-commercial-gym-equipment/" TargetMode="Externa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Kaylee </a:t>
            </a:r>
            <a:endParaRPr lang="en-US"/>
          </a:p>
          <a:p>
            <a:r>
              <a:rPr lang="en-US">
                <a:hlinkClick r:id="rId3"/>
              </a:rPr>
              <a:t>https://www.northeastspineandsports.com/blog/the-history-of-sports-medicine/</a:t>
            </a:r>
            <a:endParaRPr lang="en-US">
              <a:cs typeface="Calibri"/>
            </a:endParaRPr>
          </a:p>
          <a:p>
            <a:endParaRPr lang="en-US">
              <a:cs typeface="Calibri"/>
            </a:endParaRPr>
          </a:p>
        </p:txBody>
      </p:sp>
      <p:sp>
        <p:nvSpPr>
          <p:cNvPr id="4" name="Slide Number Placeholder 3"/>
          <p:cNvSpPr>
            <a:spLocks noGrp="1"/>
          </p:cNvSpPr>
          <p:nvPr>
            <p:ph type="sldNum" sz="quarter" idx="5"/>
          </p:nvPr>
        </p:nvSpPr>
        <p:spPr/>
        <p:txBody>
          <a:bodyPr/>
          <a:lstStyle/>
          <a:p>
            <a:fld id="{0E418CDD-9296-4981-976F-3E351C8C7054}" type="slidenum">
              <a:t>3</a:t>
            </a:fld>
            <a:endParaRPr lang="en-US"/>
          </a:p>
        </p:txBody>
      </p:sp>
    </p:spTree>
    <p:extLst>
      <p:ext uri="{BB962C8B-B14F-4D97-AF65-F5344CB8AC3E}">
        <p14:creationId xmlns:p14="http://schemas.microsoft.com/office/powerpoint/2010/main" val="5679099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Kaylee </a:t>
            </a:r>
            <a:endParaRPr lang="en-US"/>
          </a:p>
          <a:p>
            <a:r>
              <a:rPr lang="en-US">
                <a:hlinkClick r:id="rId3"/>
              </a:rPr>
              <a:t>https://www.northeastspineandsports.com/blog/the-history-of-sports-medicine/</a:t>
            </a:r>
            <a:endParaRPr lang="en-US">
              <a:cs typeface="Calibri" panose="020F0502020204030204"/>
            </a:endParaRPr>
          </a:p>
          <a:p>
            <a:r>
              <a:rPr lang="en-US">
                <a:hlinkClick r:id="rId4"/>
              </a:rPr>
              <a:t>https://www.grandviewresearch.com/industry-analysis/sports-medicine-industry</a:t>
            </a:r>
            <a:endParaRPr lang="en-US"/>
          </a:p>
          <a:p>
            <a:endParaRPr lang="en-US"/>
          </a:p>
          <a:p>
            <a:endParaRPr lang="en-US">
              <a:cs typeface="Calibri"/>
            </a:endParaRPr>
          </a:p>
        </p:txBody>
      </p:sp>
      <p:sp>
        <p:nvSpPr>
          <p:cNvPr id="4" name="Slide Number Placeholder 3"/>
          <p:cNvSpPr>
            <a:spLocks noGrp="1"/>
          </p:cNvSpPr>
          <p:nvPr>
            <p:ph type="sldNum" sz="quarter" idx="5"/>
          </p:nvPr>
        </p:nvSpPr>
        <p:spPr/>
        <p:txBody>
          <a:bodyPr/>
          <a:lstStyle/>
          <a:p>
            <a:fld id="{0E418CDD-9296-4981-976F-3E351C8C7054}" type="slidenum">
              <a:t>4</a:t>
            </a:fld>
            <a:endParaRPr lang="en-US"/>
          </a:p>
        </p:txBody>
      </p:sp>
    </p:spTree>
    <p:extLst>
      <p:ext uri="{BB962C8B-B14F-4D97-AF65-F5344CB8AC3E}">
        <p14:creationId xmlns:p14="http://schemas.microsoft.com/office/powerpoint/2010/main" val="4984426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Kaylee </a:t>
            </a:r>
          </a:p>
          <a:p>
            <a:r>
              <a:rPr lang="en-US">
                <a:hlinkClick r:id="rId3"/>
              </a:rPr>
              <a:t>https://thecampanile.org/2020/02/16/different-countries-place-cultural-emphasis-on-specific-sports/</a:t>
            </a:r>
            <a:endParaRPr lang="en-US">
              <a:cs typeface="Calibri"/>
              <a:hlinkClick r:id="rId3"/>
            </a:endParaRPr>
          </a:p>
          <a:p>
            <a:r>
              <a:rPr lang="en-US">
                <a:hlinkClick r:id="rId3"/>
              </a:rPr>
              <a:t>https://thecampanile.org/2020/02/16/different-countries-place-cultural-emphasis-on-specific-sports/</a:t>
            </a:r>
            <a:endParaRPr lang="en-US">
              <a:cs typeface="Calibri"/>
              <a:hlinkClick r:id="rId3"/>
            </a:endParaRPr>
          </a:p>
          <a:p>
            <a:endParaRPr lang="en-US">
              <a:cs typeface="Calibri"/>
            </a:endParaRPr>
          </a:p>
        </p:txBody>
      </p:sp>
      <p:sp>
        <p:nvSpPr>
          <p:cNvPr id="4" name="Slide Number Placeholder 3"/>
          <p:cNvSpPr>
            <a:spLocks noGrp="1"/>
          </p:cNvSpPr>
          <p:nvPr>
            <p:ph type="sldNum" sz="quarter" idx="5"/>
          </p:nvPr>
        </p:nvSpPr>
        <p:spPr/>
        <p:txBody>
          <a:bodyPr/>
          <a:lstStyle/>
          <a:p>
            <a:fld id="{0E418CDD-9296-4981-976F-3E351C8C7054}" type="slidenum">
              <a:rPr lang="en-US"/>
              <a:t>5</a:t>
            </a:fld>
            <a:endParaRPr lang="en-US"/>
          </a:p>
        </p:txBody>
      </p:sp>
    </p:spTree>
    <p:extLst>
      <p:ext uri="{BB962C8B-B14F-4D97-AF65-F5344CB8AC3E}">
        <p14:creationId xmlns:p14="http://schemas.microsoft.com/office/powerpoint/2010/main" val="12267672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hlinkClick r:id="rId3"/>
              </a:rPr>
              <a:t>1FB60FE7-5056-A04E-371B71A3FD1B4F08.pdf (ppsapta.org)</a:t>
            </a:r>
          </a:p>
          <a:p>
            <a:r>
              <a:rPr lang="en-US">
                <a:hlinkClick r:id="rId4"/>
              </a:rPr>
              <a:t>The 10 Commonly Used Commercial Gym Equipment | Fitness Expo (fitnessexpostores.com)</a:t>
            </a:r>
            <a:endParaRPr lang="en-US"/>
          </a:p>
          <a:p>
            <a:endParaRPr lang="en-US">
              <a:cs typeface="Calibri"/>
            </a:endParaRPr>
          </a:p>
          <a:p>
            <a:r>
              <a:rPr lang="en-US">
                <a:hlinkClick r:id="rId5"/>
              </a:rPr>
              <a:t>https://www.clubindustry.com/sponsored/how-to-maximize-your-equipment-investment#:~:text=Although%20it%20varies%20by%20facility,lasts%2010%20years%20or%20more</a:t>
            </a:r>
            <a:r>
              <a:rPr lang="en-US"/>
              <a:t>.</a:t>
            </a:r>
            <a:endParaRPr lang="en-US">
              <a:cs typeface="Calibri"/>
            </a:endParaRPr>
          </a:p>
          <a:p>
            <a:endParaRPr lang="en-US">
              <a:cs typeface="Calibri"/>
            </a:endParaRPr>
          </a:p>
          <a:p>
            <a:r>
              <a:rPr lang="en-US">
                <a:hlinkClick r:id="rId6"/>
              </a:rPr>
              <a:t>https://www.stack.com/a/expensive-college-athletic-training-facilities/</a:t>
            </a:r>
            <a:endParaRPr lang="en-US">
              <a:cs typeface="Calibri"/>
              <a:hlinkClick r:id="rId6"/>
            </a:endParaRPr>
          </a:p>
          <a:p>
            <a:endParaRPr lang="en-US">
              <a:cs typeface="Calibri"/>
            </a:endParaRPr>
          </a:p>
        </p:txBody>
      </p:sp>
      <p:sp>
        <p:nvSpPr>
          <p:cNvPr id="4" name="Slide Number Placeholder 3"/>
          <p:cNvSpPr>
            <a:spLocks noGrp="1"/>
          </p:cNvSpPr>
          <p:nvPr>
            <p:ph type="sldNum" sz="quarter" idx="5"/>
          </p:nvPr>
        </p:nvSpPr>
        <p:spPr/>
        <p:txBody>
          <a:bodyPr/>
          <a:lstStyle/>
          <a:p>
            <a:fld id="{0E418CDD-9296-4981-976F-3E351C8C7054}" type="slidenum">
              <a:rPr lang="en-US"/>
              <a:t>6</a:t>
            </a:fld>
            <a:endParaRPr lang="en-US"/>
          </a:p>
        </p:txBody>
      </p:sp>
    </p:spTree>
    <p:extLst>
      <p:ext uri="{BB962C8B-B14F-4D97-AF65-F5344CB8AC3E}">
        <p14:creationId xmlns:p14="http://schemas.microsoft.com/office/powerpoint/2010/main" val="3933215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JON </a:t>
            </a:r>
            <a:endParaRPr lang="en-US"/>
          </a:p>
          <a:p>
            <a:endParaRPr lang="en-US"/>
          </a:p>
          <a:p>
            <a:r>
              <a:rPr lang="en-US"/>
              <a:t>TARGET SCHOOLS DOING STUDIES </a:t>
            </a:r>
          </a:p>
          <a:p>
            <a:endParaRPr lang="en-US"/>
          </a:p>
          <a:p>
            <a:r>
              <a:rPr lang="en-US"/>
              <a:t>Researchers from LLU identified an alternative approach to help clinicians examine and treat patients with chronic lateral ankle sprains and instability. They found that muscular impairments in the hip are associated with abnormal movement patterns in those individuals with chronic ankle sprains.</a:t>
            </a:r>
          </a:p>
          <a:p>
            <a:pPr>
              <a:lnSpc>
                <a:spcPct val="90000"/>
              </a:lnSpc>
              <a:spcBef>
                <a:spcPts val="1000"/>
              </a:spcBef>
            </a:pPr>
            <a:endParaRPr lang="en-US">
              <a:cs typeface="Calibri"/>
            </a:endParaRPr>
          </a:p>
          <a:p>
            <a:endParaRPr lang="en-US">
              <a:cs typeface="Calibri"/>
            </a:endParaRPr>
          </a:p>
        </p:txBody>
      </p:sp>
      <p:sp>
        <p:nvSpPr>
          <p:cNvPr id="4" name="Slide Number Placeholder 3"/>
          <p:cNvSpPr>
            <a:spLocks noGrp="1"/>
          </p:cNvSpPr>
          <p:nvPr>
            <p:ph type="sldNum" sz="quarter" idx="5"/>
          </p:nvPr>
        </p:nvSpPr>
        <p:spPr/>
        <p:txBody>
          <a:bodyPr/>
          <a:lstStyle/>
          <a:p>
            <a:fld id="{0E418CDD-9296-4981-976F-3E351C8C7054}" type="slidenum">
              <a:rPr lang="en-US"/>
              <a:t>7</a:t>
            </a:fld>
            <a:endParaRPr lang="en-US"/>
          </a:p>
        </p:txBody>
      </p:sp>
    </p:spTree>
    <p:extLst>
      <p:ext uri="{BB962C8B-B14F-4D97-AF65-F5344CB8AC3E}">
        <p14:creationId xmlns:p14="http://schemas.microsoft.com/office/powerpoint/2010/main" val="40486638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lnSpc>
                <a:spcPct val="90000"/>
              </a:lnSpc>
              <a:spcBef>
                <a:spcPts val="1000"/>
              </a:spcBef>
            </a:pPr>
            <a:r>
              <a:rPr lang="en-US">
                <a:cs typeface="Calibri"/>
              </a:rPr>
              <a:t>JON</a:t>
            </a:r>
          </a:p>
        </p:txBody>
      </p:sp>
      <p:sp>
        <p:nvSpPr>
          <p:cNvPr id="4" name="Slide Number Placeholder 3"/>
          <p:cNvSpPr>
            <a:spLocks noGrp="1"/>
          </p:cNvSpPr>
          <p:nvPr>
            <p:ph type="sldNum" sz="quarter" idx="5"/>
          </p:nvPr>
        </p:nvSpPr>
        <p:spPr/>
        <p:txBody>
          <a:bodyPr/>
          <a:lstStyle/>
          <a:p>
            <a:fld id="{0E418CDD-9296-4981-976F-3E351C8C7054}" type="slidenum">
              <a:rPr lang="en-US"/>
              <a:t>8</a:t>
            </a:fld>
            <a:endParaRPr lang="en-US"/>
          </a:p>
        </p:txBody>
      </p:sp>
    </p:spTree>
    <p:extLst>
      <p:ext uri="{BB962C8B-B14F-4D97-AF65-F5344CB8AC3E}">
        <p14:creationId xmlns:p14="http://schemas.microsoft.com/office/powerpoint/2010/main" val="26425558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JON</a:t>
            </a:r>
            <a:endParaRPr lang="en-US"/>
          </a:p>
          <a:p>
            <a:endParaRPr lang="en-US"/>
          </a:p>
          <a:p>
            <a:r>
              <a:rPr lang="en-US"/>
              <a:t>Add in notes what differentiate competitors from free joint</a:t>
            </a:r>
            <a:endParaRPr lang="en-US">
              <a:cs typeface="Calibri" panose="020F0502020204030204"/>
            </a:endParaRPr>
          </a:p>
          <a:p>
            <a:r>
              <a:rPr lang="en-US">
                <a:cs typeface="Calibri" panose="020F0502020204030204"/>
              </a:rPr>
              <a:t>TOP 5 COMPETITORS </a:t>
            </a:r>
          </a:p>
          <a:p>
            <a:endParaRPr lang="en-US">
              <a:cs typeface="Calibri" panose="020F0502020204030204"/>
            </a:endParaRPr>
          </a:p>
          <a:p>
            <a:r>
              <a:rPr lang="en-US">
                <a:cs typeface="Calibri" panose="020F0502020204030204"/>
              </a:rPr>
              <a:t>ELGIN: product is roughly 5k cheaper not as advanced as Free Joint Motion. Not computerized, not as intuitive, rotating motion on a platform </a:t>
            </a:r>
          </a:p>
          <a:p>
            <a:r>
              <a:rPr lang="en-US">
                <a:cs typeface="Calibri" panose="020F0502020204030204"/>
              </a:rPr>
              <a:t>BIODEX: costly, powered by windows 10 not own software, touchscreen, can help other parts below the hip area</a:t>
            </a:r>
          </a:p>
          <a:p>
            <a:pPr algn="just"/>
            <a:r>
              <a:rPr lang="en-US">
                <a:cs typeface="Calibri" panose="020F0502020204030204"/>
              </a:rPr>
              <a:t>MEDISPORT: Computer is built into the device, not as intuitive as free joint motion, MEDSLIPPER supports Articular and muscular contusions, </a:t>
            </a:r>
            <a:r>
              <a:rPr lang="en-US" i="1">
                <a:cs typeface="Calibri"/>
              </a:rPr>
              <a:t>Fractures, Muscle</a:t>
            </a:r>
            <a:r>
              <a:rPr lang="en-US" i="1"/>
              <a:t> sprains</a:t>
            </a:r>
            <a:endParaRPr lang="en-US">
              <a:cs typeface="Calibri"/>
            </a:endParaRPr>
          </a:p>
          <a:p>
            <a:r>
              <a:rPr lang="en-US">
                <a:cs typeface="Calibri"/>
              </a:rPr>
              <a:t>SMITH AND NEPHEW: Simple to use, military grade quality, ergonomic design, can help message hip </a:t>
            </a:r>
          </a:p>
          <a:p>
            <a:endParaRPr lang="en-US">
              <a:cs typeface="Calibri"/>
            </a:endParaRPr>
          </a:p>
        </p:txBody>
      </p:sp>
      <p:sp>
        <p:nvSpPr>
          <p:cNvPr id="4" name="Slide Number Placeholder 3"/>
          <p:cNvSpPr>
            <a:spLocks noGrp="1"/>
          </p:cNvSpPr>
          <p:nvPr>
            <p:ph type="sldNum" sz="quarter" idx="5"/>
          </p:nvPr>
        </p:nvSpPr>
        <p:spPr/>
        <p:txBody>
          <a:bodyPr/>
          <a:lstStyle/>
          <a:p>
            <a:fld id="{0E418CDD-9296-4981-976F-3E351C8C7054}" type="slidenum">
              <a:rPr lang="en-US"/>
              <a:t>9</a:t>
            </a:fld>
            <a:endParaRPr lang="en-US"/>
          </a:p>
        </p:txBody>
      </p:sp>
    </p:spTree>
    <p:extLst>
      <p:ext uri="{BB962C8B-B14F-4D97-AF65-F5344CB8AC3E}">
        <p14:creationId xmlns:p14="http://schemas.microsoft.com/office/powerpoint/2010/main" val="30559353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90000"/>
              </a:lnSpc>
              <a:spcBef>
                <a:spcPts val="1000"/>
              </a:spcBef>
            </a:pPr>
            <a:r>
              <a:rPr lang="en-US">
                <a:cs typeface="Calibri"/>
              </a:rPr>
              <a:t>JON</a:t>
            </a:r>
            <a:endParaRPr lang="en-US"/>
          </a:p>
          <a:p>
            <a:pPr marL="285750" indent="-285750">
              <a:lnSpc>
                <a:spcPct val="90000"/>
              </a:lnSpc>
              <a:spcBef>
                <a:spcPts val="1000"/>
              </a:spcBef>
              <a:buFont typeface="Arial"/>
              <a:buChar char="•"/>
            </a:pPr>
            <a:r>
              <a:rPr lang="en-US">
                <a:cs typeface="Calibri"/>
              </a:rPr>
              <a:t>To sell medical devices in the U.S it is an 11 step process </a:t>
            </a:r>
          </a:p>
          <a:p>
            <a:pPr marL="285750" indent="-285750">
              <a:lnSpc>
                <a:spcPct val="90000"/>
              </a:lnSpc>
              <a:spcBef>
                <a:spcPts val="1000"/>
              </a:spcBef>
              <a:buFont typeface="Arial"/>
              <a:buChar char="•"/>
            </a:pPr>
            <a:r>
              <a:rPr lang="en-US">
                <a:cs typeface="Calibri"/>
              </a:rPr>
              <a:t>Some important aspects to look at are </a:t>
            </a:r>
          </a:p>
          <a:p>
            <a:pPr marL="742950" lvl="1" indent="-285750">
              <a:lnSpc>
                <a:spcPct val="90000"/>
              </a:lnSpc>
              <a:spcBef>
                <a:spcPts val="1000"/>
              </a:spcBef>
              <a:buFont typeface="Arial"/>
              <a:buChar char="•"/>
            </a:pPr>
            <a:r>
              <a:rPr lang="en-US">
                <a:cs typeface="Calibri"/>
              </a:rPr>
              <a:t>Determine the classification of the medical device (what class of the device does it fall in class 1,2 or 3) </a:t>
            </a:r>
          </a:p>
          <a:p>
            <a:pPr marL="742950" lvl="1" indent="-285750">
              <a:lnSpc>
                <a:spcPct val="90000"/>
              </a:lnSpc>
              <a:spcBef>
                <a:spcPts val="1000"/>
              </a:spcBef>
              <a:buFont typeface="Arial"/>
              <a:buChar char="•"/>
            </a:pPr>
            <a:r>
              <a:rPr lang="en-US">
                <a:cs typeface="Calibri"/>
              </a:rPr>
              <a:t>What clinical studies are required</a:t>
            </a:r>
          </a:p>
          <a:p>
            <a:pPr marL="742950" lvl="1" indent="-285750">
              <a:lnSpc>
                <a:spcPct val="90000"/>
              </a:lnSpc>
              <a:spcBef>
                <a:spcPts val="1000"/>
              </a:spcBef>
              <a:buFont typeface="Arial"/>
              <a:buChar char="•"/>
            </a:pPr>
            <a:r>
              <a:rPr lang="en-US">
                <a:cs typeface="Calibri"/>
              </a:rPr>
              <a:t>After deciding what class the device is in each class has its own procedures and documents that need be followed through </a:t>
            </a:r>
          </a:p>
          <a:p>
            <a:pPr marL="742950" lvl="1" indent="-285750">
              <a:lnSpc>
                <a:spcPct val="90000"/>
              </a:lnSpc>
              <a:spcBef>
                <a:spcPts val="1000"/>
              </a:spcBef>
              <a:buFont typeface="Arial"/>
              <a:buChar char="•"/>
            </a:pPr>
            <a:r>
              <a:rPr lang="en-US">
                <a:cs typeface="Calibri"/>
              </a:rPr>
              <a:t>Follow the compliance of the FDA and QUALITY AND SAFETY REVIEW </a:t>
            </a:r>
          </a:p>
          <a:p>
            <a:pPr marL="742950" lvl="1" indent="-285750">
              <a:lnSpc>
                <a:spcPct val="90000"/>
              </a:lnSpc>
              <a:spcBef>
                <a:spcPts val="1000"/>
              </a:spcBef>
              <a:buFont typeface="Arial"/>
              <a:buChar char="•"/>
            </a:pPr>
            <a:r>
              <a:rPr lang="en-US">
                <a:cs typeface="Calibri"/>
              </a:rPr>
              <a:t>Follow the state guidelines if designated state does not have regulations regarding medical device then seek federal agent representative to stay compliant and in contact with FDA</a:t>
            </a:r>
          </a:p>
          <a:p>
            <a:pPr marL="742950" lvl="1" indent="-285750">
              <a:lnSpc>
                <a:spcPct val="90000"/>
              </a:lnSpc>
              <a:spcBef>
                <a:spcPts val="1000"/>
              </a:spcBef>
              <a:buFont typeface="Arial"/>
              <a:buChar char="•"/>
            </a:pPr>
            <a:r>
              <a:rPr lang="en-US">
                <a:cs typeface="Calibri"/>
              </a:rPr>
              <a:t>Register the device on the FDA WEBSITE  </a:t>
            </a:r>
          </a:p>
          <a:p>
            <a:pPr marL="742950" lvl="1" indent="-285750">
              <a:lnSpc>
                <a:spcPct val="90000"/>
              </a:lnSpc>
              <a:spcBef>
                <a:spcPts val="1000"/>
              </a:spcBef>
              <a:buFont typeface="Arial"/>
              <a:buChar char="•"/>
            </a:pPr>
            <a:r>
              <a:rPr lang="en-US">
                <a:cs typeface="Calibri"/>
              </a:rPr>
              <a:t>If future designs and changes are made have to do it through the FDA site </a:t>
            </a:r>
          </a:p>
          <a:p>
            <a:endParaRPr lang="en-US">
              <a:cs typeface="Calibri"/>
            </a:endParaRPr>
          </a:p>
        </p:txBody>
      </p:sp>
      <p:sp>
        <p:nvSpPr>
          <p:cNvPr id="4" name="Slide Number Placeholder 3"/>
          <p:cNvSpPr>
            <a:spLocks noGrp="1"/>
          </p:cNvSpPr>
          <p:nvPr>
            <p:ph type="sldNum" sz="quarter" idx="5"/>
          </p:nvPr>
        </p:nvSpPr>
        <p:spPr/>
        <p:txBody>
          <a:bodyPr/>
          <a:lstStyle/>
          <a:p>
            <a:fld id="{0E418CDD-9296-4981-976F-3E351C8C7054}" type="slidenum">
              <a:rPr lang="en-US"/>
              <a:t>10</a:t>
            </a:fld>
            <a:endParaRPr lang="en-US"/>
          </a:p>
        </p:txBody>
      </p:sp>
    </p:spTree>
    <p:extLst>
      <p:ext uri="{BB962C8B-B14F-4D97-AF65-F5344CB8AC3E}">
        <p14:creationId xmlns:p14="http://schemas.microsoft.com/office/powerpoint/2010/main" val="1887571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a:buChar char="•"/>
            </a:pPr>
            <a:r>
              <a:rPr lang="en-US"/>
              <a:t>Large Amounts of Capital Can Be Raised. ...</a:t>
            </a:r>
          </a:p>
          <a:p>
            <a:pPr marL="171450" indent="-171450">
              <a:buFont typeface="Arial"/>
              <a:buChar char="•"/>
            </a:pPr>
            <a:r>
              <a:rPr lang="en-US"/>
              <a:t>Can Provide Risk Management Support. ...</a:t>
            </a:r>
            <a:endParaRPr lang="en-US">
              <a:cs typeface="Calibri"/>
            </a:endParaRPr>
          </a:p>
          <a:p>
            <a:pPr marL="171450" indent="-171450">
              <a:buFont typeface="Arial"/>
              <a:buChar char="•"/>
            </a:pPr>
            <a:r>
              <a:rPr lang="en-US"/>
              <a:t>No Monthly Payments. ...</a:t>
            </a:r>
            <a:endParaRPr lang="en-US">
              <a:cs typeface="Calibri"/>
            </a:endParaRPr>
          </a:p>
          <a:p>
            <a:pPr marL="171450" indent="-171450">
              <a:buFont typeface="Arial"/>
              <a:buChar char="•"/>
            </a:pPr>
            <a:r>
              <a:rPr lang="en-US"/>
              <a:t>Personal Assets Don't Need To Be Pledged</a:t>
            </a:r>
            <a:endParaRPr lang="en-US">
              <a:cs typeface="Calibri"/>
            </a:endParaRPr>
          </a:p>
          <a:p>
            <a:endParaRPr lang="en-US">
              <a:cs typeface="Calibri"/>
            </a:endParaRPr>
          </a:p>
          <a:p>
            <a:endParaRPr lang="en-US">
              <a:cs typeface="Calibri"/>
            </a:endParaRPr>
          </a:p>
          <a:p>
            <a:r>
              <a:rPr lang="en-US">
                <a:cs typeface="Calibri"/>
              </a:rPr>
              <a:t>These are a few venture capitalist that are involved sport therapy. </a:t>
            </a:r>
            <a:endParaRPr lang="en-US"/>
          </a:p>
          <a:p>
            <a:endParaRPr lang="en-US">
              <a:cs typeface="Calibri"/>
            </a:endParaRPr>
          </a:p>
          <a:p>
            <a:r>
              <a:rPr lang="en-US">
                <a:cs typeface="Calibri"/>
              </a:rPr>
              <a:t>These companies partner with entrepreneurs who share the same vision to unlock opportunities to improve people's health. </a:t>
            </a:r>
            <a:endParaRPr lang="en-US"/>
          </a:p>
        </p:txBody>
      </p:sp>
      <p:sp>
        <p:nvSpPr>
          <p:cNvPr id="4" name="Slide Number Placeholder 3"/>
          <p:cNvSpPr>
            <a:spLocks noGrp="1"/>
          </p:cNvSpPr>
          <p:nvPr>
            <p:ph type="sldNum" sz="quarter" idx="5"/>
          </p:nvPr>
        </p:nvSpPr>
        <p:spPr/>
        <p:txBody>
          <a:bodyPr/>
          <a:lstStyle/>
          <a:p>
            <a:fld id="{0E418CDD-9296-4981-976F-3E351C8C7054}" type="slidenum">
              <a:rPr lang="en-US"/>
              <a:t>11</a:t>
            </a:fld>
            <a:endParaRPr lang="en-US"/>
          </a:p>
        </p:txBody>
      </p:sp>
    </p:spTree>
    <p:extLst>
      <p:ext uri="{BB962C8B-B14F-4D97-AF65-F5344CB8AC3E}">
        <p14:creationId xmlns:p14="http://schemas.microsoft.com/office/powerpoint/2010/main" val="29318878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There are few grant opportunities: </a:t>
            </a:r>
            <a:endParaRPr lang="en-US"/>
          </a:p>
          <a:p>
            <a:endParaRPr lang="en-US"/>
          </a:p>
          <a:p>
            <a:r>
              <a:rPr lang="en-US">
                <a:cs typeface="Calibri"/>
              </a:rPr>
              <a:t>Playmaker Grant: </a:t>
            </a:r>
            <a:r>
              <a:rPr lang="en-US"/>
              <a:t>This research grant of up to $50,000 total aims to help fund ambitious, exploratory, and ground-breaking projects in </a:t>
            </a:r>
            <a:r>
              <a:rPr lang="en-US" err="1"/>
              <a:t>orthopaedic</a:t>
            </a:r>
            <a:r>
              <a:rPr lang="en-US"/>
              <a:t> sports medicine. Criteria and metrics utilized in the proposed study must be determined by the best scientific evidence and designed to improve the understanding of emerging or novel technology in </a:t>
            </a:r>
            <a:r>
              <a:rPr lang="en-US" err="1"/>
              <a:t>orthopaedic</a:t>
            </a:r>
            <a:r>
              <a:rPr lang="en-US"/>
              <a:t> sports medicine. Studies involving human subjects will receive priority.</a:t>
            </a:r>
          </a:p>
          <a:p>
            <a:endParaRPr lang="en-US"/>
          </a:p>
          <a:p>
            <a:r>
              <a:rPr lang="en-US"/>
              <a:t>Return to play: This grant offers up to $150,000 to support a clinical research project investigating a return to play after musculoskeletal injury.</a:t>
            </a:r>
            <a:endParaRPr lang="en-US">
              <a:cs typeface="Calibri"/>
            </a:endParaRPr>
          </a:p>
        </p:txBody>
      </p:sp>
      <p:sp>
        <p:nvSpPr>
          <p:cNvPr id="4" name="Slide Number Placeholder 3"/>
          <p:cNvSpPr>
            <a:spLocks noGrp="1"/>
          </p:cNvSpPr>
          <p:nvPr>
            <p:ph type="sldNum" sz="quarter" idx="5"/>
          </p:nvPr>
        </p:nvSpPr>
        <p:spPr/>
        <p:txBody>
          <a:bodyPr/>
          <a:lstStyle/>
          <a:p>
            <a:fld id="{0E418CDD-9296-4981-976F-3E351C8C7054}" type="slidenum">
              <a:rPr lang="en-US"/>
              <a:t>12</a:t>
            </a:fld>
            <a:endParaRPr lang="en-US"/>
          </a:p>
        </p:txBody>
      </p:sp>
    </p:spTree>
    <p:extLst>
      <p:ext uri="{BB962C8B-B14F-4D97-AF65-F5344CB8AC3E}">
        <p14:creationId xmlns:p14="http://schemas.microsoft.com/office/powerpoint/2010/main" val="9136831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ANATOMICAL CONCEPTS INC:</a:t>
            </a:r>
            <a:endParaRPr lang="en-US">
              <a:cs typeface="Calibri"/>
            </a:endParaRPr>
          </a:p>
          <a:p>
            <a:endParaRPr lang="en-US"/>
          </a:p>
          <a:p>
            <a:r>
              <a:rPr lang="en-US">
                <a:cs typeface="Calibri" panose="020F0502020204030204"/>
              </a:rPr>
              <a:t>These companies help custom Manufacture of orthopedic bracing and </a:t>
            </a:r>
            <a:r>
              <a:rPr lang="en-US"/>
              <a:t>supports. </a:t>
            </a:r>
            <a:endParaRPr lang="en-US">
              <a:cs typeface="Calibri"/>
            </a:endParaRPr>
          </a:p>
          <a:p>
            <a:endParaRPr lang="en-US"/>
          </a:p>
          <a:p>
            <a:r>
              <a:rPr lang="en-US"/>
              <a:t>Products include knee braces, patella stabilizers, ankle supports, shoulder immobilizers, arm slings, spine bracing, CPM pads, cold therapy equipment, hand and wrist supports.</a:t>
            </a:r>
            <a:endParaRPr lang="en-US">
              <a:cs typeface="Calibri" panose="020F0502020204030204"/>
            </a:endParaRPr>
          </a:p>
          <a:p>
            <a:endParaRPr lang="en-US"/>
          </a:p>
          <a:p>
            <a:endParaRPr lang="en-US">
              <a:cs typeface="Calibri"/>
            </a:endParaRPr>
          </a:p>
          <a:p>
            <a:endParaRPr lang="en-US">
              <a:cs typeface="Calibri"/>
            </a:endParaRPr>
          </a:p>
        </p:txBody>
      </p:sp>
      <p:sp>
        <p:nvSpPr>
          <p:cNvPr id="4" name="Slide Number Placeholder 3"/>
          <p:cNvSpPr>
            <a:spLocks noGrp="1"/>
          </p:cNvSpPr>
          <p:nvPr>
            <p:ph type="sldNum" sz="quarter" idx="5"/>
          </p:nvPr>
        </p:nvSpPr>
        <p:spPr/>
        <p:txBody>
          <a:bodyPr/>
          <a:lstStyle/>
          <a:p>
            <a:fld id="{0E418CDD-9296-4981-976F-3E351C8C7054}" type="slidenum">
              <a:rPr lang="en-US"/>
              <a:t>13</a:t>
            </a:fld>
            <a:endParaRPr lang="en-US"/>
          </a:p>
        </p:txBody>
      </p:sp>
    </p:spTree>
    <p:extLst>
      <p:ext uri="{BB962C8B-B14F-4D97-AF65-F5344CB8AC3E}">
        <p14:creationId xmlns:p14="http://schemas.microsoft.com/office/powerpoint/2010/main" val="18774353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 make estimates on what the us costs would be launching in the US</a:t>
            </a:r>
          </a:p>
          <a:p>
            <a:r>
              <a:rPr lang="en-US">
                <a:cs typeface="Calibri"/>
              </a:rPr>
              <a:t>- if you can do this the first year --- this would be the outcome </a:t>
            </a:r>
          </a:p>
          <a:p>
            <a:r>
              <a:rPr lang="en-US">
                <a:cs typeface="Calibri"/>
              </a:rPr>
              <a:t>- cash flow estimate for them to play with </a:t>
            </a:r>
          </a:p>
          <a:p>
            <a:r>
              <a:rPr lang="en-US">
                <a:cs typeface="Calibri"/>
              </a:rPr>
              <a:t>- funding amount </a:t>
            </a:r>
          </a:p>
        </p:txBody>
      </p:sp>
      <p:sp>
        <p:nvSpPr>
          <p:cNvPr id="4" name="Slide Number Placeholder 3"/>
          <p:cNvSpPr>
            <a:spLocks noGrp="1"/>
          </p:cNvSpPr>
          <p:nvPr>
            <p:ph type="sldNum" sz="quarter" idx="5"/>
          </p:nvPr>
        </p:nvSpPr>
        <p:spPr/>
        <p:txBody>
          <a:bodyPr/>
          <a:lstStyle/>
          <a:p>
            <a:fld id="{0E418CDD-9296-4981-976F-3E351C8C7054}" type="slidenum">
              <a:rPr lang="en-US"/>
              <a:t>14</a:t>
            </a:fld>
            <a:endParaRPr lang="en-US"/>
          </a:p>
        </p:txBody>
      </p:sp>
    </p:spTree>
    <p:extLst>
      <p:ext uri="{BB962C8B-B14F-4D97-AF65-F5344CB8AC3E}">
        <p14:creationId xmlns:p14="http://schemas.microsoft.com/office/powerpoint/2010/main" val="6528563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Jon</a:t>
            </a:r>
          </a:p>
        </p:txBody>
      </p:sp>
      <p:sp>
        <p:nvSpPr>
          <p:cNvPr id="4" name="Slide Number Placeholder 3"/>
          <p:cNvSpPr>
            <a:spLocks noGrp="1"/>
          </p:cNvSpPr>
          <p:nvPr>
            <p:ph type="sldNum" sz="quarter" idx="5"/>
          </p:nvPr>
        </p:nvSpPr>
        <p:spPr/>
        <p:txBody>
          <a:bodyPr/>
          <a:lstStyle/>
          <a:p>
            <a:fld id="{0E418CDD-9296-4981-976F-3E351C8C7054}" type="slidenum">
              <a:rPr lang="en-US"/>
              <a:t>15</a:t>
            </a:fld>
            <a:endParaRPr lang="en-US"/>
          </a:p>
        </p:txBody>
      </p:sp>
    </p:spTree>
    <p:extLst>
      <p:ext uri="{BB962C8B-B14F-4D97-AF65-F5344CB8AC3E}">
        <p14:creationId xmlns:p14="http://schemas.microsoft.com/office/powerpoint/2010/main" val="3750851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Jon</a:t>
            </a:r>
          </a:p>
          <a:p>
            <a:endParaRPr lang="en-US">
              <a:cs typeface="Calibri"/>
            </a:endParaRPr>
          </a:p>
        </p:txBody>
      </p:sp>
      <p:sp>
        <p:nvSpPr>
          <p:cNvPr id="4" name="Slide Number Placeholder 3"/>
          <p:cNvSpPr>
            <a:spLocks noGrp="1"/>
          </p:cNvSpPr>
          <p:nvPr>
            <p:ph type="sldNum" sz="quarter" idx="5"/>
          </p:nvPr>
        </p:nvSpPr>
        <p:spPr/>
        <p:txBody>
          <a:bodyPr/>
          <a:lstStyle/>
          <a:p>
            <a:fld id="{0E418CDD-9296-4981-976F-3E351C8C7054}" type="slidenum">
              <a:rPr lang="en-US"/>
              <a:t>16</a:t>
            </a:fld>
            <a:endParaRPr lang="en-US"/>
          </a:p>
        </p:txBody>
      </p:sp>
    </p:spTree>
    <p:extLst>
      <p:ext uri="{BB962C8B-B14F-4D97-AF65-F5344CB8AC3E}">
        <p14:creationId xmlns:p14="http://schemas.microsoft.com/office/powerpoint/2010/main" val="21363582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C764DE79-268F-4C1A-8933-263129D2AF90}" type="datetimeFigureOut">
              <a:rPr lang="en-US" dirty="0"/>
              <a:t>7/3/2022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7535773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7/3/2022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3246135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7/3/2022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5723521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764DE79-268F-4C1A-8933-263129D2AF90}" type="datetimeFigureOut">
              <a:rPr lang="en-US" dirty="0"/>
              <a:t>7/3/2022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7638138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764DE79-268F-4C1A-8933-263129D2AF90}" type="datetimeFigureOut">
              <a:rPr lang="en-US" dirty="0"/>
              <a:t>7/3/2022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1938081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764DE79-268F-4C1A-8933-263129D2AF90}" type="datetimeFigureOut">
              <a:rPr lang="en-US" dirty="0"/>
              <a:t>7/3/2022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1752598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7/3/2022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4128315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7/3/2022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8906449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7/3/2022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2117294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7/3/2022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594316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7/3/2022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973889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7/3/2022</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a:p>
        </p:txBody>
      </p:sp>
    </p:spTree>
    <p:extLst>
      <p:ext uri="{BB962C8B-B14F-4D97-AF65-F5344CB8AC3E}">
        <p14:creationId xmlns:p14="http://schemas.microsoft.com/office/powerpoint/2010/main" val="792927106"/>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jpe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jpe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jpeg"/></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jpeg"/><Relationship Id="rId5" Type="http://schemas.openxmlformats.org/officeDocument/2006/relationships/image" Target="../media/image9.png"/><Relationship Id="rId4" Type="http://schemas.openxmlformats.org/officeDocument/2006/relationships/image" Target="../media/image8.jpeg"/></Relationships>
</file>

<file path=ppt/slides/_rels/slide8.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image" Target="../media/image10.png"/><Relationship Id="rId7" Type="http://schemas.openxmlformats.org/officeDocument/2006/relationships/image" Target="../media/image14.jpe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3.jpeg"/><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diagramData" Target="../diagrams/data1.xml"/><Relationship Id="rId7" Type="http://schemas.microsoft.com/office/2007/relationships/diagramDrawing" Target="../diagrams/drawing1.xml"/><Relationship Id="rId12"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1.xml"/><Relationship Id="rId11" Type="http://schemas.openxmlformats.org/officeDocument/2006/relationships/image" Target="../media/image18.png"/><Relationship Id="rId5" Type="http://schemas.openxmlformats.org/officeDocument/2006/relationships/diagramQuickStyle" Target="../diagrams/quickStyle1.xml"/><Relationship Id="rId10" Type="http://schemas.openxmlformats.org/officeDocument/2006/relationships/image" Target="../media/image17.png"/><Relationship Id="rId4" Type="http://schemas.openxmlformats.org/officeDocument/2006/relationships/diagramLayout" Target="../diagrams/layout1.xml"/><Relationship Id="rId9" Type="http://schemas.openxmlformats.org/officeDocument/2006/relationships/image" Target="../media/image16.png"/></Relationships>
</file>

<file path=ppt/slides/_rels/slide10.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diagramData" Target="../diagrams/data2.xml"/><Relationship Id="rId7" Type="http://schemas.microsoft.com/office/2007/relationships/diagramDrawing" Target="../diagrams/drawing2.xml"/><Relationship Id="rId12"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2.xml"/><Relationship Id="rId11" Type="http://schemas.openxmlformats.org/officeDocument/2006/relationships/image" Target="../media/image21.jpeg"/><Relationship Id="rId5" Type="http://schemas.openxmlformats.org/officeDocument/2006/relationships/diagramQuickStyle" Target="../diagrams/quickStyle2.xml"/><Relationship Id="rId10" Type="http://schemas.openxmlformats.org/officeDocument/2006/relationships/image" Target="../media/image20.jpeg"/><Relationship Id="rId4" Type="http://schemas.openxmlformats.org/officeDocument/2006/relationships/diagramLayout" Target="../diagrams/layout2.xml"/><Relationship Id="rId9"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26.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jpeg"/></Relationships>
</file>

<file path=ppt/slides/_rels/slide13.xml.rels><?xml version="1.0" encoding="UTF-8" standalone="yes"?>
<Relationships xmlns="http://schemas.openxmlformats.org/package/2006/relationships"><Relationship Id="rId3" Type="http://schemas.openxmlformats.org/officeDocument/2006/relationships/image" Target="../media/image28.png"/><Relationship Id="rId7" Type="http://schemas.openxmlformats.org/officeDocument/2006/relationships/image" Target="../media/image1.jpe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15.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4" name="Rectangle 25">
            <a:extLst>
              <a:ext uri="{FF2B5EF4-FFF2-40B4-BE49-F238E27FC236}">
                <a16:creationId xmlns:a16="http://schemas.microsoft.com/office/drawing/2014/main" id="{8555C5B3-193A-4749-9AFD-682E53CDDE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27">
            <a:extLst>
              <a:ext uri="{FF2B5EF4-FFF2-40B4-BE49-F238E27FC236}">
                <a16:creationId xmlns:a16="http://schemas.microsoft.com/office/drawing/2014/main" id="{2EAE06A6-F76A-41C9-827A-C561B00448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3"/>
            <a:ext cx="12192000" cy="6858000"/>
          </a:xfrm>
          <a:prstGeom prst="rect">
            <a:avLst/>
          </a:prstGeom>
          <a:gradFill>
            <a:gsLst>
              <a:gs pos="0">
                <a:srgbClr val="000000"/>
              </a:gs>
              <a:gs pos="100000">
                <a:schemeClr val="accent1">
                  <a:lumMod val="75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29">
            <a:extLst>
              <a:ext uri="{FF2B5EF4-FFF2-40B4-BE49-F238E27FC236}">
                <a16:creationId xmlns:a16="http://schemas.microsoft.com/office/drawing/2014/main" id="{89F9D4E8-0639-444B-949B-9518585061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80861" y="0"/>
            <a:ext cx="7661934" cy="6858000"/>
          </a:xfrm>
          <a:prstGeom prst="rect">
            <a:avLst/>
          </a:prstGeom>
          <a:gradFill>
            <a:gsLst>
              <a:gs pos="0">
                <a:schemeClr val="accent1">
                  <a:lumMod val="75000"/>
                  <a:alpha val="45000"/>
                </a:schemeClr>
              </a:gs>
              <a:gs pos="100000">
                <a:srgbClr val="000000">
                  <a:alpha val="29000"/>
                </a:srgb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31">
            <a:extLst>
              <a:ext uri="{FF2B5EF4-FFF2-40B4-BE49-F238E27FC236}">
                <a16:creationId xmlns:a16="http://schemas.microsoft.com/office/drawing/2014/main" id="{7E3DA7A2-ED70-4BBA-AB72-00AD461FA4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80862" y="-6"/>
            <a:ext cx="11711138" cy="6410334"/>
          </a:xfrm>
          <a:prstGeom prst="rect">
            <a:avLst/>
          </a:prstGeom>
          <a:gradFill>
            <a:gsLst>
              <a:gs pos="0">
                <a:schemeClr val="accent1">
                  <a:alpha val="0"/>
                </a:schemeClr>
              </a:gs>
              <a:gs pos="100000">
                <a:srgbClr val="000000">
                  <a:alpha val="4100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1127208" y="857251"/>
            <a:ext cx="4747280" cy="3098061"/>
          </a:xfrm>
        </p:spPr>
        <p:txBody>
          <a:bodyPr anchor="b">
            <a:normAutofit/>
          </a:bodyPr>
          <a:lstStyle/>
          <a:p>
            <a:pPr algn="l"/>
            <a:r>
              <a:rPr lang="en-US" sz="4800">
                <a:solidFill>
                  <a:srgbClr val="FFFFFF"/>
                </a:solidFill>
                <a:cs typeface="Calibri Light"/>
              </a:rPr>
              <a:t>Developing </a:t>
            </a:r>
            <a:br>
              <a:rPr lang="en-US" sz="4800">
                <a:solidFill>
                  <a:srgbClr val="FFFFFF"/>
                </a:solidFill>
                <a:cs typeface="Calibri Light"/>
              </a:rPr>
            </a:br>
            <a:r>
              <a:rPr lang="en-US" sz="4800">
                <a:solidFill>
                  <a:srgbClr val="FFFFFF"/>
                </a:solidFill>
                <a:cs typeface="Calibri Light"/>
              </a:rPr>
              <a:t>Free Joint Motion</a:t>
            </a:r>
          </a:p>
        </p:txBody>
      </p:sp>
      <p:sp>
        <p:nvSpPr>
          <p:cNvPr id="48" name="Rectangle 33">
            <a:extLst>
              <a:ext uri="{FF2B5EF4-FFF2-40B4-BE49-F238E27FC236}">
                <a16:creationId xmlns:a16="http://schemas.microsoft.com/office/drawing/2014/main" id="{FC485432-3647-4218-B5D3-15D3FA222B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4844797" y="-489206"/>
            <a:ext cx="2502408" cy="12191998"/>
          </a:xfrm>
          <a:prstGeom prst="rect">
            <a:avLst/>
          </a:prstGeom>
          <a:gradFill>
            <a:gsLst>
              <a:gs pos="0">
                <a:schemeClr val="accent1">
                  <a:alpha val="24000"/>
                </a:schemeClr>
              </a:gs>
              <a:gs pos="78000">
                <a:schemeClr val="accent1">
                  <a:lumMod val="50000"/>
                  <a:alpha val="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1127208" y="4756265"/>
            <a:ext cx="4393278" cy="1244483"/>
          </a:xfrm>
        </p:spPr>
        <p:txBody>
          <a:bodyPr vert="horz" lIns="91440" tIns="45720" rIns="91440" bIns="45720" rtlCol="0" anchor="t">
            <a:normAutofit/>
          </a:bodyPr>
          <a:lstStyle/>
          <a:p>
            <a:pPr algn="l"/>
            <a:r>
              <a:rPr lang="en-US">
                <a:solidFill>
                  <a:srgbClr val="FFFFFF"/>
                </a:solidFill>
                <a:cs typeface="Calibri"/>
              </a:rPr>
              <a:t>Team 7:</a:t>
            </a:r>
          </a:p>
          <a:p>
            <a:pPr algn="l"/>
            <a:r>
              <a:rPr lang="en-US">
                <a:solidFill>
                  <a:srgbClr val="FFFFFF"/>
                </a:solidFill>
                <a:cs typeface="Calibri"/>
              </a:rPr>
              <a:t>Kaylee Richter, Jon Wilner, Oluwaseun </a:t>
            </a:r>
            <a:r>
              <a:rPr lang="en-US" err="1">
                <a:solidFill>
                  <a:srgbClr val="FFFFFF"/>
                </a:solidFill>
                <a:cs typeface="Calibri"/>
              </a:rPr>
              <a:t>Aribo</a:t>
            </a:r>
          </a:p>
        </p:txBody>
      </p:sp>
      <p:sp>
        <p:nvSpPr>
          <p:cNvPr id="49" name="Oval 35">
            <a:extLst>
              <a:ext uri="{FF2B5EF4-FFF2-40B4-BE49-F238E27FC236}">
                <a16:creationId xmlns:a16="http://schemas.microsoft.com/office/drawing/2014/main" id="{F4AFDDCA-6ABA-4D23-8A5C-1BF0F43081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90589" y="1062544"/>
            <a:ext cx="4756162" cy="47561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picture containing company name&#10;&#10;Description automatically generated">
            <a:extLst>
              <a:ext uri="{FF2B5EF4-FFF2-40B4-BE49-F238E27FC236}">
                <a16:creationId xmlns:a16="http://schemas.microsoft.com/office/drawing/2014/main" id="{1AAB42FF-7F13-4E92-4119-D06357506DFF}"/>
              </a:ext>
            </a:extLst>
          </p:cNvPr>
          <p:cNvPicPr>
            <a:picLocks noChangeAspect="1"/>
          </p:cNvPicPr>
          <p:nvPr/>
        </p:nvPicPr>
        <p:blipFill>
          <a:blip r:embed="rId2"/>
          <a:stretch>
            <a:fillRect/>
          </a:stretch>
        </p:blipFill>
        <p:spPr>
          <a:xfrm>
            <a:off x="7445074" y="2108877"/>
            <a:ext cx="2688134" cy="2654533"/>
          </a:xfrm>
          <a:prstGeom prst="rect">
            <a:avLst/>
          </a:prstGeom>
        </p:spPr>
      </p:pic>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6BB4324-450B-5844-12C5-7D2CD167E770}"/>
              </a:ext>
            </a:extLst>
          </p:cNvPr>
          <p:cNvSpPr>
            <a:spLocks noGrp="1"/>
          </p:cNvSpPr>
          <p:nvPr>
            <p:ph type="title"/>
          </p:nvPr>
        </p:nvSpPr>
        <p:spPr>
          <a:xfrm>
            <a:off x="1371599" y="294538"/>
            <a:ext cx="9895951" cy="1033669"/>
          </a:xfrm>
        </p:spPr>
        <p:txBody>
          <a:bodyPr>
            <a:normAutofit/>
          </a:bodyPr>
          <a:lstStyle/>
          <a:p>
            <a:r>
              <a:rPr lang="en-US" sz="4000">
                <a:solidFill>
                  <a:srgbClr val="FFFFFF"/>
                </a:solidFill>
                <a:cs typeface="Calibri Light"/>
              </a:rPr>
              <a:t>Agenda</a:t>
            </a:r>
            <a:endParaRPr lang="en-US" sz="4000">
              <a:solidFill>
                <a:srgbClr val="FFFFFF"/>
              </a:solidFill>
            </a:endParaRPr>
          </a:p>
        </p:txBody>
      </p:sp>
      <p:sp>
        <p:nvSpPr>
          <p:cNvPr id="3" name="Content Placeholder 2">
            <a:extLst>
              <a:ext uri="{FF2B5EF4-FFF2-40B4-BE49-F238E27FC236}">
                <a16:creationId xmlns:a16="http://schemas.microsoft.com/office/drawing/2014/main" id="{BD7F75B9-F4C1-605B-674D-692A592ED23A}"/>
              </a:ext>
            </a:extLst>
          </p:cNvPr>
          <p:cNvSpPr>
            <a:spLocks noGrp="1"/>
          </p:cNvSpPr>
          <p:nvPr>
            <p:ph idx="1"/>
          </p:nvPr>
        </p:nvSpPr>
        <p:spPr>
          <a:xfrm>
            <a:off x="1371599" y="1714348"/>
            <a:ext cx="9724031" cy="4287207"/>
          </a:xfrm>
        </p:spPr>
        <p:txBody>
          <a:bodyPr vert="horz" lIns="91440" tIns="45720" rIns="91440" bIns="45720" rtlCol="0" anchor="ctr">
            <a:normAutofit/>
          </a:bodyPr>
          <a:lstStyle/>
          <a:p>
            <a:pPr marL="0" indent="0">
              <a:buNone/>
            </a:pPr>
            <a:endParaRPr lang="en-US" sz="2400">
              <a:cs typeface="Calibri"/>
            </a:endParaRPr>
          </a:p>
          <a:p>
            <a:r>
              <a:rPr lang="en-US" sz="2400">
                <a:cs typeface="Calibri"/>
              </a:rPr>
              <a:t>Industry Analysis </a:t>
            </a:r>
          </a:p>
          <a:p>
            <a:pPr lvl="1"/>
            <a:r>
              <a:rPr lang="en-US">
                <a:cs typeface="Calibri"/>
              </a:rPr>
              <a:t>Cultural Impacts</a:t>
            </a:r>
          </a:p>
          <a:p>
            <a:r>
              <a:rPr lang="en-US" sz="2400">
                <a:cs typeface="Calibri"/>
              </a:rPr>
              <a:t>Entering the Market</a:t>
            </a:r>
          </a:p>
          <a:p>
            <a:r>
              <a:rPr lang="en-US" sz="2400">
                <a:cs typeface="Calibri"/>
              </a:rPr>
              <a:t>Product Pricing</a:t>
            </a:r>
          </a:p>
          <a:p>
            <a:pPr lvl="1"/>
            <a:r>
              <a:rPr lang="en-US">
                <a:cs typeface="Calibri"/>
              </a:rPr>
              <a:t>Competitors pricing</a:t>
            </a:r>
          </a:p>
          <a:p>
            <a:r>
              <a:rPr lang="en-US" sz="2400">
                <a:cs typeface="Calibri"/>
              </a:rPr>
              <a:t>Possible Joint Ventures and Grants</a:t>
            </a:r>
          </a:p>
          <a:p>
            <a:r>
              <a:rPr lang="en-US" sz="2400">
                <a:cs typeface="Calibri"/>
              </a:rPr>
              <a:t>Key Findings</a:t>
            </a:r>
          </a:p>
          <a:p>
            <a:r>
              <a:rPr lang="en-US" sz="2400">
                <a:cs typeface="Calibri"/>
              </a:rPr>
              <a:t>Final Recommendations </a:t>
            </a:r>
          </a:p>
        </p:txBody>
      </p:sp>
      <p:pic>
        <p:nvPicPr>
          <p:cNvPr id="5" name="Picture 4" descr="A picture containing company name&#10;&#10;Description automatically generated">
            <a:extLst>
              <a:ext uri="{FF2B5EF4-FFF2-40B4-BE49-F238E27FC236}">
                <a16:creationId xmlns:a16="http://schemas.microsoft.com/office/drawing/2014/main" id="{554EB0FD-9372-DD30-2D7F-3CA0646B5927}"/>
              </a:ext>
            </a:extLst>
          </p:cNvPr>
          <p:cNvPicPr>
            <a:picLocks noChangeAspect="1"/>
          </p:cNvPicPr>
          <p:nvPr/>
        </p:nvPicPr>
        <p:blipFill>
          <a:blip r:embed="rId2"/>
          <a:stretch>
            <a:fillRect/>
          </a:stretch>
        </p:blipFill>
        <p:spPr>
          <a:xfrm>
            <a:off x="10296974" y="-655"/>
            <a:ext cx="1898351" cy="1594584"/>
          </a:xfrm>
          <a:prstGeom prst="rect">
            <a:avLst/>
          </a:prstGeom>
        </p:spPr>
      </p:pic>
    </p:spTree>
    <p:extLst>
      <p:ext uri="{BB962C8B-B14F-4D97-AF65-F5344CB8AC3E}">
        <p14:creationId xmlns:p14="http://schemas.microsoft.com/office/powerpoint/2010/main" val="31603280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ACE3F8D-0984-F619-4099-19043C89FD16}"/>
              </a:ext>
            </a:extLst>
          </p:cNvPr>
          <p:cNvSpPr>
            <a:spLocks noGrp="1"/>
          </p:cNvSpPr>
          <p:nvPr>
            <p:ph type="title"/>
          </p:nvPr>
        </p:nvSpPr>
        <p:spPr>
          <a:xfrm>
            <a:off x="1371599" y="294538"/>
            <a:ext cx="9895951" cy="1033669"/>
          </a:xfrm>
        </p:spPr>
        <p:txBody>
          <a:bodyPr>
            <a:normAutofit/>
          </a:bodyPr>
          <a:lstStyle/>
          <a:p>
            <a:r>
              <a:rPr lang="en-US" sz="4000">
                <a:solidFill>
                  <a:srgbClr val="FFFFFF"/>
                </a:solidFill>
                <a:cs typeface="Calibri Light"/>
              </a:rPr>
              <a:t>Sports Science Industry</a:t>
            </a:r>
            <a:endParaRPr lang="en-US" sz="4000">
              <a:solidFill>
                <a:srgbClr val="FFFFFF"/>
              </a:solidFill>
            </a:endParaRPr>
          </a:p>
        </p:txBody>
      </p:sp>
      <p:sp>
        <p:nvSpPr>
          <p:cNvPr id="3" name="Content Placeholder 2">
            <a:extLst>
              <a:ext uri="{FF2B5EF4-FFF2-40B4-BE49-F238E27FC236}">
                <a16:creationId xmlns:a16="http://schemas.microsoft.com/office/drawing/2014/main" id="{C94AD96C-9EE0-1E2C-0005-204DEAA511D6}"/>
              </a:ext>
            </a:extLst>
          </p:cNvPr>
          <p:cNvSpPr>
            <a:spLocks noGrp="1"/>
          </p:cNvSpPr>
          <p:nvPr>
            <p:ph idx="1"/>
          </p:nvPr>
        </p:nvSpPr>
        <p:spPr>
          <a:xfrm>
            <a:off x="681486" y="1944386"/>
            <a:ext cx="4605692" cy="4632263"/>
          </a:xfrm>
        </p:spPr>
        <p:txBody>
          <a:bodyPr vert="horz" lIns="91440" tIns="45720" rIns="91440" bIns="45720" rtlCol="0" anchor="t">
            <a:normAutofit/>
          </a:bodyPr>
          <a:lstStyle/>
          <a:p>
            <a:pPr marL="0" indent="0">
              <a:buNone/>
            </a:pPr>
            <a:r>
              <a:rPr lang="en-US" sz="2000" b="1">
                <a:cs typeface="Calibri"/>
              </a:rPr>
              <a:t>History of Sports Science Market</a:t>
            </a:r>
          </a:p>
          <a:p>
            <a:r>
              <a:rPr lang="en-US" sz="2000">
                <a:cs typeface="Calibri"/>
              </a:rPr>
              <a:t>Branch that focuses on treatment and prevention of injuries stemming from physical activity </a:t>
            </a:r>
          </a:p>
          <a:p>
            <a:r>
              <a:rPr lang="en-US" sz="2000">
                <a:cs typeface="Calibri"/>
              </a:rPr>
              <a:t>1900's – various committees to monitor and improve</a:t>
            </a:r>
          </a:p>
          <a:p>
            <a:r>
              <a:rPr lang="en-US" sz="2000">
                <a:cs typeface="Calibri"/>
              </a:rPr>
              <a:t>American College of Sports Medicine (ACSM), American Orthopedic Society for Sports Medicine</a:t>
            </a:r>
          </a:p>
          <a:p>
            <a:pPr lvl="1"/>
            <a:r>
              <a:rPr lang="en-US" sz="1600">
                <a:cs typeface="Calibri"/>
              </a:rPr>
              <a:t>Athletic injury awareness is constantly growing </a:t>
            </a:r>
          </a:p>
          <a:p>
            <a:pPr lvl="1"/>
            <a:endParaRPr lang="en-US" sz="1600">
              <a:cs typeface="Calibri"/>
            </a:endParaRPr>
          </a:p>
        </p:txBody>
      </p:sp>
      <p:sp>
        <p:nvSpPr>
          <p:cNvPr id="6" name="Content Placeholder 2">
            <a:extLst>
              <a:ext uri="{FF2B5EF4-FFF2-40B4-BE49-F238E27FC236}">
                <a16:creationId xmlns:a16="http://schemas.microsoft.com/office/drawing/2014/main" id="{4C791F4C-7FA6-C7C4-8F55-6DDE02EE4187}"/>
              </a:ext>
            </a:extLst>
          </p:cNvPr>
          <p:cNvSpPr txBox="1">
            <a:spLocks/>
          </p:cNvSpPr>
          <p:nvPr/>
        </p:nvSpPr>
        <p:spPr>
          <a:xfrm>
            <a:off x="6455433" y="1938635"/>
            <a:ext cx="4965126" cy="4344716"/>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2000">
              <a:cs typeface="Calibri"/>
            </a:endParaRPr>
          </a:p>
        </p:txBody>
      </p:sp>
      <p:pic>
        <p:nvPicPr>
          <p:cNvPr id="4" name="Picture 4" descr="Chart&#10;&#10;Description automatically generated">
            <a:extLst>
              <a:ext uri="{FF2B5EF4-FFF2-40B4-BE49-F238E27FC236}">
                <a16:creationId xmlns:a16="http://schemas.microsoft.com/office/drawing/2014/main" id="{B7C8CF3E-35E0-3E61-33EF-F3A3DD448D0E}"/>
              </a:ext>
            </a:extLst>
          </p:cNvPr>
          <p:cNvPicPr>
            <a:picLocks noChangeAspect="1"/>
          </p:cNvPicPr>
          <p:nvPr/>
        </p:nvPicPr>
        <p:blipFill>
          <a:blip r:embed="rId3"/>
          <a:stretch>
            <a:fillRect/>
          </a:stretch>
        </p:blipFill>
        <p:spPr>
          <a:xfrm>
            <a:off x="5716438" y="2340635"/>
            <a:ext cx="5992483" cy="2996241"/>
          </a:xfrm>
          <a:prstGeom prst="rect">
            <a:avLst/>
          </a:prstGeom>
        </p:spPr>
      </p:pic>
      <p:pic>
        <p:nvPicPr>
          <p:cNvPr id="7" name="Picture 4" descr="A picture containing company name&#10;&#10;Description automatically generated">
            <a:extLst>
              <a:ext uri="{FF2B5EF4-FFF2-40B4-BE49-F238E27FC236}">
                <a16:creationId xmlns:a16="http://schemas.microsoft.com/office/drawing/2014/main" id="{40949E0E-0DCE-B51B-7879-70B54A0FF692}"/>
              </a:ext>
            </a:extLst>
          </p:cNvPr>
          <p:cNvPicPr>
            <a:picLocks noChangeAspect="1"/>
          </p:cNvPicPr>
          <p:nvPr/>
        </p:nvPicPr>
        <p:blipFill>
          <a:blip r:embed="rId4"/>
          <a:stretch>
            <a:fillRect/>
          </a:stretch>
        </p:blipFill>
        <p:spPr>
          <a:xfrm>
            <a:off x="10296974" y="-655"/>
            <a:ext cx="1898351" cy="1594584"/>
          </a:xfrm>
          <a:prstGeom prst="rect">
            <a:avLst/>
          </a:prstGeom>
        </p:spPr>
      </p:pic>
    </p:spTree>
    <p:extLst>
      <p:ext uri="{BB962C8B-B14F-4D97-AF65-F5344CB8AC3E}">
        <p14:creationId xmlns:p14="http://schemas.microsoft.com/office/powerpoint/2010/main" val="41049254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ACE3F8D-0984-F619-4099-19043C89FD16}"/>
              </a:ext>
            </a:extLst>
          </p:cNvPr>
          <p:cNvSpPr>
            <a:spLocks noGrp="1"/>
          </p:cNvSpPr>
          <p:nvPr>
            <p:ph type="title"/>
          </p:nvPr>
        </p:nvSpPr>
        <p:spPr>
          <a:xfrm>
            <a:off x="1371599" y="294538"/>
            <a:ext cx="9895951" cy="1033669"/>
          </a:xfrm>
        </p:spPr>
        <p:txBody>
          <a:bodyPr>
            <a:normAutofit/>
          </a:bodyPr>
          <a:lstStyle/>
          <a:p>
            <a:r>
              <a:rPr lang="en-US" sz="4000">
                <a:solidFill>
                  <a:srgbClr val="FFFFFF"/>
                </a:solidFill>
                <a:cs typeface="Calibri Light"/>
              </a:rPr>
              <a:t>Sports Science Industry</a:t>
            </a:r>
            <a:endParaRPr lang="en-US" sz="4000">
              <a:solidFill>
                <a:srgbClr val="FFFFFF"/>
              </a:solidFill>
            </a:endParaRPr>
          </a:p>
        </p:txBody>
      </p:sp>
      <p:sp>
        <p:nvSpPr>
          <p:cNvPr id="6" name="Content Placeholder 2">
            <a:extLst>
              <a:ext uri="{FF2B5EF4-FFF2-40B4-BE49-F238E27FC236}">
                <a16:creationId xmlns:a16="http://schemas.microsoft.com/office/drawing/2014/main" id="{4C791F4C-7FA6-C7C4-8F55-6DDE02EE4187}"/>
              </a:ext>
            </a:extLst>
          </p:cNvPr>
          <p:cNvSpPr txBox="1">
            <a:spLocks/>
          </p:cNvSpPr>
          <p:nvPr/>
        </p:nvSpPr>
        <p:spPr>
          <a:xfrm>
            <a:off x="761999" y="2010522"/>
            <a:ext cx="5568975" cy="4344716"/>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b="1">
                <a:cs typeface="Calibri"/>
              </a:rPr>
              <a:t>Current Sports Science Market</a:t>
            </a:r>
          </a:p>
          <a:p>
            <a:r>
              <a:rPr lang="en-US" sz="2000">
                <a:cs typeface="Calibri"/>
              </a:rPr>
              <a:t>$6.2 billion dollar industry worldwide</a:t>
            </a:r>
          </a:p>
          <a:p>
            <a:pPr lvl="1"/>
            <a:r>
              <a:rPr lang="en-US" sz="1600">
                <a:cs typeface="Calibri"/>
              </a:rPr>
              <a:t>US Market - $8.5  million</a:t>
            </a:r>
          </a:p>
          <a:p>
            <a:r>
              <a:rPr lang="en-US" sz="2000">
                <a:cs typeface="Calibri"/>
              </a:rPr>
              <a:t>Annual growth rate of 8.2%</a:t>
            </a:r>
          </a:p>
          <a:p>
            <a:r>
              <a:rPr lang="en-US" sz="2000">
                <a:cs typeface="Calibri"/>
              </a:rPr>
              <a:t>Four segments to the industry</a:t>
            </a:r>
          </a:p>
          <a:p>
            <a:r>
              <a:rPr lang="en-US" sz="2000">
                <a:cs typeface="Calibri"/>
              </a:rPr>
              <a:t>Major Names in the Industry</a:t>
            </a:r>
          </a:p>
          <a:p>
            <a:pPr lvl="1"/>
            <a:r>
              <a:rPr lang="en-US" sz="1600">
                <a:cs typeface="Calibri"/>
              </a:rPr>
              <a:t>Arthrex</a:t>
            </a:r>
          </a:p>
          <a:p>
            <a:pPr lvl="1"/>
            <a:r>
              <a:rPr lang="en-US" sz="1600">
                <a:cs typeface="Calibri"/>
              </a:rPr>
              <a:t>Smith and Nephew</a:t>
            </a:r>
          </a:p>
          <a:p>
            <a:pPr lvl="1"/>
            <a:r>
              <a:rPr lang="en-US" sz="1600">
                <a:cs typeface="Calibri"/>
              </a:rPr>
              <a:t>Stryker</a:t>
            </a:r>
          </a:p>
          <a:p>
            <a:r>
              <a:rPr lang="en-US" sz="2000">
                <a:cs typeface="Calibri"/>
              </a:rPr>
              <a:t>North American Market</a:t>
            </a:r>
          </a:p>
          <a:p>
            <a:pPr lvl="1"/>
            <a:r>
              <a:rPr lang="en-US" sz="1600">
                <a:cs typeface="Calibri"/>
              </a:rPr>
              <a:t>Presence of well-developed healthcare</a:t>
            </a:r>
          </a:p>
          <a:p>
            <a:pPr lvl="1"/>
            <a:r>
              <a:rPr lang="en-US" sz="1600">
                <a:cs typeface="Calibri"/>
              </a:rPr>
              <a:t>High spending and availability of technology advances</a:t>
            </a:r>
          </a:p>
        </p:txBody>
      </p:sp>
      <p:pic>
        <p:nvPicPr>
          <p:cNvPr id="4" name="Picture 4" descr="Chart, pie chart&#10;&#10;Description automatically generated">
            <a:extLst>
              <a:ext uri="{FF2B5EF4-FFF2-40B4-BE49-F238E27FC236}">
                <a16:creationId xmlns:a16="http://schemas.microsoft.com/office/drawing/2014/main" id="{958C1E4E-7F48-2CBA-A162-8CD8A922B2B1}"/>
              </a:ext>
            </a:extLst>
          </p:cNvPr>
          <p:cNvPicPr>
            <a:picLocks noChangeAspect="1"/>
          </p:cNvPicPr>
          <p:nvPr/>
        </p:nvPicPr>
        <p:blipFill>
          <a:blip r:embed="rId3"/>
          <a:stretch>
            <a:fillRect/>
          </a:stretch>
        </p:blipFill>
        <p:spPr>
          <a:xfrm>
            <a:off x="6794739" y="1751162"/>
            <a:ext cx="4842295" cy="2435526"/>
          </a:xfrm>
          <a:prstGeom prst="rect">
            <a:avLst/>
          </a:prstGeom>
        </p:spPr>
      </p:pic>
      <p:pic>
        <p:nvPicPr>
          <p:cNvPr id="5" name="Picture 6" descr="A picture containing chart&#10;&#10;Description automatically generated">
            <a:extLst>
              <a:ext uri="{FF2B5EF4-FFF2-40B4-BE49-F238E27FC236}">
                <a16:creationId xmlns:a16="http://schemas.microsoft.com/office/drawing/2014/main" id="{B0CB01CA-46F1-8441-0391-AA53A4F5D740}"/>
              </a:ext>
            </a:extLst>
          </p:cNvPr>
          <p:cNvPicPr>
            <a:picLocks noChangeAspect="1"/>
          </p:cNvPicPr>
          <p:nvPr/>
        </p:nvPicPr>
        <p:blipFill>
          <a:blip r:embed="rId4"/>
          <a:stretch>
            <a:fillRect/>
          </a:stretch>
        </p:blipFill>
        <p:spPr>
          <a:xfrm>
            <a:off x="6794739" y="4182268"/>
            <a:ext cx="5057954" cy="2547880"/>
          </a:xfrm>
          <a:prstGeom prst="rect">
            <a:avLst/>
          </a:prstGeom>
        </p:spPr>
      </p:pic>
      <p:pic>
        <p:nvPicPr>
          <p:cNvPr id="7" name="Picture 4" descr="A picture containing company name&#10;&#10;Description automatically generated">
            <a:extLst>
              <a:ext uri="{FF2B5EF4-FFF2-40B4-BE49-F238E27FC236}">
                <a16:creationId xmlns:a16="http://schemas.microsoft.com/office/drawing/2014/main" id="{9CA9C3D8-98A8-519B-B355-B8D1D096980A}"/>
              </a:ext>
            </a:extLst>
          </p:cNvPr>
          <p:cNvPicPr>
            <a:picLocks noChangeAspect="1"/>
          </p:cNvPicPr>
          <p:nvPr/>
        </p:nvPicPr>
        <p:blipFill>
          <a:blip r:embed="rId5"/>
          <a:stretch>
            <a:fillRect/>
          </a:stretch>
        </p:blipFill>
        <p:spPr>
          <a:xfrm>
            <a:off x="10296974" y="-655"/>
            <a:ext cx="1898351" cy="1594584"/>
          </a:xfrm>
          <a:prstGeom prst="rect">
            <a:avLst/>
          </a:prstGeom>
        </p:spPr>
      </p:pic>
    </p:spTree>
    <p:extLst>
      <p:ext uri="{BB962C8B-B14F-4D97-AF65-F5344CB8AC3E}">
        <p14:creationId xmlns:p14="http://schemas.microsoft.com/office/powerpoint/2010/main" val="7562804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08799A0-CC97-4D38-E72A-250FCA9F5FEB}"/>
              </a:ext>
            </a:extLst>
          </p:cNvPr>
          <p:cNvSpPr>
            <a:spLocks noGrp="1"/>
          </p:cNvSpPr>
          <p:nvPr>
            <p:ph type="title"/>
          </p:nvPr>
        </p:nvSpPr>
        <p:spPr>
          <a:xfrm>
            <a:off x="1371599" y="294538"/>
            <a:ext cx="9895951" cy="1033669"/>
          </a:xfrm>
        </p:spPr>
        <p:txBody>
          <a:bodyPr>
            <a:normAutofit/>
          </a:bodyPr>
          <a:lstStyle/>
          <a:p>
            <a:r>
              <a:rPr lang="en-US" sz="3700">
                <a:solidFill>
                  <a:srgbClr val="FFFFFF"/>
                </a:solidFill>
                <a:cs typeface="Calibri Light"/>
              </a:rPr>
              <a:t>CAGE Analysis Impacts</a:t>
            </a:r>
            <a:endParaRPr lang="en-US" sz="3700">
              <a:solidFill>
                <a:srgbClr val="FFFFFF"/>
              </a:solidFill>
            </a:endParaRPr>
          </a:p>
        </p:txBody>
      </p:sp>
      <p:sp>
        <p:nvSpPr>
          <p:cNvPr id="3" name="Content Placeholder 2">
            <a:extLst>
              <a:ext uri="{FF2B5EF4-FFF2-40B4-BE49-F238E27FC236}">
                <a16:creationId xmlns:a16="http://schemas.microsoft.com/office/drawing/2014/main" id="{316490DE-D09E-231B-2874-1332A834965D}"/>
              </a:ext>
            </a:extLst>
          </p:cNvPr>
          <p:cNvSpPr>
            <a:spLocks noGrp="1"/>
          </p:cNvSpPr>
          <p:nvPr>
            <p:ph idx="1"/>
          </p:nvPr>
        </p:nvSpPr>
        <p:spPr>
          <a:xfrm>
            <a:off x="1371599" y="2318197"/>
            <a:ext cx="5914031" cy="3683358"/>
          </a:xfrm>
        </p:spPr>
        <p:txBody>
          <a:bodyPr vert="horz" lIns="91440" tIns="45720" rIns="91440" bIns="45720" rtlCol="0" anchor="t">
            <a:normAutofit/>
          </a:bodyPr>
          <a:lstStyle/>
          <a:p>
            <a:r>
              <a:rPr lang="en-US" sz="2000">
                <a:cs typeface="Calibri"/>
              </a:rPr>
              <a:t>Cultural Distance</a:t>
            </a:r>
          </a:p>
          <a:p>
            <a:pPr lvl="1"/>
            <a:r>
              <a:rPr lang="en-US" sz="1600">
                <a:cs typeface="Calibri"/>
              </a:rPr>
              <a:t>Communication is a large part of the industry</a:t>
            </a:r>
          </a:p>
          <a:p>
            <a:pPr lvl="1"/>
            <a:r>
              <a:rPr lang="en-US" sz="1600">
                <a:cs typeface="Calibri"/>
              </a:rPr>
              <a:t>Cultural emphasis on specific sports </a:t>
            </a:r>
          </a:p>
          <a:p>
            <a:pPr lvl="1"/>
            <a:r>
              <a:rPr lang="en-US" sz="1600">
                <a:cs typeface="Calibri"/>
              </a:rPr>
              <a:t>American sports spreading to Brazil </a:t>
            </a:r>
          </a:p>
          <a:p>
            <a:pPr lvl="1"/>
            <a:endParaRPr lang="en-US" sz="1600">
              <a:cs typeface="Calibri"/>
            </a:endParaRPr>
          </a:p>
          <a:p>
            <a:r>
              <a:rPr lang="en-US" sz="2000">
                <a:cs typeface="Calibri"/>
              </a:rPr>
              <a:t>Economic Distance</a:t>
            </a:r>
            <a:endParaRPr lang="en-US"/>
          </a:p>
          <a:p>
            <a:pPr lvl="1"/>
            <a:r>
              <a:rPr lang="en-US" sz="1600">
                <a:cs typeface="Calibri"/>
              </a:rPr>
              <a:t>Access to funding </a:t>
            </a:r>
          </a:p>
          <a:p>
            <a:pPr lvl="1"/>
            <a:r>
              <a:rPr lang="en-US" sz="1600">
                <a:cs typeface="Calibri"/>
              </a:rPr>
              <a:t>Access to recovery tools </a:t>
            </a:r>
          </a:p>
          <a:p>
            <a:pPr lvl="1"/>
            <a:r>
              <a:rPr lang="en-US" sz="1600">
                <a:cs typeface="Calibri"/>
              </a:rPr>
              <a:t>Healthcare development </a:t>
            </a:r>
          </a:p>
        </p:txBody>
      </p:sp>
      <p:pic>
        <p:nvPicPr>
          <p:cNvPr id="4" name="Picture 4" descr="A picture containing chart&#10;&#10;Description automatically generated">
            <a:extLst>
              <a:ext uri="{FF2B5EF4-FFF2-40B4-BE49-F238E27FC236}">
                <a16:creationId xmlns:a16="http://schemas.microsoft.com/office/drawing/2014/main" id="{554BC7D2-78FB-F794-76B3-301E053C64ED}"/>
              </a:ext>
            </a:extLst>
          </p:cNvPr>
          <p:cNvPicPr>
            <a:picLocks noChangeAspect="1"/>
          </p:cNvPicPr>
          <p:nvPr/>
        </p:nvPicPr>
        <p:blipFill>
          <a:blip r:embed="rId3"/>
          <a:stretch>
            <a:fillRect/>
          </a:stretch>
        </p:blipFill>
        <p:spPr>
          <a:xfrm>
            <a:off x="6406551" y="2155885"/>
            <a:ext cx="5489275" cy="4127739"/>
          </a:xfrm>
          <a:prstGeom prst="rect">
            <a:avLst/>
          </a:prstGeom>
        </p:spPr>
      </p:pic>
      <p:pic>
        <p:nvPicPr>
          <p:cNvPr id="6" name="Picture 4" descr="A picture containing company name&#10;&#10;Description automatically generated">
            <a:extLst>
              <a:ext uri="{FF2B5EF4-FFF2-40B4-BE49-F238E27FC236}">
                <a16:creationId xmlns:a16="http://schemas.microsoft.com/office/drawing/2014/main" id="{21E359AD-DCC8-E207-3C49-B87CE711B7AD}"/>
              </a:ext>
            </a:extLst>
          </p:cNvPr>
          <p:cNvPicPr>
            <a:picLocks noChangeAspect="1"/>
          </p:cNvPicPr>
          <p:nvPr/>
        </p:nvPicPr>
        <p:blipFill>
          <a:blip r:embed="rId4"/>
          <a:stretch>
            <a:fillRect/>
          </a:stretch>
        </p:blipFill>
        <p:spPr>
          <a:xfrm>
            <a:off x="10296974" y="-655"/>
            <a:ext cx="1898351" cy="1594584"/>
          </a:xfrm>
          <a:prstGeom prst="rect">
            <a:avLst/>
          </a:prstGeom>
        </p:spPr>
      </p:pic>
    </p:spTree>
    <p:extLst>
      <p:ext uri="{BB962C8B-B14F-4D97-AF65-F5344CB8AC3E}">
        <p14:creationId xmlns:p14="http://schemas.microsoft.com/office/powerpoint/2010/main" val="39371854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344A12A-129D-D34D-CBB4-4E3970768CF9}"/>
              </a:ext>
            </a:extLst>
          </p:cNvPr>
          <p:cNvSpPr>
            <a:spLocks noGrp="1"/>
          </p:cNvSpPr>
          <p:nvPr>
            <p:ph type="title"/>
          </p:nvPr>
        </p:nvSpPr>
        <p:spPr>
          <a:xfrm>
            <a:off x="1371599" y="294538"/>
            <a:ext cx="9895951" cy="1033669"/>
          </a:xfrm>
        </p:spPr>
        <p:txBody>
          <a:bodyPr>
            <a:normAutofit/>
          </a:bodyPr>
          <a:lstStyle/>
          <a:p>
            <a:r>
              <a:rPr lang="en-US" sz="4000">
                <a:solidFill>
                  <a:srgbClr val="FFFFFF"/>
                </a:solidFill>
                <a:cs typeface="Calibri Light"/>
              </a:rPr>
              <a:t>Market Entry Options</a:t>
            </a:r>
          </a:p>
        </p:txBody>
      </p:sp>
      <p:sp>
        <p:nvSpPr>
          <p:cNvPr id="3" name="Content Placeholder 2">
            <a:extLst>
              <a:ext uri="{FF2B5EF4-FFF2-40B4-BE49-F238E27FC236}">
                <a16:creationId xmlns:a16="http://schemas.microsoft.com/office/drawing/2014/main" id="{AAD59A76-E5DC-0822-8677-847281A64E99}"/>
              </a:ext>
            </a:extLst>
          </p:cNvPr>
          <p:cNvSpPr>
            <a:spLocks noGrp="1"/>
          </p:cNvSpPr>
          <p:nvPr>
            <p:ph idx="1"/>
          </p:nvPr>
        </p:nvSpPr>
        <p:spPr>
          <a:xfrm>
            <a:off x="595222" y="2332574"/>
            <a:ext cx="3326107" cy="3683358"/>
          </a:xfrm>
        </p:spPr>
        <p:txBody>
          <a:bodyPr vert="horz" lIns="91440" tIns="45720" rIns="91440" bIns="45720" rtlCol="0" anchor="t">
            <a:normAutofit/>
          </a:bodyPr>
          <a:lstStyle/>
          <a:p>
            <a:pPr marL="0" indent="0">
              <a:buNone/>
            </a:pPr>
            <a:r>
              <a:rPr lang="en-US" sz="2000" b="1">
                <a:cs typeface="Calibri"/>
              </a:rPr>
              <a:t>Universities</a:t>
            </a:r>
          </a:p>
          <a:p>
            <a:r>
              <a:rPr lang="en-US" sz="2000">
                <a:cs typeface="Calibri"/>
              </a:rPr>
              <a:t>Use Athletic Training Rooms to advertise to incoming athletes</a:t>
            </a:r>
          </a:p>
          <a:p>
            <a:r>
              <a:rPr lang="en-US" sz="2000">
                <a:cs typeface="Calibri"/>
              </a:rPr>
              <a:t>Large amounts of money to spend on Training Room and Athletic Facilities</a:t>
            </a:r>
          </a:p>
          <a:p>
            <a:pPr lvl="1"/>
            <a:r>
              <a:rPr lang="en-US" sz="1600">
                <a:cs typeface="Calibri"/>
              </a:rPr>
              <a:t>$145 Million – University of Colorado</a:t>
            </a:r>
          </a:p>
          <a:p>
            <a:pPr lvl="1"/>
            <a:r>
              <a:rPr lang="en-US" sz="1600">
                <a:cs typeface="Calibri"/>
              </a:rPr>
              <a:t>$66.5 million – Ohio State</a:t>
            </a:r>
          </a:p>
          <a:p>
            <a:pPr lvl="1"/>
            <a:r>
              <a:rPr lang="en-US" sz="1600">
                <a:cs typeface="Calibri"/>
              </a:rPr>
              <a:t>$65.5 million – Ithaca College</a:t>
            </a:r>
          </a:p>
          <a:p>
            <a:pPr marL="0" indent="0">
              <a:buNone/>
            </a:pPr>
            <a:endParaRPr lang="en-US" sz="2000">
              <a:cs typeface="Calibri"/>
            </a:endParaRPr>
          </a:p>
        </p:txBody>
      </p:sp>
      <p:sp>
        <p:nvSpPr>
          <p:cNvPr id="5" name="Content Placeholder 2">
            <a:extLst>
              <a:ext uri="{FF2B5EF4-FFF2-40B4-BE49-F238E27FC236}">
                <a16:creationId xmlns:a16="http://schemas.microsoft.com/office/drawing/2014/main" id="{0CE5CB79-99AC-0686-C6B7-C857F065485B}"/>
              </a:ext>
            </a:extLst>
          </p:cNvPr>
          <p:cNvSpPr txBox="1">
            <a:spLocks/>
          </p:cNvSpPr>
          <p:nvPr/>
        </p:nvSpPr>
        <p:spPr>
          <a:xfrm>
            <a:off x="4442603" y="2326824"/>
            <a:ext cx="3326107" cy="3683358"/>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b="1">
                <a:cs typeface="Calibri"/>
              </a:rPr>
              <a:t>Sports Clubs</a:t>
            </a:r>
          </a:p>
          <a:p>
            <a:r>
              <a:rPr lang="en-US" sz="2000">
                <a:cs typeface="Calibri"/>
              </a:rPr>
              <a:t>Commonly used equipment</a:t>
            </a:r>
          </a:p>
          <a:p>
            <a:pPr lvl="1"/>
            <a:r>
              <a:rPr lang="en-US" sz="1600">
                <a:cs typeface="Calibri"/>
              </a:rPr>
              <a:t>Weights</a:t>
            </a:r>
          </a:p>
          <a:p>
            <a:pPr lvl="1"/>
            <a:r>
              <a:rPr lang="en-US" sz="1600">
                <a:cs typeface="Calibri"/>
              </a:rPr>
              <a:t>Endurance machines</a:t>
            </a:r>
          </a:p>
          <a:p>
            <a:r>
              <a:rPr lang="en-US" sz="2000">
                <a:cs typeface="Calibri"/>
              </a:rPr>
              <a:t>Equipment is not frequently replaced</a:t>
            </a:r>
          </a:p>
          <a:p>
            <a:pPr lvl="1"/>
            <a:r>
              <a:rPr lang="en-US" sz="1600">
                <a:cs typeface="Calibri"/>
              </a:rPr>
              <a:t>Endurance machines – 7 to 10 years</a:t>
            </a:r>
          </a:p>
          <a:p>
            <a:pPr lvl="1"/>
            <a:r>
              <a:rPr lang="en-US" sz="1600">
                <a:cs typeface="Calibri"/>
              </a:rPr>
              <a:t>Strength Equipment – 10 to 15 years</a:t>
            </a:r>
          </a:p>
          <a:p>
            <a:pPr marL="0" indent="0">
              <a:buNone/>
            </a:pPr>
            <a:endParaRPr lang="en-US" sz="2000">
              <a:cs typeface="Calibri"/>
            </a:endParaRPr>
          </a:p>
        </p:txBody>
      </p:sp>
      <p:sp>
        <p:nvSpPr>
          <p:cNvPr id="6" name="Content Placeholder 2">
            <a:extLst>
              <a:ext uri="{FF2B5EF4-FFF2-40B4-BE49-F238E27FC236}">
                <a16:creationId xmlns:a16="http://schemas.microsoft.com/office/drawing/2014/main" id="{226EE93B-B34A-C6C9-0E80-0033CE6D689F}"/>
              </a:ext>
            </a:extLst>
          </p:cNvPr>
          <p:cNvSpPr txBox="1">
            <a:spLocks/>
          </p:cNvSpPr>
          <p:nvPr/>
        </p:nvSpPr>
        <p:spPr>
          <a:xfrm>
            <a:off x="8396376" y="2326823"/>
            <a:ext cx="3326107" cy="2274377"/>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b="1">
                <a:cs typeface="Calibri"/>
              </a:rPr>
              <a:t>Rehab Centers</a:t>
            </a:r>
          </a:p>
          <a:p>
            <a:r>
              <a:rPr lang="en-US" sz="2000">
                <a:cs typeface="Calibri"/>
              </a:rPr>
              <a:t>Limited Disposal costs</a:t>
            </a:r>
          </a:p>
          <a:p>
            <a:r>
              <a:rPr lang="en-US" sz="2000">
                <a:cs typeface="Calibri"/>
              </a:rPr>
              <a:t>Low profit margin</a:t>
            </a:r>
          </a:p>
          <a:p>
            <a:r>
              <a:rPr lang="en-US" sz="2000">
                <a:cs typeface="Calibri"/>
              </a:rPr>
              <a:t>Other expensive equipment that cannot be substituted</a:t>
            </a:r>
          </a:p>
        </p:txBody>
      </p:sp>
      <p:pic>
        <p:nvPicPr>
          <p:cNvPr id="7" name="Picture 4" descr="A picture containing company name&#10;&#10;Description automatically generated">
            <a:extLst>
              <a:ext uri="{FF2B5EF4-FFF2-40B4-BE49-F238E27FC236}">
                <a16:creationId xmlns:a16="http://schemas.microsoft.com/office/drawing/2014/main" id="{1C5B4843-AED2-D0D6-B95E-82880E785E2B}"/>
              </a:ext>
            </a:extLst>
          </p:cNvPr>
          <p:cNvPicPr>
            <a:picLocks noChangeAspect="1"/>
          </p:cNvPicPr>
          <p:nvPr/>
        </p:nvPicPr>
        <p:blipFill>
          <a:blip r:embed="rId3"/>
          <a:stretch>
            <a:fillRect/>
          </a:stretch>
        </p:blipFill>
        <p:spPr>
          <a:xfrm>
            <a:off x="10296974" y="-655"/>
            <a:ext cx="1898351" cy="1594584"/>
          </a:xfrm>
          <a:prstGeom prst="rect">
            <a:avLst/>
          </a:prstGeom>
        </p:spPr>
      </p:pic>
      <p:pic>
        <p:nvPicPr>
          <p:cNvPr id="4" name="Picture 8" descr="Text&#10;&#10;Description automatically generated">
            <a:extLst>
              <a:ext uri="{FF2B5EF4-FFF2-40B4-BE49-F238E27FC236}">
                <a16:creationId xmlns:a16="http://schemas.microsoft.com/office/drawing/2014/main" id="{F29BEEAF-A449-95EC-8DAA-77F8D16F4AB7}"/>
              </a:ext>
            </a:extLst>
          </p:cNvPr>
          <p:cNvPicPr>
            <a:picLocks noChangeAspect="1"/>
          </p:cNvPicPr>
          <p:nvPr/>
        </p:nvPicPr>
        <p:blipFill>
          <a:blip r:embed="rId4"/>
          <a:stretch>
            <a:fillRect/>
          </a:stretch>
        </p:blipFill>
        <p:spPr>
          <a:xfrm>
            <a:off x="8318739" y="4271759"/>
            <a:ext cx="3879010" cy="1736291"/>
          </a:xfrm>
          <a:prstGeom prst="rect">
            <a:avLst/>
          </a:prstGeom>
        </p:spPr>
      </p:pic>
    </p:spTree>
    <p:extLst>
      <p:ext uri="{BB962C8B-B14F-4D97-AF65-F5344CB8AC3E}">
        <p14:creationId xmlns:p14="http://schemas.microsoft.com/office/powerpoint/2010/main" val="11517936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344A12A-129D-D34D-CBB4-4E3970768CF9}"/>
              </a:ext>
            </a:extLst>
          </p:cNvPr>
          <p:cNvSpPr>
            <a:spLocks noGrp="1"/>
          </p:cNvSpPr>
          <p:nvPr>
            <p:ph type="title"/>
          </p:nvPr>
        </p:nvSpPr>
        <p:spPr>
          <a:xfrm>
            <a:off x="1371599" y="294538"/>
            <a:ext cx="9895951" cy="1033669"/>
          </a:xfrm>
        </p:spPr>
        <p:txBody>
          <a:bodyPr>
            <a:normAutofit/>
          </a:bodyPr>
          <a:lstStyle/>
          <a:p>
            <a:r>
              <a:rPr lang="en-US" sz="4000">
                <a:solidFill>
                  <a:srgbClr val="FFFFFF"/>
                </a:solidFill>
                <a:cs typeface="Calibri Light"/>
              </a:rPr>
              <a:t>Universities Currently Completing Studies </a:t>
            </a:r>
          </a:p>
        </p:txBody>
      </p:sp>
      <p:sp>
        <p:nvSpPr>
          <p:cNvPr id="3" name="Content Placeholder 2">
            <a:extLst>
              <a:ext uri="{FF2B5EF4-FFF2-40B4-BE49-F238E27FC236}">
                <a16:creationId xmlns:a16="http://schemas.microsoft.com/office/drawing/2014/main" id="{AAD59A76-E5DC-0822-8677-847281A64E99}"/>
              </a:ext>
            </a:extLst>
          </p:cNvPr>
          <p:cNvSpPr>
            <a:spLocks noGrp="1"/>
          </p:cNvSpPr>
          <p:nvPr>
            <p:ph idx="1"/>
          </p:nvPr>
        </p:nvSpPr>
        <p:spPr>
          <a:xfrm>
            <a:off x="1371599" y="2318197"/>
            <a:ext cx="9724031" cy="2036094"/>
          </a:xfrm>
        </p:spPr>
        <p:txBody>
          <a:bodyPr vert="horz" lIns="91440" tIns="45720" rIns="91440" bIns="45720" rtlCol="0" anchor="ctr">
            <a:normAutofit/>
          </a:bodyPr>
          <a:lstStyle/>
          <a:p>
            <a:pPr marL="0" indent="0">
              <a:buNone/>
            </a:pPr>
            <a:endParaRPr lang="en-US" sz="2000">
              <a:ea typeface="+mn-lt"/>
              <a:cs typeface="+mn-lt"/>
            </a:endParaRPr>
          </a:p>
          <a:p>
            <a:pPr>
              <a:buFont typeface="Arial"/>
            </a:pPr>
            <a:r>
              <a:rPr lang="en-US" sz="2000">
                <a:cs typeface="Calibri"/>
              </a:rPr>
              <a:t>Popular areas of study for sports medicine:  Sports ethics, Sports psychology, Sports nutrition</a:t>
            </a:r>
            <a:endParaRPr lang="en-US" sz="2000">
              <a:ea typeface="+mn-lt"/>
              <a:cs typeface="+mn-lt"/>
            </a:endParaRPr>
          </a:p>
          <a:p>
            <a:pPr>
              <a:buFont typeface="Arial"/>
            </a:pPr>
            <a:r>
              <a:rPr lang="en-US" sz="2000">
                <a:cs typeface="Calibri"/>
              </a:rPr>
              <a:t>Top sports </a:t>
            </a:r>
            <a:r>
              <a:rPr lang="en-US" sz="2000">
                <a:ea typeface="+mn-lt"/>
                <a:cs typeface="+mn-lt"/>
              </a:rPr>
              <a:t>medicine schools=Division 1 schools, studies on </a:t>
            </a:r>
            <a:r>
              <a:rPr lang="en-US" sz="2000">
                <a:cs typeface="Calibri"/>
              </a:rPr>
              <a:t>athletes</a:t>
            </a:r>
            <a:endParaRPr lang="en-US" sz="2000">
              <a:ea typeface="+mn-lt"/>
              <a:cs typeface="+mn-lt"/>
            </a:endParaRPr>
          </a:p>
          <a:p>
            <a:pPr>
              <a:buFont typeface="Arial"/>
            </a:pPr>
            <a:r>
              <a:rPr lang="en-US" sz="2000">
                <a:cs typeface="Calibri"/>
              </a:rPr>
              <a:t>Loma Linda University Health study</a:t>
            </a:r>
            <a:endParaRPr lang="en-US"/>
          </a:p>
          <a:p>
            <a:endParaRPr lang="en-US" sz="2000">
              <a:cs typeface="Calibri"/>
            </a:endParaRPr>
          </a:p>
          <a:p>
            <a:endParaRPr lang="en-US" sz="2000">
              <a:cs typeface="Calibri"/>
            </a:endParaRPr>
          </a:p>
        </p:txBody>
      </p:sp>
      <p:pic>
        <p:nvPicPr>
          <p:cNvPr id="5" name="Picture 6">
            <a:extLst>
              <a:ext uri="{FF2B5EF4-FFF2-40B4-BE49-F238E27FC236}">
                <a16:creationId xmlns:a16="http://schemas.microsoft.com/office/drawing/2014/main" id="{1D168E37-915B-0AA9-7623-966B7C4DD05C}"/>
              </a:ext>
            </a:extLst>
          </p:cNvPr>
          <p:cNvPicPr>
            <a:picLocks noChangeAspect="1"/>
          </p:cNvPicPr>
          <p:nvPr/>
        </p:nvPicPr>
        <p:blipFill>
          <a:blip r:embed="rId3"/>
          <a:stretch>
            <a:fillRect/>
          </a:stretch>
        </p:blipFill>
        <p:spPr>
          <a:xfrm>
            <a:off x="274500" y="5189298"/>
            <a:ext cx="3532036" cy="1373569"/>
          </a:xfrm>
          <a:prstGeom prst="rect">
            <a:avLst/>
          </a:prstGeom>
        </p:spPr>
      </p:pic>
      <p:pic>
        <p:nvPicPr>
          <p:cNvPr id="7" name="Picture 4" descr="Logo&#10;&#10;Description automatically generated">
            <a:extLst>
              <a:ext uri="{FF2B5EF4-FFF2-40B4-BE49-F238E27FC236}">
                <a16:creationId xmlns:a16="http://schemas.microsoft.com/office/drawing/2014/main" id="{B0E43156-8B5E-0CE5-AB29-DC6B7FE6D492}"/>
              </a:ext>
            </a:extLst>
          </p:cNvPr>
          <p:cNvPicPr>
            <a:picLocks noChangeAspect="1"/>
          </p:cNvPicPr>
          <p:nvPr/>
        </p:nvPicPr>
        <p:blipFill>
          <a:blip r:embed="rId4"/>
          <a:stretch>
            <a:fillRect/>
          </a:stretch>
        </p:blipFill>
        <p:spPr>
          <a:xfrm>
            <a:off x="4338235" y="4734631"/>
            <a:ext cx="1890220" cy="1890220"/>
          </a:xfrm>
          <a:prstGeom prst="rect">
            <a:avLst/>
          </a:prstGeom>
        </p:spPr>
      </p:pic>
      <p:pic>
        <p:nvPicPr>
          <p:cNvPr id="11" name="Picture 5" descr="Logo, company name&#10;&#10;Description automatically generated">
            <a:extLst>
              <a:ext uri="{FF2B5EF4-FFF2-40B4-BE49-F238E27FC236}">
                <a16:creationId xmlns:a16="http://schemas.microsoft.com/office/drawing/2014/main" id="{F11667B4-13F8-D88C-C903-1892FBB253AD}"/>
              </a:ext>
            </a:extLst>
          </p:cNvPr>
          <p:cNvPicPr>
            <a:picLocks noChangeAspect="1"/>
          </p:cNvPicPr>
          <p:nvPr/>
        </p:nvPicPr>
        <p:blipFill>
          <a:blip r:embed="rId5"/>
          <a:stretch>
            <a:fillRect/>
          </a:stretch>
        </p:blipFill>
        <p:spPr>
          <a:xfrm>
            <a:off x="6314648" y="4773817"/>
            <a:ext cx="3423794" cy="1890220"/>
          </a:xfrm>
          <a:prstGeom prst="rect">
            <a:avLst/>
          </a:prstGeom>
        </p:spPr>
      </p:pic>
      <p:pic>
        <p:nvPicPr>
          <p:cNvPr id="15" name="Picture 4" descr="A picture containing company name&#10;&#10;Description automatically generated">
            <a:extLst>
              <a:ext uri="{FF2B5EF4-FFF2-40B4-BE49-F238E27FC236}">
                <a16:creationId xmlns:a16="http://schemas.microsoft.com/office/drawing/2014/main" id="{56FDF44C-0EFE-EFEB-51A6-0929B8D7AB5B}"/>
              </a:ext>
            </a:extLst>
          </p:cNvPr>
          <p:cNvPicPr>
            <a:picLocks noChangeAspect="1"/>
          </p:cNvPicPr>
          <p:nvPr/>
        </p:nvPicPr>
        <p:blipFill>
          <a:blip r:embed="rId6"/>
          <a:stretch>
            <a:fillRect/>
          </a:stretch>
        </p:blipFill>
        <p:spPr>
          <a:xfrm>
            <a:off x="10296974" y="-655"/>
            <a:ext cx="1898351" cy="1594584"/>
          </a:xfrm>
          <a:prstGeom prst="rect">
            <a:avLst/>
          </a:prstGeom>
        </p:spPr>
      </p:pic>
    </p:spTree>
    <p:extLst>
      <p:ext uri="{BB962C8B-B14F-4D97-AF65-F5344CB8AC3E}">
        <p14:creationId xmlns:p14="http://schemas.microsoft.com/office/powerpoint/2010/main" val="33641025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BBA5E19-7369-D003-C993-732B16B49605}"/>
              </a:ext>
            </a:extLst>
          </p:cNvPr>
          <p:cNvSpPr>
            <a:spLocks noGrp="1"/>
          </p:cNvSpPr>
          <p:nvPr>
            <p:ph type="title"/>
          </p:nvPr>
        </p:nvSpPr>
        <p:spPr>
          <a:xfrm>
            <a:off x="1371599" y="294538"/>
            <a:ext cx="9895951" cy="1033669"/>
          </a:xfrm>
        </p:spPr>
        <p:txBody>
          <a:bodyPr>
            <a:normAutofit/>
          </a:bodyPr>
          <a:lstStyle/>
          <a:p>
            <a:r>
              <a:rPr lang="en-US" sz="4000">
                <a:solidFill>
                  <a:srgbClr val="FFFFFF"/>
                </a:solidFill>
                <a:cs typeface="Calibri Light"/>
              </a:rPr>
              <a:t>Potential Partners</a:t>
            </a:r>
          </a:p>
        </p:txBody>
      </p:sp>
      <p:sp>
        <p:nvSpPr>
          <p:cNvPr id="3" name="Content Placeholder 2">
            <a:extLst>
              <a:ext uri="{FF2B5EF4-FFF2-40B4-BE49-F238E27FC236}">
                <a16:creationId xmlns:a16="http://schemas.microsoft.com/office/drawing/2014/main" id="{BF63200B-02C7-1A29-07A8-8B8BF582AE75}"/>
              </a:ext>
            </a:extLst>
          </p:cNvPr>
          <p:cNvSpPr>
            <a:spLocks noGrp="1"/>
          </p:cNvSpPr>
          <p:nvPr>
            <p:ph idx="1"/>
          </p:nvPr>
        </p:nvSpPr>
        <p:spPr>
          <a:xfrm>
            <a:off x="1330035" y="2041106"/>
            <a:ext cx="9724031" cy="3683358"/>
          </a:xfrm>
        </p:spPr>
        <p:txBody>
          <a:bodyPr vert="horz" lIns="91440" tIns="45720" rIns="91440" bIns="45720" rtlCol="0" anchor="ctr">
            <a:normAutofit/>
          </a:bodyPr>
          <a:lstStyle/>
          <a:p>
            <a:r>
              <a:rPr lang="en-US" sz="2000">
                <a:cs typeface="Calibri"/>
              </a:rPr>
              <a:t>Athletic Training Room Designer Companies </a:t>
            </a:r>
          </a:p>
          <a:p>
            <a:r>
              <a:rPr lang="en-US" sz="2000">
                <a:ea typeface="+mn-lt"/>
                <a:cs typeface="+mn-lt"/>
              </a:rPr>
              <a:t>Offering promotions and advertising on campus to student athletes and sports medicine</a:t>
            </a:r>
          </a:p>
          <a:p>
            <a:r>
              <a:rPr lang="en-US" sz="2000">
                <a:ea typeface="+mn-lt"/>
                <a:cs typeface="+mn-lt"/>
              </a:rPr>
              <a:t>Have student athlete ambassadors market products through social media </a:t>
            </a:r>
            <a:endParaRPr lang="en-US"/>
          </a:p>
          <a:p>
            <a:r>
              <a:rPr lang="en-US" sz="2000">
                <a:ea typeface="+mn-lt"/>
                <a:cs typeface="+mn-lt"/>
              </a:rPr>
              <a:t>Reach out to student athletes to promote products </a:t>
            </a:r>
          </a:p>
          <a:p>
            <a:r>
              <a:rPr lang="en-US" sz="2000">
                <a:ea typeface="+mn-lt"/>
                <a:cs typeface="+mn-lt"/>
              </a:rPr>
              <a:t>Create a social media presence around schools that have a big athletic presence</a:t>
            </a:r>
          </a:p>
          <a:p>
            <a:r>
              <a:rPr lang="en-US" sz="2000">
                <a:ea typeface="+mn-lt"/>
                <a:cs typeface="+mn-lt"/>
              </a:rPr>
              <a:t>Subscription based software updates </a:t>
            </a:r>
          </a:p>
        </p:txBody>
      </p:sp>
      <p:pic>
        <p:nvPicPr>
          <p:cNvPr id="6" name="Picture 6">
            <a:extLst>
              <a:ext uri="{FF2B5EF4-FFF2-40B4-BE49-F238E27FC236}">
                <a16:creationId xmlns:a16="http://schemas.microsoft.com/office/drawing/2014/main" id="{A925774A-2ABC-DA2B-F6F3-71C3E5D0C826}"/>
              </a:ext>
            </a:extLst>
          </p:cNvPr>
          <p:cNvPicPr>
            <a:picLocks noChangeAspect="1"/>
          </p:cNvPicPr>
          <p:nvPr/>
        </p:nvPicPr>
        <p:blipFill>
          <a:blip r:embed="rId3"/>
          <a:stretch>
            <a:fillRect/>
          </a:stretch>
        </p:blipFill>
        <p:spPr>
          <a:xfrm>
            <a:off x="458214" y="1950544"/>
            <a:ext cx="2743199" cy="202223"/>
          </a:xfrm>
          <a:prstGeom prst="rect">
            <a:avLst/>
          </a:prstGeom>
        </p:spPr>
      </p:pic>
      <p:pic>
        <p:nvPicPr>
          <p:cNvPr id="7" name="Picture 8" descr="Icon&#10;&#10;Description automatically generated">
            <a:extLst>
              <a:ext uri="{FF2B5EF4-FFF2-40B4-BE49-F238E27FC236}">
                <a16:creationId xmlns:a16="http://schemas.microsoft.com/office/drawing/2014/main" id="{947C7EBF-1B13-DDBD-0302-2EF6EACFE3FB}"/>
              </a:ext>
            </a:extLst>
          </p:cNvPr>
          <p:cNvPicPr>
            <a:picLocks noChangeAspect="1"/>
          </p:cNvPicPr>
          <p:nvPr/>
        </p:nvPicPr>
        <p:blipFill>
          <a:blip r:embed="rId4"/>
          <a:stretch>
            <a:fillRect/>
          </a:stretch>
        </p:blipFill>
        <p:spPr>
          <a:xfrm>
            <a:off x="3449783" y="1750608"/>
            <a:ext cx="2743198" cy="574388"/>
          </a:xfrm>
          <a:prstGeom prst="rect">
            <a:avLst/>
          </a:prstGeom>
        </p:spPr>
      </p:pic>
      <p:pic>
        <p:nvPicPr>
          <p:cNvPr id="9" name="Picture 10" descr="Logo, icon&#10;&#10;Description automatically generated">
            <a:extLst>
              <a:ext uri="{FF2B5EF4-FFF2-40B4-BE49-F238E27FC236}">
                <a16:creationId xmlns:a16="http://schemas.microsoft.com/office/drawing/2014/main" id="{F3D2DAAB-D6CC-E3D5-5435-D1B80C95F51C}"/>
              </a:ext>
            </a:extLst>
          </p:cNvPr>
          <p:cNvPicPr>
            <a:picLocks noChangeAspect="1"/>
          </p:cNvPicPr>
          <p:nvPr/>
        </p:nvPicPr>
        <p:blipFill>
          <a:blip r:embed="rId5"/>
          <a:stretch>
            <a:fillRect/>
          </a:stretch>
        </p:blipFill>
        <p:spPr>
          <a:xfrm>
            <a:off x="6321388" y="1711204"/>
            <a:ext cx="763860" cy="791738"/>
          </a:xfrm>
          <a:prstGeom prst="rect">
            <a:avLst/>
          </a:prstGeom>
        </p:spPr>
      </p:pic>
      <p:pic>
        <p:nvPicPr>
          <p:cNvPr id="11" name="Picture 12">
            <a:extLst>
              <a:ext uri="{FF2B5EF4-FFF2-40B4-BE49-F238E27FC236}">
                <a16:creationId xmlns:a16="http://schemas.microsoft.com/office/drawing/2014/main" id="{251F1663-83EB-5DA4-A2C9-71AEDF733464}"/>
              </a:ext>
            </a:extLst>
          </p:cNvPr>
          <p:cNvPicPr>
            <a:picLocks noChangeAspect="1"/>
          </p:cNvPicPr>
          <p:nvPr/>
        </p:nvPicPr>
        <p:blipFill>
          <a:blip r:embed="rId6"/>
          <a:stretch>
            <a:fillRect/>
          </a:stretch>
        </p:blipFill>
        <p:spPr>
          <a:xfrm>
            <a:off x="7732103" y="1670570"/>
            <a:ext cx="762000" cy="743415"/>
          </a:xfrm>
          <a:prstGeom prst="rect">
            <a:avLst/>
          </a:prstGeom>
        </p:spPr>
      </p:pic>
      <p:pic>
        <p:nvPicPr>
          <p:cNvPr id="13" name="Picture 14" descr="Logo, company name&#10;&#10;Description automatically generated">
            <a:extLst>
              <a:ext uri="{FF2B5EF4-FFF2-40B4-BE49-F238E27FC236}">
                <a16:creationId xmlns:a16="http://schemas.microsoft.com/office/drawing/2014/main" id="{28C0FF2D-5E89-2F40-77E6-0197040DAD0B}"/>
              </a:ext>
            </a:extLst>
          </p:cNvPr>
          <p:cNvPicPr>
            <a:picLocks noChangeAspect="1"/>
          </p:cNvPicPr>
          <p:nvPr/>
        </p:nvPicPr>
        <p:blipFill>
          <a:blip r:embed="rId7"/>
          <a:stretch>
            <a:fillRect/>
          </a:stretch>
        </p:blipFill>
        <p:spPr>
          <a:xfrm>
            <a:off x="8868429" y="1654396"/>
            <a:ext cx="1061225" cy="775765"/>
          </a:xfrm>
          <a:prstGeom prst="rect">
            <a:avLst/>
          </a:prstGeom>
        </p:spPr>
      </p:pic>
      <p:pic>
        <p:nvPicPr>
          <p:cNvPr id="17" name="Picture 4" descr="A picture containing company name&#10;&#10;Description automatically generated">
            <a:extLst>
              <a:ext uri="{FF2B5EF4-FFF2-40B4-BE49-F238E27FC236}">
                <a16:creationId xmlns:a16="http://schemas.microsoft.com/office/drawing/2014/main" id="{5CAAEEA8-D047-F026-6835-814AA7B99062}"/>
              </a:ext>
            </a:extLst>
          </p:cNvPr>
          <p:cNvPicPr>
            <a:picLocks noChangeAspect="1"/>
          </p:cNvPicPr>
          <p:nvPr/>
        </p:nvPicPr>
        <p:blipFill>
          <a:blip r:embed="rId8"/>
          <a:stretch>
            <a:fillRect/>
          </a:stretch>
        </p:blipFill>
        <p:spPr>
          <a:xfrm>
            <a:off x="10296974" y="-655"/>
            <a:ext cx="1898351" cy="1594584"/>
          </a:xfrm>
          <a:prstGeom prst="rect">
            <a:avLst/>
          </a:prstGeom>
        </p:spPr>
      </p:pic>
    </p:spTree>
    <p:extLst>
      <p:ext uri="{BB962C8B-B14F-4D97-AF65-F5344CB8AC3E}">
        <p14:creationId xmlns:p14="http://schemas.microsoft.com/office/powerpoint/2010/main" val="32703296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51BE612-FC83-AA8A-B9DB-E2235C1DFEA4}"/>
              </a:ext>
            </a:extLst>
          </p:cNvPr>
          <p:cNvSpPr>
            <a:spLocks noGrp="1"/>
          </p:cNvSpPr>
          <p:nvPr>
            <p:ph type="title"/>
          </p:nvPr>
        </p:nvSpPr>
        <p:spPr>
          <a:xfrm>
            <a:off x="1371599" y="294538"/>
            <a:ext cx="9895951" cy="1033669"/>
          </a:xfrm>
        </p:spPr>
        <p:txBody>
          <a:bodyPr>
            <a:normAutofit/>
          </a:bodyPr>
          <a:lstStyle/>
          <a:p>
            <a:r>
              <a:rPr lang="en-US" sz="4000">
                <a:solidFill>
                  <a:srgbClr val="FFFFFF"/>
                </a:solidFill>
                <a:cs typeface="Calibri Light"/>
              </a:rPr>
              <a:t>Major Competitors </a:t>
            </a:r>
            <a:endParaRPr lang="en-US" sz="4000">
              <a:solidFill>
                <a:srgbClr val="FFFFFF"/>
              </a:solidFill>
            </a:endParaRPr>
          </a:p>
        </p:txBody>
      </p:sp>
      <p:graphicFrame>
        <p:nvGraphicFramePr>
          <p:cNvPr id="20" name="Content Placeholder 2">
            <a:extLst>
              <a:ext uri="{FF2B5EF4-FFF2-40B4-BE49-F238E27FC236}">
                <a16:creationId xmlns:a16="http://schemas.microsoft.com/office/drawing/2014/main" id="{BAD77FC6-B0AD-44A2-5518-215265EF49D8}"/>
              </a:ext>
            </a:extLst>
          </p:cNvPr>
          <p:cNvGraphicFramePr>
            <a:graphicFrameLocks noGrp="1"/>
          </p:cNvGraphicFramePr>
          <p:nvPr>
            <p:ph idx="1"/>
          </p:nvPr>
        </p:nvGraphicFramePr>
        <p:xfrm>
          <a:off x="676834" y="3887020"/>
          <a:ext cx="9724031" cy="274206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4" name="Picture 4" descr="A picture containing text, clipart&#10;&#10;Description automatically generated">
            <a:extLst>
              <a:ext uri="{FF2B5EF4-FFF2-40B4-BE49-F238E27FC236}">
                <a16:creationId xmlns:a16="http://schemas.microsoft.com/office/drawing/2014/main" id="{7424D512-2B3A-16FA-D15A-22266BCE3CD5}"/>
              </a:ext>
            </a:extLst>
          </p:cNvPr>
          <p:cNvPicPr>
            <a:picLocks noChangeAspect="1"/>
          </p:cNvPicPr>
          <p:nvPr/>
        </p:nvPicPr>
        <p:blipFill>
          <a:blip r:embed="rId8"/>
          <a:stretch>
            <a:fillRect/>
          </a:stretch>
        </p:blipFill>
        <p:spPr>
          <a:xfrm>
            <a:off x="670443" y="1826050"/>
            <a:ext cx="2371725" cy="876300"/>
          </a:xfrm>
          <a:prstGeom prst="rect">
            <a:avLst/>
          </a:prstGeom>
        </p:spPr>
      </p:pic>
      <p:pic>
        <p:nvPicPr>
          <p:cNvPr id="5" name="Picture 5">
            <a:extLst>
              <a:ext uri="{FF2B5EF4-FFF2-40B4-BE49-F238E27FC236}">
                <a16:creationId xmlns:a16="http://schemas.microsoft.com/office/drawing/2014/main" id="{9BED74A9-0412-30DC-E5A6-83641357A0D1}"/>
              </a:ext>
            </a:extLst>
          </p:cNvPr>
          <p:cNvPicPr>
            <a:picLocks noChangeAspect="1"/>
          </p:cNvPicPr>
          <p:nvPr/>
        </p:nvPicPr>
        <p:blipFill>
          <a:blip r:embed="rId9"/>
          <a:stretch>
            <a:fillRect/>
          </a:stretch>
        </p:blipFill>
        <p:spPr>
          <a:xfrm>
            <a:off x="3618604" y="1766748"/>
            <a:ext cx="1920241" cy="994903"/>
          </a:xfrm>
          <a:prstGeom prst="rect">
            <a:avLst/>
          </a:prstGeom>
        </p:spPr>
      </p:pic>
      <p:pic>
        <p:nvPicPr>
          <p:cNvPr id="6" name="Picture 6">
            <a:extLst>
              <a:ext uri="{FF2B5EF4-FFF2-40B4-BE49-F238E27FC236}">
                <a16:creationId xmlns:a16="http://schemas.microsoft.com/office/drawing/2014/main" id="{F7E07389-BBE5-A079-1DA4-EFE39628835E}"/>
              </a:ext>
            </a:extLst>
          </p:cNvPr>
          <p:cNvPicPr>
            <a:picLocks noChangeAspect="1"/>
          </p:cNvPicPr>
          <p:nvPr/>
        </p:nvPicPr>
        <p:blipFill>
          <a:blip r:embed="rId10"/>
          <a:stretch>
            <a:fillRect/>
          </a:stretch>
        </p:blipFill>
        <p:spPr>
          <a:xfrm>
            <a:off x="6369541" y="1594584"/>
            <a:ext cx="1695450" cy="2447925"/>
          </a:xfrm>
          <a:prstGeom prst="rect">
            <a:avLst/>
          </a:prstGeom>
        </p:spPr>
      </p:pic>
      <p:pic>
        <p:nvPicPr>
          <p:cNvPr id="9" name="Picture 10" descr="A picture containing text, clipart&#10;&#10;Description automatically generated">
            <a:extLst>
              <a:ext uri="{FF2B5EF4-FFF2-40B4-BE49-F238E27FC236}">
                <a16:creationId xmlns:a16="http://schemas.microsoft.com/office/drawing/2014/main" id="{4C78FBA5-F00D-4484-4733-EF40BCE9D6D5}"/>
              </a:ext>
            </a:extLst>
          </p:cNvPr>
          <p:cNvPicPr>
            <a:picLocks noChangeAspect="1"/>
          </p:cNvPicPr>
          <p:nvPr/>
        </p:nvPicPr>
        <p:blipFill>
          <a:blip r:embed="rId11"/>
          <a:stretch>
            <a:fillRect/>
          </a:stretch>
        </p:blipFill>
        <p:spPr>
          <a:xfrm>
            <a:off x="8506692" y="2265122"/>
            <a:ext cx="2743200" cy="526664"/>
          </a:xfrm>
          <a:prstGeom prst="rect">
            <a:avLst/>
          </a:prstGeom>
        </p:spPr>
      </p:pic>
      <p:pic>
        <p:nvPicPr>
          <p:cNvPr id="652" name="Picture 4" descr="A picture containing company name&#10;&#10;Description automatically generated">
            <a:extLst>
              <a:ext uri="{FF2B5EF4-FFF2-40B4-BE49-F238E27FC236}">
                <a16:creationId xmlns:a16="http://schemas.microsoft.com/office/drawing/2014/main" id="{67AD59EA-3B00-0212-3571-0FF4A0ACF5CA}"/>
              </a:ext>
            </a:extLst>
          </p:cNvPr>
          <p:cNvPicPr>
            <a:picLocks noChangeAspect="1"/>
          </p:cNvPicPr>
          <p:nvPr/>
        </p:nvPicPr>
        <p:blipFill>
          <a:blip r:embed="rId12"/>
          <a:stretch>
            <a:fillRect/>
          </a:stretch>
        </p:blipFill>
        <p:spPr>
          <a:xfrm>
            <a:off x="10296974" y="-655"/>
            <a:ext cx="1898351" cy="1594584"/>
          </a:xfrm>
          <a:prstGeom prst="rect">
            <a:avLst/>
          </a:prstGeom>
        </p:spPr>
      </p:pic>
    </p:spTree>
    <p:extLst>
      <p:ext uri="{BB962C8B-B14F-4D97-AF65-F5344CB8AC3E}">
        <p14:creationId xmlns:p14="http://schemas.microsoft.com/office/powerpoint/2010/main" val="39202622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344A12A-129D-D34D-CBB4-4E3970768CF9}"/>
              </a:ext>
            </a:extLst>
          </p:cNvPr>
          <p:cNvSpPr>
            <a:spLocks noGrp="1"/>
          </p:cNvSpPr>
          <p:nvPr>
            <p:ph type="title"/>
          </p:nvPr>
        </p:nvSpPr>
        <p:spPr>
          <a:xfrm>
            <a:off x="1371599" y="294538"/>
            <a:ext cx="9895951" cy="1033669"/>
          </a:xfrm>
        </p:spPr>
        <p:txBody>
          <a:bodyPr>
            <a:normAutofit/>
          </a:bodyPr>
          <a:lstStyle/>
          <a:p>
            <a:r>
              <a:rPr lang="en-US" sz="4000">
                <a:solidFill>
                  <a:srgbClr val="FFFFFF"/>
                </a:solidFill>
                <a:cs typeface="Calibri Light"/>
              </a:rPr>
              <a:t>Regulations</a:t>
            </a:r>
          </a:p>
        </p:txBody>
      </p:sp>
      <p:graphicFrame>
        <p:nvGraphicFramePr>
          <p:cNvPr id="18" name="Content Placeholder 2">
            <a:extLst>
              <a:ext uri="{FF2B5EF4-FFF2-40B4-BE49-F238E27FC236}">
                <a16:creationId xmlns:a16="http://schemas.microsoft.com/office/drawing/2014/main" id="{03C92D4F-E075-78CE-7A18-251CB48B6408}"/>
              </a:ext>
            </a:extLst>
          </p:cNvPr>
          <p:cNvGraphicFramePr>
            <a:graphicFrameLocks noGrp="1"/>
          </p:cNvGraphicFramePr>
          <p:nvPr>
            <p:ph idx="1"/>
          </p:nvPr>
        </p:nvGraphicFramePr>
        <p:xfrm>
          <a:off x="1371599" y="2318197"/>
          <a:ext cx="9724031" cy="203609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7" name="Picture 4" descr="A picture containing company name&#10;&#10;Description automatically generated">
            <a:extLst>
              <a:ext uri="{FF2B5EF4-FFF2-40B4-BE49-F238E27FC236}">
                <a16:creationId xmlns:a16="http://schemas.microsoft.com/office/drawing/2014/main" id="{5A17F83F-4C4A-BF64-20B8-AE2FAEC624E2}"/>
              </a:ext>
            </a:extLst>
          </p:cNvPr>
          <p:cNvPicPr>
            <a:picLocks noChangeAspect="1"/>
          </p:cNvPicPr>
          <p:nvPr/>
        </p:nvPicPr>
        <p:blipFill>
          <a:blip r:embed="rId8"/>
          <a:stretch>
            <a:fillRect/>
          </a:stretch>
        </p:blipFill>
        <p:spPr>
          <a:xfrm>
            <a:off x="10296974" y="-655"/>
            <a:ext cx="1898351" cy="1594584"/>
          </a:xfrm>
          <a:prstGeom prst="rect">
            <a:avLst/>
          </a:prstGeom>
        </p:spPr>
      </p:pic>
      <p:pic>
        <p:nvPicPr>
          <p:cNvPr id="20" name="Picture 20" descr="Logo&#10;&#10;Description automatically generated">
            <a:extLst>
              <a:ext uri="{FF2B5EF4-FFF2-40B4-BE49-F238E27FC236}">
                <a16:creationId xmlns:a16="http://schemas.microsoft.com/office/drawing/2014/main" id="{29E40174-5D07-8440-D29E-93C87AB11BB3}"/>
              </a:ext>
            </a:extLst>
          </p:cNvPr>
          <p:cNvPicPr>
            <a:picLocks noChangeAspect="1"/>
          </p:cNvPicPr>
          <p:nvPr/>
        </p:nvPicPr>
        <p:blipFill>
          <a:blip r:embed="rId9"/>
          <a:stretch>
            <a:fillRect/>
          </a:stretch>
        </p:blipFill>
        <p:spPr>
          <a:xfrm>
            <a:off x="346364" y="4895677"/>
            <a:ext cx="2743200" cy="1223010"/>
          </a:xfrm>
          <a:prstGeom prst="rect">
            <a:avLst/>
          </a:prstGeom>
        </p:spPr>
      </p:pic>
      <p:pic>
        <p:nvPicPr>
          <p:cNvPr id="21" name="Picture 21">
            <a:extLst>
              <a:ext uri="{FF2B5EF4-FFF2-40B4-BE49-F238E27FC236}">
                <a16:creationId xmlns:a16="http://schemas.microsoft.com/office/drawing/2014/main" id="{B9DDA8D9-0C17-4E36-D11F-48A03B2B6792}"/>
              </a:ext>
            </a:extLst>
          </p:cNvPr>
          <p:cNvPicPr>
            <a:picLocks noChangeAspect="1"/>
          </p:cNvPicPr>
          <p:nvPr/>
        </p:nvPicPr>
        <p:blipFill>
          <a:blip r:embed="rId10"/>
          <a:stretch>
            <a:fillRect/>
          </a:stretch>
        </p:blipFill>
        <p:spPr>
          <a:xfrm>
            <a:off x="3190010" y="4568536"/>
            <a:ext cx="1905000" cy="1905000"/>
          </a:xfrm>
          <a:prstGeom prst="rect">
            <a:avLst/>
          </a:prstGeom>
        </p:spPr>
      </p:pic>
      <p:pic>
        <p:nvPicPr>
          <p:cNvPr id="26" name="Picture 26">
            <a:extLst>
              <a:ext uri="{FF2B5EF4-FFF2-40B4-BE49-F238E27FC236}">
                <a16:creationId xmlns:a16="http://schemas.microsoft.com/office/drawing/2014/main" id="{89B44227-9A37-593F-C09F-A1785D58C418}"/>
              </a:ext>
            </a:extLst>
          </p:cNvPr>
          <p:cNvPicPr>
            <a:picLocks noChangeAspect="1"/>
          </p:cNvPicPr>
          <p:nvPr/>
        </p:nvPicPr>
        <p:blipFill>
          <a:blip r:embed="rId11"/>
          <a:stretch>
            <a:fillRect/>
          </a:stretch>
        </p:blipFill>
        <p:spPr>
          <a:xfrm>
            <a:off x="5389418" y="4567604"/>
            <a:ext cx="1607128" cy="2114682"/>
          </a:xfrm>
          <a:prstGeom prst="rect">
            <a:avLst/>
          </a:prstGeom>
        </p:spPr>
      </p:pic>
      <p:pic>
        <p:nvPicPr>
          <p:cNvPr id="27" name="Picture 27" descr="Logo, company name&#10;&#10;Description automatically generated">
            <a:extLst>
              <a:ext uri="{FF2B5EF4-FFF2-40B4-BE49-F238E27FC236}">
                <a16:creationId xmlns:a16="http://schemas.microsoft.com/office/drawing/2014/main" id="{91C5CFA7-52D9-7203-81F6-880192B40A1A}"/>
              </a:ext>
            </a:extLst>
          </p:cNvPr>
          <p:cNvPicPr>
            <a:picLocks noChangeAspect="1"/>
          </p:cNvPicPr>
          <p:nvPr/>
        </p:nvPicPr>
        <p:blipFill>
          <a:blip r:embed="rId12"/>
          <a:stretch>
            <a:fillRect/>
          </a:stretch>
        </p:blipFill>
        <p:spPr>
          <a:xfrm>
            <a:off x="7412181" y="4570666"/>
            <a:ext cx="4003963" cy="2039285"/>
          </a:xfrm>
          <a:prstGeom prst="rect">
            <a:avLst/>
          </a:prstGeom>
        </p:spPr>
      </p:pic>
    </p:spTree>
    <p:extLst>
      <p:ext uri="{BB962C8B-B14F-4D97-AF65-F5344CB8AC3E}">
        <p14:creationId xmlns:p14="http://schemas.microsoft.com/office/powerpoint/2010/main" val="11047286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27B96D9-8C2F-409F-ED84-9252040BD2E4}"/>
              </a:ext>
            </a:extLst>
          </p:cNvPr>
          <p:cNvSpPr>
            <a:spLocks noGrp="1"/>
          </p:cNvSpPr>
          <p:nvPr>
            <p:ph type="title"/>
          </p:nvPr>
        </p:nvSpPr>
        <p:spPr>
          <a:xfrm>
            <a:off x="1371599" y="294538"/>
            <a:ext cx="9895951" cy="1033669"/>
          </a:xfrm>
        </p:spPr>
        <p:txBody>
          <a:bodyPr>
            <a:normAutofit/>
          </a:bodyPr>
          <a:lstStyle/>
          <a:p>
            <a:r>
              <a:rPr lang="en-US" sz="4000">
                <a:solidFill>
                  <a:srgbClr val="FFFFFF"/>
                </a:solidFill>
                <a:cs typeface="Calibri Light"/>
              </a:rPr>
              <a:t>Collaboration with Venture Capitalists </a:t>
            </a:r>
            <a:endParaRPr lang="en-US" sz="4000">
              <a:solidFill>
                <a:srgbClr val="FFFFFF"/>
              </a:solidFill>
              <a:ea typeface="Calibri Light" panose="020F0302020204030204"/>
              <a:cs typeface="Calibri Light" panose="020F0302020204030204"/>
            </a:endParaRPr>
          </a:p>
        </p:txBody>
      </p:sp>
      <p:sp>
        <p:nvSpPr>
          <p:cNvPr id="3" name="Content Placeholder 2">
            <a:extLst>
              <a:ext uri="{FF2B5EF4-FFF2-40B4-BE49-F238E27FC236}">
                <a16:creationId xmlns:a16="http://schemas.microsoft.com/office/drawing/2014/main" id="{371DEE85-9828-1B41-9CE3-74F1EB965E31}"/>
              </a:ext>
            </a:extLst>
          </p:cNvPr>
          <p:cNvSpPr>
            <a:spLocks noGrp="1"/>
          </p:cNvSpPr>
          <p:nvPr>
            <p:ph idx="1"/>
          </p:nvPr>
        </p:nvSpPr>
        <p:spPr>
          <a:xfrm>
            <a:off x="1371599" y="2318197"/>
            <a:ext cx="9724031" cy="3683358"/>
          </a:xfrm>
        </p:spPr>
        <p:txBody>
          <a:bodyPr anchor="ctr">
            <a:normAutofit/>
          </a:bodyPr>
          <a:lstStyle/>
          <a:p>
            <a:pPr marL="0" indent="0">
              <a:buNone/>
            </a:pPr>
            <a:br>
              <a:rPr lang="en-US"/>
            </a:br>
            <a:br>
              <a:rPr lang="en-US"/>
            </a:br>
            <a:endParaRPr lang="en-US">
              <a:cs typeface="Calibri" panose="020F0502020204030204"/>
            </a:endParaRPr>
          </a:p>
          <a:p>
            <a:endParaRPr lang="en-US" sz="2000">
              <a:cs typeface="Calibri"/>
            </a:endParaRPr>
          </a:p>
        </p:txBody>
      </p:sp>
      <p:pic>
        <p:nvPicPr>
          <p:cNvPr id="13" name="Picture 4" descr="A picture containing company name&#10;&#10;Description automatically generated">
            <a:extLst>
              <a:ext uri="{FF2B5EF4-FFF2-40B4-BE49-F238E27FC236}">
                <a16:creationId xmlns:a16="http://schemas.microsoft.com/office/drawing/2014/main" id="{76EEE6A6-BD18-4BD0-2E8A-52AE991FFC26}"/>
              </a:ext>
            </a:extLst>
          </p:cNvPr>
          <p:cNvPicPr>
            <a:picLocks noChangeAspect="1"/>
          </p:cNvPicPr>
          <p:nvPr/>
        </p:nvPicPr>
        <p:blipFill>
          <a:blip r:embed="rId3"/>
          <a:stretch>
            <a:fillRect/>
          </a:stretch>
        </p:blipFill>
        <p:spPr>
          <a:xfrm>
            <a:off x="10296974" y="-655"/>
            <a:ext cx="1898351" cy="1594584"/>
          </a:xfrm>
          <a:prstGeom prst="rect">
            <a:avLst/>
          </a:prstGeom>
        </p:spPr>
      </p:pic>
      <p:pic>
        <p:nvPicPr>
          <p:cNvPr id="17" name="Picture 17" descr="Logo, company name&#10;&#10;Description automatically generated">
            <a:extLst>
              <a:ext uri="{FF2B5EF4-FFF2-40B4-BE49-F238E27FC236}">
                <a16:creationId xmlns:a16="http://schemas.microsoft.com/office/drawing/2014/main" id="{3E02777F-C3A3-7298-05C8-BD3DE2A81BCE}"/>
              </a:ext>
            </a:extLst>
          </p:cNvPr>
          <p:cNvPicPr>
            <a:picLocks noChangeAspect="1"/>
          </p:cNvPicPr>
          <p:nvPr/>
        </p:nvPicPr>
        <p:blipFill>
          <a:blip r:embed="rId4"/>
          <a:stretch>
            <a:fillRect/>
          </a:stretch>
        </p:blipFill>
        <p:spPr>
          <a:xfrm>
            <a:off x="4855839" y="1798395"/>
            <a:ext cx="2143125" cy="2143125"/>
          </a:xfrm>
          <a:prstGeom prst="rect">
            <a:avLst/>
          </a:prstGeom>
        </p:spPr>
      </p:pic>
      <p:pic>
        <p:nvPicPr>
          <p:cNvPr id="19" name="Picture 19" descr="A picture containing diagram&#10;&#10;Description automatically generated">
            <a:extLst>
              <a:ext uri="{FF2B5EF4-FFF2-40B4-BE49-F238E27FC236}">
                <a16:creationId xmlns:a16="http://schemas.microsoft.com/office/drawing/2014/main" id="{3BDAC52E-C292-135E-C6CD-0290539903E0}"/>
              </a:ext>
            </a:extLst>
          </p:cNvPr>
          <p:cNvPicPr>
            <a:picLocks noChangeAspect="1"/>
          </p:cNvPicPr>
          <p:nvPr/>
        </p:nvPicPr>
        <p:blipFill>
          <a:blip r:embed="rId5"/>
          <a:stretch>
            <a:fillRect/>
          </a:stretch>
        </p:blipFill>
        <p:spPr>
          <a:xfrm>
            <a:off x="8019495" y="2069434"/>
            <a:ext cx="2132341" cy="1196126"/>
          </a:xfrm>
          <a:prstGeom prst="rect">
            <a:avLst/>
          </a:prstGeom>
        </p:spPr>
      </p:pic>
      <p:pic>
        <p:nvPicPr>
          <p:cNvPr id="20" name="Picture 20" descr="A picture containing text, clipart&#10;&#10;Description automatically generated">
            <a:extLst>
              <a:ext uri="{FF2B5EF4-FFF2-40B4-BE49-F238E27FC236}">
                <a16:creationId xmlns:a16="http://schemas.microsoft.com/office/drawing/2014/main" id="{8316A7C7-78AC-47F1-2AF9-09F0D3120F4E}"/>
              </a:ext>
            </a:extLst>
          </p:cNvPr>
          <p:cNvPicPr>
            <a:picLocks noChangeAspect="1"/>
          </p:cNvPicPr>
          <p:nvPr/>
        </p:nvPicPr>
        <p:blipFill>
          <a:blip r:embed="rId6"/>
          <a:stretch>
            <a:fillRect/>
          </a:stretch>
        </p:blipFill>
        <p:spPr>
          <a:xfrm>
            <a:off x="4720037" y="4795937"/>
            <a:ext cx="2743200" cy="301752"/>
          </a:xfrm>
          <a:prstGeom prst="rect">
            <a:avLst/>
          </a:prstGeom>
        </p:spPr>
      </p:pic>
      <p:sp>
        <p:nvSpPr>
          <p:cNvPr id="21" name="TextBox 20">
            <a:extLst>
              <a:ext uri="{FF2B5EF4-FFF2-40B4-BE49-F238E27FC236}">
                <a16:creationId xmlns:a16="http://schemas.microsoft.com/office/drawing/2014/main" id="{2D2BDC5D-4072-FE6E-2382-8BDBD3828B70}"/>
              </a:ext>
            </a:extLst>
          </p:cNvPr>
          <p:cNvSpPr txBox="1"/>
          <p:nvPr/>
        </p:nvSpPr>
        <p:spPr>
          <a:xfrm>
            <a:off x="288987" y="2419232"/>
            <a:ext cx="4429890" cy="252376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cs typeface="Calibri"/>
              </a:rPr>
              <a:t>Possible Venture Capitalist Companies</a:t>
            </a:r>
          </a:p>
          <a:p>
            <a:endParaRPr lang="en-US">
              <a:latin typeface="Helvetica Neue"/>
            </a:endParaRPr>
          </a:p>
          <a:p>
            <a:pPr marL="342900" indent="-342900">
              <a:buFont typeface="Arial"/>
              <a:buChar char="•"/>
            </a:pPr>
            <a:r>
              <a:rPr lang="en-US" sz="2000">
                <a:cs typeface="Calibri"/>
              </a:rPr>
              <a:t>ADQ</a:t>
            </a:r>
          </a:p>
          <a:p>
            <a:pPr marL="342900" indent="-342900">
              <a:buFont typeface="Arial"/>
              <a:buChar char="•"/>
            </a:pPr>
            <a:r>
              <a:rPr lang="en-US" sz="2000">
                <a:cs typeface="Calibri"/>
              </a:rPr>
              <a:t>Bond </a:t>
            </a:r>
          </a:p>
          <a:p>
            <a:pPr marL="342900" indent="-342900">
              <a:buFont typeface="Arial"/>
              <a:buChar char="•"/>
            </a:pPr>
            <a:r>
              <a:rPr lang="en-US" sz="2000">
                <a:cs typeface="Calibri"/>
              </a:rPr>
              <a:t>Founders Fund </a:t>
            </a:r>
          </a:p>
          <a:p>
            <a:pPr marL="342900" indent="-342900">
              <a:buFont typeface="Arial"/>
              <a:buChar char="•"/>
            </a:pPr>
            <a:r>
              <a:rPr lang="en-US" sz="2000">
                <a:cs typeface="Calibri"/>
              </a:rPr>
              <a:t>General Catalyst</a:t>
            </a:r>
          </a:p>
          <a:p>
            <a:pPr marL="342900" indent="-342900">
              <a:buFont typeface="Arial"/>
              <a:buChar char="•"/>
            </a:pPr>
            <a:r>
              <a:rPr lang="en-US" sz="2000">
                <a:cs typeface="Calibri"/>
              </a:rPr>
              <a:t>Green Innovations</a:t>
            </a:r>
          </a:p>
          <a:p>
            <a:pPr marL="342900" indent="-342900">
              <a:buFont typeface="Arial"/>
              <a:buChar char="•"/>
            </a:pPr>
            <a:r>
              <a:rPr lang="en-US" sz="2000">
                <a:cs typeface="Calibri"/>
              </a:rPr>
              <a:t>Khosla Ventures</a:t>
            </a:r>
          </a:p>
        </p:txBody>
      </p:sp>
      <p:pic>
        <p:nvPicPr>
          <p:cNvPr id="22" name="Picture 22" descr="Logo&#10;&#10;Description automatically generated">
            <a:extLst>
              <a:ext uri="{FF2B5EF4-FFF2-40B4-BE49-F238E27FC236}">
                <a16:creationId xmlns:a16="http://schemas.microsoft.com/office/drawing/2014/main" id="{5F09F246-F3B3-A8AD-8D7E-82E4FAB67DF3}"/>
              </a:ext>
            </a:extLst>
          </p:cNvPr>
          <p:cNvPicPr>
            <a:picLocks noChangeAspect="1"/>
          </p:cNvPicPr>
          <p:nvPr/>
        </p:nvPicPr>
        <p:blipFill>
          <a:blip r:embed="rId7"/>
          <a:stretch>
            <a:fillRect/>
          </a:stretch>
        </p:blipFill>
        <p:spPr>
          <a:xfrm>
            <a:off x="8019717" y="4108366"/>
            <a:ext cx="2743200" cy="1114425"/>
          </a:xfrm>
          <a:prstGeom prst="rect">
            <a:avLst/>
          </a:prstGeom>
        </p:spPr>
      </p:pic>
    </p:spTree>
    <p:extLst>
      <p:ext uri="{BB962C8B-B14F-4D97-AF65-F5344CB8AC3E}">
        <p14:creationId xmlns:p14="http://schemas.microsoft.com/office/powerpoint/2010/main" val="15867193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023118C-8E17-017A-2405-401502733A00}"/>
              </a:ext>
            </a:extLst>
          </p:cNvPr>
          <p:cNvSpPr>
            <a:spLocks noGrp="1"/>
          </p:cNvSpPr>
          <p:nvPr>
            <p:ph type="title"/>
          </p:nvPr>
        </p:nvSpPr>
        <p:spPr>
          <a:xfrm>
            <a:off x="1371599" y="294538"/>
            <a:ext cx="9895951" cy="1033669"/>
          </a:xfrm>
        </p:spPr>
        <p:txBody>
          <a:bodyPr>
            <a:normAutofit/>
          </a:bodyPr>
          <a:lstStyle/>
          <a:p>
            <a:r>
              <a:rPr lang="en-US" sz="4000">
                <a:solidFill>
                  <a:srgbClr val="FFFFFF"/>
                </a:solidFill>
                <a:cs typeface="Calibri Light"/>
              </a:rPr>
              <a:t>Grant Possibilities</a:t>
            </a:r>
          </a:p>
        </p:txBody>
      </p:sp>
      <p:sp>
        <p:nvSpPr>
          <p:cNvPr id="3" name="Content Placeholder 2">
            <a:extLst>
              <a:ext uri="{FF2B5EF4-FFF2-40B4-BE49-F238E27FC236}">
                <a16:creationId xmlns:a16="http://schemas.microsoft.com/office/drawing/2014/main" id="{EA147C60-7080-70F6-8703-D9E28AE95F18}"/>
              </a:ext>
            </a:extLst>
          </p:cNvPr>
          <p:cNvSpPr>
            <a:spLocks noGrp="1"/>
          </p:cNvSpPr>
          <p:nvPr>
            <p:ph idx="1"/>
          </p:nvPr>
        </p:nvSpPr>
        <p:spPr>
          <a:xfrm>
            <a:off x="1371599" y="2318197"/>
            <a:ext cx="9724031" cy="3683358"/>
          </a:xfrm>
        </p:spPr>
        <p:txBody>
          <a:bodyPr anchor="ctr">
            <a:normAutofit fontScale="92500" lnSpcReduction="20000"/>
          </a:bodyPr>
          <a:lstStyle/>
          <a:p>
            <a:pPr marL="0" indent="0">
              <a:buNone/>
            </a:pPr>
            <a:r>
              <a:rPr lang="en-US" b="1"/>
              <a:t>The AOSSM Research Mission</a:t>
            </a:r>
            <a:endParaRPr lang="en-US" b="1">
              <a:cs typeface="Calibri" panose="020F0502020204030204"/>
            </a:endParaRPr>
          </a:p>
          <a:p>
            <a:pPr lvl="1"/>
            <a:r>
              <a:rPr lang="en-US">
                <a:ea typeface="+mn-lt"/>
                <a:cs typeface="+mn-lt"/>
              </a:rPr>
              <a:t>To enhance value in sports medicine through the development, promotion, and encouragement of cutting-edge research that improves patient care.</a:t>
            </a:r>
            <a:endParaRPr lang="en-US">
              <a:cs typeface="Calibri"/>
            </a:endParaRPr>
          </a:p>
          <a:p>
            <a:endParaRPr lang="en-US" b="1">
              <a:cs typeface="Calibri"/>
            </a:endParaRPr>
          </a:p>
          <a:p>
            <a:r>
              <a:rPr lang="en-US" b="1"/>
              <a:t>The AOSSM Grants </a:t>
            </a:r>
            <a:endParaRPr lang="en-US" b="1">
              <a:cs typeface="Calibri"/>
            </a:endParaRPr>
          </a:p>
          <a:p>
            <a:pPr lvl="1"/>
            <a:r>
              <a:rPr lang="en-US"/>
              <a:t>Playmaker Grant</a:t>
            </a:r>
            <a:endParaRPr lang="en-US">
              <a:cs typeface="Calibri" panose="020F0502020204030204"/>
            </a:endParaRPr>
          </a:p>
          <a:p>
            <a:pPr lvl="1"/>
            <a:r>
              <a:rPr lang="en-US">
                <a:ea typeface="+mn-lt"/>
                <a:cs typeface="+mn-lt"/>
              </a:rPr>
              <a:t>Sandy Kirkley Clinical Outcomes Research Grant</a:t>
            </a:r>
          </a:p>
          <a:p>
            <a:pPr lvl="1"/>
            <a:r>
              <a:rPr lang="en-US">
                <a:ea typeface="+mn-lt"/>
                <a:cs typeface="+mn-lt"/>
              </a:rPr>
              <a:t>Osteoarthritis Research Grant</a:t>
            </a:r>
          </a:p>
          <a:p>
            <a:pPr lvl="1"/>
            <a:r>
              <a:rPr lang="en-US">
                <a:ea typeface="+mn-lt"/>
                <a:cs typeface="+mn-lt"/>
              </a:rPr>
              <a:t>Return to Play Clinical Research</a:t>
            </a:r>
            <a:br>
              <a:rPr lang="en-US">
                <a:ea typeface="+mn-lt"/>
                <a:cs typeface="+mn-lt"/>
              </a:rPr>
            </a:br>
            <a:br>
              <a:rPr lang="en-US" b="1">
                <a:ea typeface="+mn-lt"/>
                <a:cs typeface="+mn-lt"/>
              </a:rPr>
            </a:br>
            <a:br>
              <a:rPr lang="en-US"/>
            </a:br>
            <a:endParaRPr lang="en-US">
              <a:cs typeface="Calibri"/>
            </a:endParaRPr>
          </a:p>
        </p:txBody>
      </p:sp>
      <p:pic>
        <p:nvPicPr>
          <p:cNvPr id="7" name="Picture 8">
            <a:extLst>
              <a:ext uri="{FF2B5EF4-FFF2-40B4-BE49-F238E27FC236}">
                <a16:creationId xmlns:a16="http://schemas.microsoft.com/office/drawing/2014/main" id="{233FE237-A32C-1FFE-4B70-F062688C0F18}"/>
              </a:ext>
            </a:extLst>
          </p:cNvPr>
          <p:cNvPicPr>
            <a:picLocks noChangeAspect="1"/>
          </p:cNvPicPr>
          <p:nvPr/>
        </p:nvPicPr>
        <p:blipFill>
          <a:blip r:embed="rId3"/>
          <a:stretch>
            <a:fillRect/>
          </a:stretch>
        </p:blipFill>
        <p:spPr>
          <a:xfrm>
            <a:off x="8653072" y="3885478"/>
            <a:ext cx="2743200" cy="935831"/>
          </a:xfrm>
          <a:prstGeom prst="rect">
            <a:avLst/>
          </a:prstGeom>
        </p:spPr>
      </p:pic>
      <p:pic>
        <p:nvPicPr>
          <p:cNvPr id="5" name="Picture 4" descr="A picture containing company name&#10;&#10;Description automatically generated">
            <a:extLst>
              <a:ext uri="{FF2B5EF4-FFF2-40B4-BE49-F238E27FC236}">
                <a16:creationId xmlns:a16="http://schemas.microsoft.com/office/drawing/2014/main" id="{476B8DE3-79F9-7473-2810-95E1FD4D5D87}"/>
              </a:ext>
            </a:extLst>
          </p:cNvPr>
          <p:cNvPicPr>
            <a:picLocks noChangeAspect="1"/>
          </p:cNvPicPr>
          <p:nvPr/>
        </p:nvPicPr>
        <p:blipFill>
          <a:blip r:embed="rId4"/>
          <a:stretch>
            <a:fillRect/>
          </a:stretch>
        </p:blipFill>
        <p:spPr>
          <a:xfrm>
            <a:off x="10296974" y="-655"/>
            <a:ext cx="1898351" cy="1594584"/>
          </a:xfrm>
          <a:prstGeom prst="rect">
            <a:avLst/>
          </a:prstGeom>
        </p:spPr>
      </p:pic>
    </p:spTree>
    <p:extLst>
      <p:ext uri="{BB962C8B-B14F-4D97-AF65-F5344CB8AC3E}">
        <p14:creationId xmlns:p14="http://schemas.microsoft.com/office/powerpoint/2010/main" val="7306387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27B96D9-8C2F-409F-ED84-9252040BD2E4}"/>
              </a:ext>
            </a:extLst>
          </p:cNvPr>
          <p:cNvSpPr>
            <a:spLocks noGrp="1"/>
          </p:cNvSpPr>
          <p:nvPr>
            <p:ph type="title"/>
          </p:nvPr>
        </p:nvSpPr>
        <p:spPr>
          <a:xfrm>
            <a:off x="1371599" y="294538"/>
            <a:ext cx="9895951" cy="1033669"/>
          </a:xfrm>
        </p:spPr>
        <p:txBody>
          <a:bodyPr>
            <a:normAutofit/>
          </a:bodyPr>
          <a:lstStyle/>
          <a:p>
            <a:r>
              <a:rPr lang="en-US" sz="4000">
                <a:solidFill>
                  <a:srgbClr val="FFFFFF"/>
                </a:solidFill>
                <a:cs typeface="Calibri Light"/>
              </a:rPr>
              <a:t>Collaboration with Manufactures </a:t>
            </a:r>
            <a:endParaRPr lang="en-US" sz="4000">
              <a:solidFill>
                <a:srgbClr val="FFFFFF"/>
              </a:solidFill>
              <a:ea typeface="Calibri Light" panose="020F0302020204030204"/>
              <a:cs typeface="Calibri Light" panose="020F0302020204030204"/>
            </a:endParaRPr>
          </a:p>
        </p:txBody>
      </p:sp>
      <p:sp>
        <p:nvSpPr>
          <p:cNvPr id="3" name="Content Placeholder 2">
            <a:extLst>
              <a:ext uri="{FF2B5EF4-FFF2-40B4-BE49-F238E27FC236}">
                <a16:creationId xmlns:a16="http://schemas.microsoft.com/office/drawing/2014/main" id="{371DEE85-9828-1B41-9CE3-74F1EB965E31}"/>
              </a:ext>
            </a:extLst>
          </p:cNvPr>
          <p:cNvSpPr>
            <a:spLocks noGrp="1"/>
          </p:cNvSpPr>
          <p:nvPr>
            <p:ph idx="1"/>
          </p:nvPr>
        </p:nvSpPr>
        <p:spPr>
          <a:xfrm>
            <a:off x="1371599" y="2318197"/>
            <a:ext cx="9724031" cy="3683358"/>
          </a:xfrm>
        </p:spPr>
        <p:txBody>
          <a:bodyPr anchor="ctr">
            <a:normAutofit/>
          </a:bodyPr>
          <a:lstStyle/>
          <a:p>
            <a:pPr marL="0" indent="0">
              <a:buNone/>
            </a:pPr>
            <a:br>
              <a:rPr lang="en-US"/>
            </a:br>
            <a:br>
              <a:rPr lang="en-US"/>
            </a:br>
            <a:endParaRPr lang="en-US">
              <a:cs typeface="Calibri" panose="020F0502020204030204"/>
            </a:endParaRPr>
          </a:p>
          <a:p>
            <a:endParaRPr lang="en-US" sz="2000">
              <a:cs typeface="Calibri"/>
            </a:endParaRPr>
          </a:p>
        </p:txBody>
      </p:sp>
      <p:pic>
        <p:nvPicPr>
          <p:cNvPr id="4" name="Picture 4" descr="A picture containing text, tableware, dishware, plate&#10;&#10;Description automatically generated">
            <a:extLst>
              <a:ext uri="{FF2B5EF4-FFF2-40B4-BE49-F238E27FC236}">
                <a16:creationId xmlns:a16="http://schemas.microsoft.com/office/drawing/2014/main" id="{9E58CD7A-293C-9D78-6B14-35558CDCDC39}"/>
              </a:ext>
            </a:extLst>
          </p:cNvPr>
          <p:cNvPicPr>
            <a:picLocks noChangeAspect="1"/>
          </p:cNvPicPr>
          <p:nvPr/>
        </p:nvPicPr>
        <p:blipFill>
          <a:blip r:embed="rId3"/>
          <a:stretch>
            <a:fillRect/>
          </a:stretch>
        </p:blipFill>
        <p:spPr>
          <a:xfrm>
            <a:off x="8455832" y="5322099"/>
            <a:ext cx="2368885" cy="681155"/>
          </a:xfrm>
          <a:prstGeom prst="rect">
            <a:avLst/>
          </a:prstGeom>
        </p:spPr>
      </p:pic>
      <p:pic>
        <p:nvPicPr>
          <p:cNvPr id="5" name="Picture 5" descr="Logo, company name&#10;&#10;Description automatically generated">
            <a:extLst>
              <a:ext uri="{FF2B5EF4-FFF2-40B4-BE49-F238E27FC236}">
                <a16:creationId xmlns:a16="http://schemas.microsoft.com/office/drawing/2014/main" id="{A3029F83-D42C-ADC1-A149-25736832C1AF}"/>
              </a:ext>
            </a:extLst>
          </p:cNvPr>
          <p:cNvPicPr>
            <a:picLocks noChangeAspect="1"/>
          </p:cNvPicPr>
          <p:nvPr/>
        </p:nvPicPr>
        <p:blipFill>
          <a:blip r:embed="rId4"/>
          <a:stretch>
            <a:fillRect/>
          </a:stretch>
        </p:blipFill>
        <p:spPr>
          <a:xfrm>
            <a:off x="7768954" y="1963444"/>
            <a:ext cx="2281990" cy="1256903"/>
          </a:xfrm>
          <a:prstGeom prst="rect">
            <a:avLst/>
          </a:prstGeom>
        </p:spPr>
      </p:pic>
      <p:pic>
        <p:nvPicPr>
          <p:cNvPr id="6" name="Picture 6" descr="Logo&#10;&#10;Description automatically generated">
            <a:extLst>
              <a:ext uri="{FF2B5EF4-FFF2-40B4-BE49-F238E27FC236}">
                <a16:creationId xmlns:a16="http://schemas.microsoft.com/office/drawing/2014/main" id="{12B2DE1E-99FA-9194-BDBD-B447D21F7663}"/>
              </a:ext>
            </a:extLst>
          </p:cNvPr>
          <p:cNvPicPr>
            <a:picLocks noChangeAspect="1"/>
          </p:cNvPicPr>
          <p:nvPr/>
        </p:nvPicPr>
        <p:blipFill>
          <a:blip r:embed="rId5"/>
          <a:stretch>
            <a:fillRect/>
          </a:stretch>
        </p:blipFill>
        <p:spPr>
          <a:xfrm>
            <a:off x="5506562" y="3754015"/>
            <a:ext cx="2442412" cy="657994"/>
          </a:xfrm>
          <a:prstGeom prst="rect">
            <a:avLst/>
          </a:prstGeom>
        </p:spPr>
      </p:pic>
      <p:pic>
        <p:nvPicPr>
          <p:cNvPr id="7" name="Picture 8" descr="Logo, company name&#10;&#10;Description automatically generated">
            <a:extLst>
              <a:ext uri="{FF2B5EF4-FFF2-40B4-BE49-F238E27FC236}">
                <a16:creationId xmlns:a16="http://schemas.microsoft.com/office/drawing/2014/main" id="{5681405A-8968-1204-86E1-2B45F093F138}"/>
              </a:ext>
            </a:extLst>
          </p:cNvPr>
          <p:cNvPicPr>
            <a:picLocks noChangeAspect="1"/>
          </p:cNvPicPr>
          <p:nvPr/>
        </p:nvPicPr>
        <p:blipFill>
          <a:blip r:embed="rId6"/>
          <a:stretch>
            <a:fillRect/>
          </a:stretch>
        </p:blipFill>
        <p:spPr>
          <a:xfrm>
            <a:off x="2916476" y="5155676"/>
            <a:ext cx="2201779" cy="759187"/>
          </a:xfrm>
          <a:prstGeom prst="rect">
            <a:avLst/>
          </a:prstGeom>
        </p:spPr>
      </p:pic>
      <p:pic>
        <p:nvPicPr>
          <p:cNvPr id="13" name="Picture 4" descr="A picture containing company name&#10;&#10;Description automatically generated">
            <a:extLst>
              <a:ext uri="{FF2B5EF4-FFF2-40B4-BE49-F238E27FC236}">
                <a16:creationId xmlns:a16="http://schemas.microsoft.com/office/drawing/2014/main" id="{76EEE6A6-BD18-4BD0-2E8A-52AE991FFC26}"/>
              </a:ext>
            </a:extLst>
          </p:cNvPr>
          <p:cNvPicPr>
            <a:picLocks noChangeAspect="1"/>
          </p:cNvPicPr>
          <p:nvPr/>
        </p:nvPicPr>
        <p:blipFill>
          <a:blip r:embed="rId7"/>
          <a:stretch>
            <a:fillRect/>
          </a:stretch>
        </p:blipFill>
        <p:spPr>
          <a:xfrm>
            <a:off x="10296974" y="-655"/>
            <a:ext cx="1898351" cy="1594584"/>
          </a:xfrm>
          <a:prstGeom prst="rect">
            <a:avLst/>
          </a:prstGeom>
        </p:spPr>
      </p:pic>
      <p:sp>
        <p:nvSpPr>
          <p:cNvPr id="23" name="TextBox 22">
            <a:extLst>
              <a:ext uri="{FF2B5EF4-FFF2-40B4-BE49-F238E27FC236}">
                <a16:creationId xmlns:a16="http://schemas.microsoft.com/office/drawing/2014/main" id="{C67D1A85-9226-E1C9-D3DE-CCDC58E69176}"/>
              </a:ext>
            </a:extLst>
          </p:cNvPr>
          <p:cNvSpPr txBox="1"/>
          <p:nvPr/>
        </p:nvSpPr>
        <p:spPr>
          <a:xfrm>
            <a:off x="776175" y="1963442"/>
            <a:ext cx="3891118" cy="255454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cs typeface="Calibri"/>
              </a:rPr>
              <a:t>Possible Manufactures </a:t>
            </a:r>
          </a:p>
          <a:p>
            <a:endParaRPr lang="en-US" sz="2000">
              <a:cs typeface="Calibri"/>
            </a:endParaRPr>
          </a:p>
          <a:p>
            <a:pPr marL="342900" indent="-342900">
              <a:buFont typeface="Arial"/>
              <a:buChar char="•"/>
            </a:pPr>
            <a:r>
              <a:rPr lang="en-US" sz="2000">
                <a:cs typeface="Calibri"/>
              </a:rPr>
              <a:t>CUSTOM ARTIFICIAL LIMB &amp; BRACE</a:t>
            </a:r>
          </a:p>
          <a:p>
            <a:pPr marL="342900" indent="-342900">
              <a:buFont typeface="Arial"/>
              <a:buChar char="•"/>
            </a:pPr>
            <a:r>
              <a:rPr lang="en-US" sz="2000">
                <a:cs typeface="Calibri"/>
              </a:rPr>
              <a:t>SHELF MANUFACTURING, LLC</a:t>
            </a:r>
          </a:p>
          <a:p>
            <a:pPr marL="342900" indent="-342900">
              <a:buFont typeface="Arial"/>
              <a:buChar char="•"/>
            </a:pPr>
            <a:r>
              <a:rPr lang="en-US" sz="2000">
                <a:cs typeface="Calibri"/>
              </a:rPr>
              <a:t>ANATOMICAL CONCEPTS INC</a:t>
            </a:r>
          </a:p>
          <a:p>
            <a:pPr marL="342900" indent="-342900">
              <a:buFont typeface="Arial"/>
              <a:buChar char="•"/>
            </a:pPr>
            <a:endParaRPr lang="en-US" sz="2000">
              <a:cs typeface="Calibri"/>
            </a:endParaRPr>
          </a:p>
          <a:p>
            <a:pPr marL="342900" indent="-342900">
              <a:buAutoNum type="arabicPeriod"/>
            </a:pPr>
            <a:endParaRPr lang="en-US" sz="2000">
              <a:cs typeface="Calibri"/>
            </a:endParaRPr>
          </a:p>
        </p:txBody>
      </p:sp>
    </p:spTree>
    <p:extLst>
      <p:ext uri="{BB962C8B-B14F-4D97-AF65-F5344CB8AC3E}">
        <p14:creationId xmlns:p14="http://schemas.microsoft.com/office/powerpoint/2010/main" val="9062829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20601BB-6ABA-FE86-9F38-C809902A8E23}"/>
              </a:ext>
            </a:extLst>
          </p:cNvPr>
          <p:cNvSpPr>
            <a:spLocks noGrp="1"/>
          </p:cNvSpPr>
          <p:nvPr>
            <p:ph type="title"/>
          </p:nvPr>
        </p:nvSpPr>
        <p:spPr>
          <a:xfrm>
            <a:off x="1371599" y="294538"/>
            <a:ext cx="9895951" cy="1033669"/>
          </a:xfrm>
        </p:spPr>
        <p:txBody>
          <a:bodyPr>
            <a:normAutofit/>
          </a:bodyPr>
          <a:lstStyle/>
          <a:p>
            <a:r>
              <a:rPr lang="en-US" sz="4000">
                <a:solidFill>
                  <a:srgbClr val="FFFFFF"/>
                </a:solidFill>
                <a:cs typeface="Calibri Light"/>
              </a:rPr>
              <a:t>Pricing Model</a:t>
            </a:r>
            <a:endParaRPr lang="en-US" sz="4000">
              <a:solidFill>
                <a:srgbClr val="FFFFFF"/>
              </a:solidFill>
            </a:endParaRPr>
          </a:p>
        </p:txBody>
      </p:sp>
      <p:pic>
        <p:nvPicPr>
          <p:cNvPr id="5" name="Picture 4" descr="A picture containing company name&#10;&#10;Description automatically generated">
            <a:extLst>
              <a:ext uri="{FF2B5EF4-FFF2-40B4-BE49-F238E27FC236}">
                <a16:creationId xmlns:a16="http://schemas.microsoft.com/office/drawing/2014/main" id="{908CAA7E-2E31-FB0D-38FC-42735AFA536B}"/>
              </a:ext>
            </a:extLst>
          </p:cNvPr>
          <p:cNvPicPr>
            <a:picLocks noChangeAspect="1"/>
          </p:cNvPicPr>
          <p:nvPr/>
        </p:nvPicPr>
        <p:blipFill>
          <a:blip r:embed="rId3"/>
          <a:stretch>
            <a:fillRect/>
          </a:stretch>
        </p:blipFill>
        <p:spPr>
          <a:xfrm>
            <a:off x="10296974" y="-655"/>
            <a:ext cx="1898351" cy="1594584"/>
          </a:xfrm>
          <a:prstGeom prst="rect">
            <a:avLst/>
          </a:prstGeom>
        </p:spPr>
      </p:pic>
      <p:pic>
        <p:nvPicPr>
          <p:cNvPr id="11" name="Picture 12" descr="Table&#10;&#10;Description automatically generated">
            <a:extLst>
              <a:ext uri="{FF2B5EF4-FFF2-40B4-BE49-F238E27FC236}">
                <a16:creationId xmlns:a16="http://schemas.microsoft.com/office/drawing/2014/main" id="{CF73EA1B-6CCE-2F47-F54C-B507A26DB517}"/>
              </a:ext>
            </a:extLst>
          </p:cNvPr>
          <p:cNvPicPr>
            <a:picLocks noGrp="1" noChangeAspect="1"/>
          </p:cNvPicPr>
          <p:nvPr>
            <p:ph idx="1"/>
          </p:nvPr>
        </p:nvPicPr>
        <p:blipFill rotWithShape="1">
          <a:blip r:embed="rId4"/>
          <a:srcRect l="2557"/>
          <a:stretch/>
        </p:blipFill>
        <p:spPr>
          <a:xfrm>
            <a:off x="187110" y="1802197"/>
            <a:ext cx="11394146" cy="4269130"/>
          </a:xfrm>
        </p:spPr>
      </p:pic>
    </p:spTree>
    <p:extLst>
      <p:ext uri="{BB962C8B-B14F-4D97-AF65-F5344CB8AC3E}">
        <p14:creationId xmlns:p14="http://schemas.microsoft.com/office/powerpoint/2010/main" val="23574724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7AB21B9-0702-7B52-BC02-26ADFF6D76CE}"/>
              </a:ext>
            </a:extLst>
          </p:cNvPr>
          <p:cNvSpPr>
            <a:spLocks noGrp="1"/>
          </p:cNvSpPr>
          <p:nvPr>
            <p:ph type="title"/>
          </p:nvPr>
        </p:nvSpPr>
        <p:spPr>
          <a:xfrm>
            <a:off x="457199" y="363811"/>
            <a:ext cx="9895951" cy="1033669"/>
          </a:xfrm>
        </p:spPr>
        <p:txBody>
          <a:bodyPr>
            <a:normAutofit/>
          </a:bodyPr>
          <a:lstStyle/>
          <a:p>
            <a:r>
              <a:rPr lang="en-US" sz="4000">
                <a:solidFill>
                  <a:schemeClr val="bg1"/>
                </a:solidFill>
                <a:ea typeface="+mj-lt"/>
                <a:cs typeface="+mj-lt"/>
              </a:rPr>
              <a:t>Key Findings</a:t>
            </a:r>
          </a:p>
        </p:txBody>
      </p:sp>
      <p:graphicFrame>
        <p:nvGraphicFramePr>
          <p:cNvPr id="18" name="Content Placeholder 2">
            <a:extLst>
              <a:ext uri="{FF2B5EF4-FFF2-40B4-BE49-F238E27FC236}">
                <a16:creationId xmlns:a16="http://schemas.microsoft.com/office/drawing/2014/main" id="{13CF2CD1-55C4-5368-90CE-84AFF7F7D573}"/>
              </a:ext>
            </a:extLst>
          </p:cNvPr>
          <p:cNvGraphicFramePr>
            <a:graphicFrameLocks noGrp="1"/>
          </p:cNvGraphicFramePr>
          <p:nvPr>
            <p:ph idx="1"/>
          </p:nvPr>
        </p:nvGraphicFramePr>
        <p:xfrm>
          <a:off x="193963" y="1847142"/>
          <a:ext cx="9724031" cy="368335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5" name="Picture 4" descr="A picture containing company name&#10;&#10;Description automatically generated">
            <a:extLst>
              <a:ext uri="{FF2B5EF4-FFF2-40B4-BE49-F238E27FC236}">
                <a16:creationId xmlns:a16="http://schemas.microsoft.com/office/drawing/2014/main" id="{8278A082-043A-0EE1-B4AB-BF1105B412BA}"/>
              </a:ext>
            </a:extLst>
          </p:cNvPr>
          <p:cNvPicPr>
            <a:picLocks noChangeAspect="1"/>
          </p:cNvPicPr>
          <p:nvPr/>
        </p:nvPicPr>
        <p:blipFill>
          <a:blip r:embed="rId8"/>
          <a:stretch>
            <a:fillRect/>
          </a:stretch>
        </p:blipFill>
        <p:spPr>
          <a:xfrm>
            <a:off x="10296974" y="-655"/>
            <a:ext cx="1898351" cy="1594584"/>
          </a:xfrm>
          <a:prstGeom prst="rect">
            <a:avLst/>
          </a:prstGeom>
        </p:spPr>
      </p:pic>
    </p:spTree>
    <p:extLst>
      <p:ext uri="{BB962C8B-B14F-4D97-AF65-F5344CB8AC3E}">
        <p14:creationId xmlns:p14="http://schemas.microsoft.com/office/powerpoint/2010/main" val="5859139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7AB21B9-0702-7B52-BC02-26ADFF6D76CE}"/>
              </a:ext>
            </a:extLst>
          </p:cNvPr>
          <p:cNvSpPr>
            <a:spLocks noGrp="1"/>
          </p:cNvSpPr>
          <p:nvPr>
            <p:ph type="title"/>
          </p:nvPr>
        </p:nvSpPr>
        <p:spPr>
          <a:xfrm>
            <a:off x="401781" y="280683"/>
            <a:ext cx="9895951" cy="1033669"/>
          </a:xfrm>
        </p:spPr>
        <p:txBody>
          <a:bodyPr>
            <a:normAutofit/>
          </a:bodyPr>
          <a:lstStyle/>
          <a:p>
            <a:r>
              <a:rPr lang="en-US" sz="4000">
                <a:solidFill>
                  <a:schemeClr val="bg1"/>
                </a:solidFill>
                <a:ea typeface="+mj-lt"/>
                <a:cs typeface="+mj-lt"/>
              </a:rPr>
              <a:t>Final Recommendations </a:t>
            </a:r>
            <a:endParaRPr lang="en-US">
              <a:solidFill>
                <a:schemeClr val="bg1"/>
              </a:solidFill>
              <a:ea typeface="+mj-lt"/>
              <a:cs typeface="+mj-lt"/>
            </a:endParaRPr>
          </a:p>
        </p:txBody>
      </p:sp>
      <p:sp>
        <p:nvSpPr>
          <p:cNvPr id="3" name="Content Placeholder 2">
            <a:extLst>
              <a:ext uri="{FF2B5EF4-FFF2-40B4-BE49-F238E27FC236}">
                <a16:creationId xmlns:a16="http://schemas.microsoft.com/office/drawing/2014/main" id="{FD628985-E071-60CF-CB41-60557EE371CD}"/>
              </a:ext>
            </a:extLst>
          </p:cNvPr>
          <p:cNvSpPr>
            <a:spLocks noGrp="1"/>
          </p:cNvSpPr>
          <p:nvPr>
            <p:ph idx="1"/>
          </p:nvPr>
        </p:nvSpPr>
        <p:spPr>
          <a:xfrm>
            <a:off x="969817" y="2110379"/>
            <a:ext cx="9724031" cy="3683358"/>
          </a:xfrm>
        </p:spPr>
        <p:txBody>
          <a:bodyPr anchor="ctr">
            <a:normAutofit/>
          </a:bodyPr>
          <a:lstStyle/>
          <a:p>
            <a:r>
              <a:rPr lang="en-US" sz="2000">
                <a:cs typeface="Calibri"/>
              </a:rPr>
              <a:t>Go after Universities!!</a:t>
            </a:r>
            <a:endParaRPr lang="en-US" sz="2000">
              <a:ea typeface="+mn-lt"/>
              <a:cs typeface="+mn-lt"/>
            </a:endParaRPr>
          </a:p>
          <a:p>
            <a:pPr lvl="1"/>
            <a:r>
              <a:rPr lang="en-US" sz="2000">
                <a:ea typeface="+mn-lt"/>
                <a:cs typeface="+mn-lt"/>
              </a:rPr>
              <a:t>Promoting products within</a:t>
            </a:r>
          </a:p>
          <a:p>
            <a:pPr lvl="1"/>
            <a:r>
              <a:rPr lang="en-US" sz="2000">
                <a:ea typeface="+mn-lt"/>
                <a:cs typeface="+mn-lt"/>
              </a:rPr>
              <a:t>Clinical studies and research to improve design </a:t>
            </a:r>
          </a:p>
          <a:p>
            <a:pPr lvl="1"/>
            <a:r>
              <a:rPr lang="en-US" sz="2000">
                <a:ea typeface="+mn-lt"/>
                <a:cs typeface="+mn-lt"/>
              </a:rPr>
              <a:t>Offer subscription-based updates and improvements </a:t>
            </a:r>
          </a:p>
          <a:p>
            <a:r>
              <a:rPr lang="en-US" sz="2000">
                <a:cs typeface="Calibri"/>
              </a:rPr>
              <a:t>Find a partner to leverage relationships</a:t>
            </a:r>
            <a:endParaRPr lang="en-US" sz="2000">
              <a:ea typeface="+mn-lt"/>
              <a:cs typeface="+mn-lt"/>
            </a:endParaRPr>
          </a:p>
          <a:p>
            <a:pPr lvl="1"/>
            <a:r>
              <a:rPr lang="en-US" sz="2000">
                <a:cs typeface="Calibri"/>
              </a:rPr>
              <a:t>Partner, Software Company</a:t>
            </a:r>
            <a:endParaRPr lang="en-US" sz="2000">
              <a:ea typeface="+mn-lt"/>
              <a:cs typeface="+mn-lt"/>
            </a:endParaRPr>
          </a:p>
          <a:p>
            <a:r>
              <a:rPr lang="en-US" sz="2000">
                <a:cs typeface="Calibri"/>
              </a:rPr>
              <a:t>Apply for Grants, Venture Capitalists</a:t>
            </a:r>
          </a:p>
          <a:p>
            <a:r>
              <a:rPr lang="en-US" sz="2000">
                <a:cs typeface="Calibri"/>
              </a:rPr>
              <a:t>Follow FDA 11 step process to sell medical devices in the U.S </a:t>
            </a:r>
          </a:p>
          <a:p>
            <a:pPr marL="0" indent="0">
              <a:buNone/>
            </a:pPr>
            <a:endParaRPr lang="en-US" sz="2000">
              <a:cs typeface="Calibri"/>
            </a:endParaRPr>
          </a:p>
        </p:txBody>
      </p:sp>
      <p:pic>
        <p:nvPicPr>
          <p:cNvPr id="5" name="Picture 4" descr="A picture containing company name&#10;&#10;Description automatically generated">
            <a:extLst>
              <a:ext uri="{FF2B5EF4-FFF2-40B4-BE49-F238E27FC236}">
                <a16:creationId xmlns:a16="http://schemas.microsoft.com/office/drawing/2014/main" id="{8278A082-043A-0EE1-B4AB-BF1105B412BA}"/>
              </a:ext>
            </a:extLst>
          </p:cNvPr>
          <p:cNvPicPr>
            <a:picLocks noChangeAspect="1"/>
          </p:cNvPicPr>
          <p:nvPr/>
        </p:nvPicPr>
        <p:blipFill>
          <a:blip r:embed="rId3"/>
          <a:stretch>
            <a:fillRect/>
          </a:stretch>
        </p:blipFill>
        <p:spPr>
          <a:xfrm>
            <a:off x="10296974" y="-655"/>
            <a:ext cx="1898351" cy="1594584"/>
          </a:xfrm>
          <a:prstGeom prst="rect">
            <a:avLst/>
          </a:prstGeom>
        </p:spPr>
      </p:pic>
    </p:spTree>
    <p:extLst>
      <p:ext uri="{BB962C8B-B14F-4D97-AF65-F5344CB8AC3E}">
        <p14:creationId xmlns:p14="http://schemas.microsoft.com/office/powerpoint/2010/main" val="22191791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9348949-DAE5-B689-B4BA-10E1031FE0C1}"/>
              </a:ext>
            </a:extLst>
          </p:cNvPr>
          <p:cNvSpPr>
            <a:spLocks noGrp="1"/>
          </p:cNvSpPr>
          <p:nvPr>
            <p:ph idx="1"/>
          </p:nvPr>
        </p:nvSpPr>
        <p:spPr>
          <a:xfrm>
            <a:off x="5256573" y="3055222"/>
            <a:ext cx="3659747" cy="1801362"/>
          </a:xfrm>
        </p:spPr>
        <p:txBody>
          <a:bodyPr anchor="ctr">
            <a:normAutofit/>
          </a:bodyPr>
          <a:lstStyle/>
          <a:p>
            <a:pPr marL="0" indent="0">
              <a:buNone/>
            </a:pPr>
            <a:r>
              <a:rPr lang="en-US" sz="5400">
                <a:cs typeface="Calibri"/>
              </a:rPr>
              <a:t>Thank you!</a:t>
            </a:r>
          </a:p>
          <a:p>
            <a:pPr marL="0" indent="0">
              <a:buNone/>
            </a:pPr>
            <a:endParaRPr lang="en-US" sz="2000">
              <a:cs typeface="Calibri"/>
            </a:endParaRPr>
          </a:p>
        </p:txBody>
      </p:sp>
      <p:pic>
        <p:nvPicPr>
          <p:cNvPr id="5" name="Picture 4" descr="A picture containing company name&#10;&#10;Description automatically generated">
            <a:extLst>
              <a:ext uri="{FF2B5EF4-FFF2-40B4-BE49-F238E27FC236}">
                <a16:creationId xmlns:a16="http://schemas.microsoft.com/office/drawing/2014/main" id="{EE1502AD-1065-A19E-B783-F22EC9C4B865}"/>
              </a:ext>
            </a:extLst>
          </p:cNvPr>
          <p:cNvPicPr>
            <a:picLocks noChangeAspect="1"/>
          </p:cNvPicPr>
          <p:nvPr/>
        </p:nvPicPr>
        <p:blipFill>
          <a:blip r:embed="rId2"/>
          <a:stretch>
            <a:fillRect/>
          </a:stretch>
        </p:blipFill>
        <p:spPr>
          <a:xfrm>
            <a:off x="8838289" y="21116"/>
            <a:ext cx="3128436" cy="2628726"/>
          </a:xfrm>
          <a:prstGeom prst="rect">
            <a:avLst/>
          </a:prstGeom>
        </p:spPr>
      </p:pic>
    </p:spTree>
    <p:extLst>
      <p:ext uri="{BB962C8B-B14F-4D97-AF65-F5344CB8AC3E}">
        <p14:creationId xmlns:p14="http://schemas.microsoft.com/office/powerpoint/2010/main" val="154607331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1252</Words>
  <Application>Microsoft Office PowerPoint</Application>
  <PresentationFormat>Widescreen</PresentationFormat>
  <Paragraphs>204</Paragraphs>
  <Slides>17</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Calibri Light</vt:lpstr>
      <vt:lpstr>Helvetica Neue</vt:lpstr>
      <vt:lpstr>Office Theme</vt:lpstr>
      <vt:lpstr>Developing  Free Joint Motion</vt:lpstr>
      <vt:lpstr>Agenda</vt:lpstr>
      <vt:lpstr>Sports Science Industry</vt:lpstr>
      <vt:lpstr>Sports Science Industry</vt:lpstr>
      <vt:lpstr>CAGE Analysis Impacts</vt:lpstr>
      <vt:lpstr>Market Entry Options</vt:lpstr>
      <vt:lpstr>Universities Currently Completing Studies </vt:lpstr>
      <vt:lpstr>Potential Partners</vt:lpstr>
      <vt:lpstr>Major Competitors </vt:lpstr>
      <vt:lpstr>Regulations</vt:lpstr>
      <vt:lpstr>Collaboration with Venture Capitalists </vt:lpstr>
      <vt:lpstr>Grant Possibilities</vt:lpstr>
      <vt:lpstr>Collaboration with Manufactures </vt:lpstr>
      <vt:lpstr>Pricing Model</vt:lpstr>
      <vt:lpstr>Key Findings</vt:lpstr>
      <vt:lpstr>Final Recommendations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Kaylee Pacunas</dc:creator>
  <cp:lastModifiedBy>Len Guida</cp:lastModifiedBy>
  <cp:revision>2</cp:revision>
  <dcterms:created xsi:type="dcterms:W3CDTF">2022-06-13T21:53:16Z</dcterms:created>
  <dcterms:modified xsi:type="dcterms:W3CDTF">2022-07-03T15:39:33Z</dcterms:modified>
</cp:coreProperties>
</file>