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58" r:id="rId6"/>
    <p:sldId id="268" r:id="rId7"/>
    <p:sldId id="276" r:id="rId8"/>
    <p:sldId id="266" r:id="rId9"/>
    <p:sldId id="277" r:id="rId10"/>
    <p:sldId id="271" r:id="rId11"/>
    <p:sldId id="272" r:id="rId12"/>
    <p:sldId id="270" r:id="rId13"/>
    <p:sldId id="265" r:id="rId14"/>
    <p:sldId id="279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/>
    <p:restoredTop sz="94648"/>
  </p:normalViewPr>
  <p:slideViewPr>
    <p:cSldViewPr snapToGrid="0">
      <p:cViewPr varScale="1">
        <p:scale>
          <a:sx n="77" d="100"/>
          <a:sy n="77" d="100"/>
        </p:scale>
        <p:origin x="62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2C0EA8-9499-4F77-ABF8-C16D7172D772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FD6775-094F-4980-BBDB-01E3234A29F1}">
      <dgm:prSet phldr="0"/>
      <dgm:spPr/>
      <dgm:t>
        <a:bodyPr/>
        <a:lstStyle/>
        <a:p>
          <a:pPr algn="l" rtl="0">
            <a:lnSpc>
              <a:spcPct val="120000"/>
            </a:lnSpc>
          </a:pPr>
          <a:r>
            <a:rPr lang="en-US">
              <a:latin typeface="Calibri Light" panose="020F0302020204030204"/>
            </a:rPr>
            <a:t>Rehabilitation Equipment Market </a:t>
          </a:r>
          <a:endParaRPr lang="en-US"/>
        </a:p>
      </dgm:t>
    </dgm:pt>
    <dgm:pt modelId="{FE58DCB9-A104-468F-91CA-81DF887C35A8}" type="parTrans" cxnId="{287FF082-EE02-4725-9A68-78FC4FD553DE}">
      <dgm:prSet/>
      <dgm:spPr/>
    </dgm:pt>
    <dgm:pt modelId="{70E2426E-E715-4FC3-8C4E-44AD6D34FC39}" type="sibTrans" cxnId="{287FF082-EE02-4725-9A68-78FC4FD553DE}">
      <dgm:prSet/>
      <dgm:spPr/>
    </dgm:pt>
    <dgm:pt modelId="{24457E4F-B409-44B9-8F7B-407F7497A159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>
              <a:latin typeface="Calibri Light" panose="020F0302020204030204"/>
            </a:rPr>
            <a:t>Global market currently at $14.9B in 2022</a:t>
          </a:r>
          <a:endParaRPr lang="en-US"/>
        </a:p>
      </dgm:t>
    </dgm:pt>
    <dgm:pt modelId="{A531DD2E-6DFA-412F-B847-93E86E04D768}" type="parTrans" cxnId="{E4BA4CD7-AD6D-46DF-A3CD-2DC48929533E}">
      <dgm:prSet/>
      <dgm:spPr/>
    </dgm:pt>
    <dgm:pt modelId="{A6D2179D-1B09-4321-B6D4-E042664B911A}" type="sibTrans" cxnId="{E4BA4CD7-AD6D-46DF-A3CD-2DC48929533E}">
      <dgm:prSet/>
      <dgm:spPr/>
    </dgm:pt>
    <dgm:pt modelId="{0EF91ACA-EAC1-4D1D-8715-480BB95BACDD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>
              <a:latin typeface="Calibri Light" panose="020F0302020204030204"/>
            </a:rPr>
            <a:t>Projections to reach $19.8B in 2027</a:t>
          </a:r>
          <a:endParaRPr lang="en-US"/>
        </a:p>
      </dgm:t>
    </dgm:pt>
    <dgm:pt modelId="{B2635298-F2C6-4B3D-9390-160A6E8DBA45}" type="parTrans" cxnId="{B95C37CA-505E-49D6-B841-84D1CEFF9455}">
      <dgm:prSet/>
      <dgm:spPr/>
    </dgm:pt>
    <dgm:pt modelId="{983718ED-E7BD-484A-9B02-858D5881842C}" type="sibTrans" cxnId="{B95C37CA-505E-49D6-B841-84D1CEFF9455}">
      <dgm:prSet/>
      <dgm:spPr/>
    </dgm:pt>
    <dgm:pt modelId="{06B98A4E-49C7-45FB-836E-35CA73D9392F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>
              <a:latin typeface="Calibri Light" panose="020F0302020204030204"/>
            </a:rPr>
            <a:t>Projected growth rate of 5.9%</a:t>
          </a:r>
          <a:endParaRPr lang="en-US"/>
        </a:p>
      </dgm:t>
    </dgm:pt>
    <dgm:pt modelId="{27B6F480-F6BE-472F-9712-59193863647C}" type="parTrans" cxnId="{823C9D20-EC58-4611-96AF-82F45CEB2574}">
      <dgm:prSet/>
      <dgm:spPr/>
    </dgm:pt>
    <dgm:pt modelId="{D00ADCEE-C2D0-4862-ADFF-121D4F2B20DA}" type="sibTrans" cxnId="{823C9D20-EC58-4611-96AF-82F45CEB2574}">
      <dgm:prSet/>
      <dgm:spPr/>
    </dgm:pt>
    <dgm:pt modelId="{2C70B8D9-6861-4D43-B6F0-918E6E7257C0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>
              <a:latin typeface="Calibri Light" panose="020F0302020204030204"/>
            </a:rPr>
            <a:t>Lack of consolidation in marketplace</a:t>
          </a:r>
          <a:endParaRPr lang="en-US"/>
        </a:p>
      </dgm:t>
    </dgm:pt>
    <dgm:pt modelId="{41019777-6DC9-4806-B788-33DD2A7D02DC}" type="parTrans" cxnId="{5BD562E0-D265-443F-B78C-C2115C47D843}">
      <dgm:prSet/>
      <dgm:spPr/>
    </dgm:pt>
    <dgm:pt modelId="{520E0E1F-64DE-40B8-810D-69F6BEB42459}" type="sibTrans" cxnId="{5BD562E0-D265-443F-B78C-C2115C47D843}">
      <dgm:prSet/>
      <dgm:spPr/>
    </dgm:pt>
    <dgm:pt modelId="{E0D1C254-0683-4B53-A9CD-D7BC33E76403}">
      <dgm:prSet phldr="0"/>
      <dgm:spPr/>
      <dgm:t>
        <a:bodyPr/>
        <a:lstStyle/>
        <a:p>
          <a:pPr algn="l">
            <a:lnSpc>
              <a:spcPct val="120000"/>
            </a:lnSpc>
          </a:pPr>
          <a:r>
            <a:rPr lang="en-US">
              <a:latin typeface="Calibri Light" panose="020F0302020204030204"/>
            </a:rPr>
            <a:t>Professional Sports Team Focus</a:t>
          </a:r>
          <a:endParaRPr lang="en-US"/>
        </a:p>
      </dgm:t>
    </dgm:pt>
    <dgm:pt modelId="{4C88C6AA-81FA-4B1E-85FD-A732E8F6CF70}" type="parTrans" cxnId="{C5C79621-EEAA-4273-9CBE-50DEBEE8FF9E}">
      <dgm:prSet/>
      <dgm:spPr/>
    </dgm:pt>
    <dgm:pt modelId="{1CED79BA-C05C-4C92-9681-B692DB0D7D12}" type="sibTrans" cxnId="{C5C79621-EEAA-4273-9CBE-50DEBEE8FF9E}">
      <dgm:prSet/>
      <dgm:spPr/>
    </dgm:pt>
    <dgm:pt modelId="{D4273659-245D-49F3-B5F5-9A7D8FD5C4DC}">
      <dgm:prSet phldr="0"/>
      <dgm:spPr/>
      <dgm:t>
        <a:bodyPr/>
        <a:lstStyle/>
        <a:p>
          <a:pPr algn="l">
            <a:lnSpc>
              <a:spcPct val="120000"/>
            </a:lnSpc>
          </a:pPr>
          <a:r>
            <a:rPr lang="en-US">
              <a:latin typeface="Calibri Light" panose="020F0302020204030204"/>
            </a:rPr>
            <a:t>174 professional sports teams in the US</a:t>
          </a:r>
          <a:endParaRPr lang="en-US"/>
        </a:p>
      </dgm:t>
    </dgm:pt>
    <dgm:pt modelId="{D451ADC4-53DE-4CBF-AA13-971985D402B4}" type="parTrans" cxnId="{E1ABDEB6-016C-4718-B84C-EEC8EF579958}">
      <dgm:prSet/>
      <dgm:spPr/>
    </dgm:pt>
    <dgm:pt modelId="{109D2DA7-17C8-4AE4-AF56-3791D421E3ED}" type="sibTrans" cxnId="{E1ABDEB6-016C-4718-B84C-EEC8EF579958}">
      <dgm:prSet/>
      <dgm:spPr/>
    </dgm:pt>
    <dgm:pt modelId="{2E15B902-CF19-41E9-865A-8512D531C83F}">
      <dgm:prSet phldr="0"/>
      <dgm:spPr/>
      <dgm:t>
        <a:bodyPr/>
        <a:lstStyle/>
        <a:p>
          <a:pPr algn="l">
            <a:lnSpc>
              <a:spcPct val="120000"/>
            </a:lnSpc>
          </a:pPr>
          <a:r>
            <a:rPr lang="en-US">
              <a:latin typeface="Calibri Light" panose="020F0302020204030204"/>
            </a:rPr>
            <a:t>5 cities with sports teams in all professional sports leagues</a:t>
          </a:r>
          <a:endParaRPr lang="en-US"/>
        </a:p>
      </dgm:t>
    </dgm:pt>
    <dgm:pt modelId="{10F3F88B-8340-4EC3-8338-A6A54215C90D}" type="parTrans" cxnId="{6B0395C7-B389-43C6-A06C-4C2984D6EA7E}">
      <dgm:prSet/>
      <dgm:spPr/>
    </dgm:pt>
    <dgm:pt modelId="{C87E5F2C-5245-42E3-A965-D74FB850DC86}" type="sibTrans" cxnId="{6B0395C7-B389-43C6-A06C-4C2984D6EA7E}">
      <dgm:prSet/>
      <dgm:spPr/>
    </dgm:pt>
    <dgm:pt modelId="{7D81DA35-2A86-4DEA-A2F8-98F89219465F}">
      <dgm:prSet phldr="0"/>
      <dgm:spPr/>
      <dgm:t>
        <a:bodyPr/>
        <a:lstStyle/>
        <a:p>
          <a:pPr algn="l">
            <a:lnSpc>
              <a:spcPct val="120000"/>
            </a:lnSpc>
          </a:pPr>
          <a:r>
            <a:rPr lang="en-US">
              <a:latin typeface="Calibri Light" panose="020F0302020204030204"/>
            </a:rPr>
            <a:t>Chicago, Los Angeles, New York, Seattle, Washington</a:t>
          </a:r>
          <a:endParaRPr lang="en-US"/>
        </a:p>
      </dgm:t>
    </dgm:pt>
    <dgm:pt modelId="{0649F292-6DA9-488B-B608-1608884DD0A5}" type="parTrans" cxnId="{3C9F8BDD-840A-44FC-B00F-AC6AD16E71D3}">
      <dgm:prSet/>
      <dgm:spPr/>
    </dgm:pt>
    <dgm:pt modelId="{F743171F-46B2-4BB6-BFF0-4A0F7C49612A}" type="sibTrans" cxnId="{3C9F8BDD-840A-44FC-B00F-AC6AD16E71D3}">
      <dgm:prSet/>
      <dgm:spPr/>
    </dgm:pt>
    <dgm:pt modelId="{1044BE4F-580C-4AAD-B217-4EF10FD4A521}" type="pres">
      <dgm:prSet presAssocID="{4F2C0EA8-9499-4F77-ABF8-C16D7172D772}" presName="Name0" presStyleCnt="0">
        <dgm:presLayoutVars>
          <dgm:dir/>
          <dgm:animLvl val="lvl"/>
          <dgm:resizeHandles/>
        </dgm:presLayoutVars>
      </dgm:prSet>
      <dgm:spPr/>
    </dgm:pt>
    <dgm:pt modelId="{66919A05-4043-435E-9D9F-6503BD5B5DD6}" type="pres">
      <dgm:prSet presAssocID="{18FD6775-094F-4980-BBDB-01E3234A29F1}" presName="linNode" presStyleCnt="0"/>
      <dgm:spPr/>
    </dgm:pt>
    <dgm:pt modelId="{F7433A7A-1F76-4B0B-8633-CEA2D6A5B9DF}" type="pres">
      <dgm:prSet presAssocID="{18FD6775-094F-4980-BBDB-01E3234A29F1}" presName="parentShp" presStyleLbl="node1" presStyleIdx="0" presStyleCnt="2">
        <dgm:presLayoutVars>
          <dgm:bulletEnabled val="1"/>
        </dgm:presLayoutVars>
      </dgm:prSet>
      <dgm:spPr/>
    </dgm:pt>
    <dgm:pt modelId="{00DE88D7-ACFC-4777-AA24-101D89CD90E4}" type="pres">
      <dgm:prSet presAssocID="{18FD6775-094F-4980-BBDB-01E3234A29F1}" presName="childShp" presStyleLbl="bgAccFollowNode1" presStyleIdx="0" presStyleCnt="2">
        <dgm:presLayoutVars>
          <dgm:bulletEnabled val="1"/>
        </dgm:presLayoutVars>
      </dgm:prSet>
      <dgm:spPr/>
    </dgm:pt>
    <dgm:pt modelId="{A8BE81AE-092E-464A-8DED-13F1CFF3189C}" type="pres">
      <dgm:prSet presAssocID="{70E2426E-E715-4FC3-8C4E-44AD6D34FC39}" presName="spacing" presStyleCnt="0"/>
      <dgm:spPr/>
    </dgm:pt>
    <dgm:pt modelId="{4D99680D-9C7E-4DD8-8904-579A71CA4F77}" type="pres">
      <dgm:prSet presAssocID="{E0D1C254-0683-4B53-A9CD-D7BC33E76403}" presName="linNode" presStyleCnt="0"/>
      <dgm:spPr/>
    </dgm:pt>
    <dgm:pt modelId="{B8DDB9A4-9B96-4DA7-A7A5-BD7785590B75}" type="pres">
      <dgm:prSet presAssocID="{E0D1C254-0683-4B53-A9CD-D7BC33E76403}" presName="parentShp" presStyleLbl="node1" presStyleIdx="1" presStyleCnt="2">
        <dgm:presLayoutVars>
          <dgm:bulletEnabled val="1"/>
        </dgm:presLayoutVars>
      </dgm:prSet>
      <dgm:spPr/>
    </dgm:pt>
    <dgm:pt modelId="{EA858C3B-AF64-4447-8AE9-1623D2AED7A5}" type="pres">
      <dgm:prSet presAssocID="{E0D1C254-0683-4B53-A9CD-D7BC33E76403}" presName="childShp" presStyleLbl="bgAccFollowNode1" presStyleIdx="1" presStyleCnt="2">
        <dgm:presLayoutVars>
          <dgm:bulletEnabled val="1"/>
        </dgm:presLayoutVars>
      </dgm:prSet>
      <dgm:spPr/>
    </dgm:pt>
  </dgm:ptLst>
  <dgm:cxnLst>
    <dgm:cxn modelId="{211E9B19-1789-429D-8524-3C7F871CFF95}" type="presOf" srcId="{4F2C0EA8-9499-4F77-ABF8-C16D7172D772}" destId="{1044BE4F-580C-4AAD-B217-4EF10FD4A521}" srcOrd="0" destOrd="0" presId="urn:microsoft.com/office/officeart/2005/8/layout/vList6"/>
    <dgm:cxn modelId="{823C9D20-EC58-4611-96AF-82F45CEB2574}" srcId="{18FD6775-094F-4980-BBDB-01E3234A29F1}" destId="{06B98A4E-49C7-45FB-836E-35CA73D9392F}" srcOrd="2" destOrd="0" parTransId="{27B6F480-F6BE-472F-9712-59193863647C}" sibTransId="{D00ADCEE-C2D0-4862-ADFF-121D4F2B20DA}"/>
    <dgm:cxn modelId="{C5C79621-EEAA-4273-9CBE-50DEBEE8FF9E}" srcId="{4F2C0EA8-9499-4F77-ABF8-C16D7172D772}" destId="{E0D1C254-0683-4B53-A9CD-D7BC33E76403}" srcOrd="1" destOrd="0" parTransId="{4C88C6AA-81FA-4B1E-85FD-A732E8F6CF70}" sibTransId="{1CED79BA-C05C-4C92-9681-B692DB0D7D12}"/>
    <dgm:cxn modelId="{496A0330-F746-4810-B66D-1FE6DF142398}" type="presOf" srcId="{D4273659-245D-49F3-B5F5-9A7D8FD5C4DC}" destId="{EA858C3B-AF64-4447-8AE9-1623D2AED7A5}" srcOrd="0" destOrd="0" presId="urn:microsoft.com/office/officeart/2005/8/layout/vList6"/>
    <dgm:cxn modelId="{7EF20839-001D-453D-89B7-CFDD31CFD06F}" type="presOf" srcId="{2C70B8D9-6861-4D43-B6F0-918E6E7257C0}" destId="{00DE88D7-ACFC-4777-AA24-101D89CD90E4}" srcOrd="0" destOrd="3" presId="urn:microsoft.com/office/officeart/2005/8/layout/vList6"/>
    <dgm:cxn modelId="{287FF082-EE02-4725-9A68-78FC4FD553DE}" srcId="{4F2C0EA8-9499-4F77-ABF8-C16D7172D772}" destId="{18FD6775-094F-4980-BBDB-01E3234A29F1}" srcOrd="0" destOrd="0" parTransId="{FE58DCB9-A104-468F-91CA-81DF887C35A8}" sibTransId="{70E2426E-E715-4FC3-8C4E-44AD6D34FC39}"/>
    <dgm:cxn modelId="{35A7F792-C1D1-4B5E-A27F-B5FA47EB8F89}" type="presOf" srcId="{0EF91ACA-EAC1-4D1D-8715-480BB95BACDD}" destId="{00DE88D7-ACFC-4777-AA24-101D89CD90E4}" srcOrd="0" destOrd="1" presId="urn:microsoft.com/office/officeart/2005/8/layout/vList6"/>
    <dgm:cxn modelId="{83C316A0-506D-41A5-86C3-7287573F49E2}" type="presOf" srcId="{06B98A4E-49C7-45FB-836E-35CA73D9392F}" destId="{00DE88D7-ACFC-4777-AA24-101D89CD90E4}" srcOrd="0" destOrd="2" presId="urn:microsoft.com/office/officeart/2005/8/layout/vList6"/>
    <dgm:cxn modelId="{324655A2-9A9E-4FA2-B51D-599037DB7F24}" type="presOf" srcId="{24457E4F-B409-44B9-8F7B-407F7497A159}" destId="{00DE88D7-ACFC-4777-AA24-101D89CD90E4}" srcOrd="0" destOrd="0" presId="urn:microsoft.com/office/officeart/2005/8/layout/vList6"/>
    <dgm:cxn modelId="{E1ABDEB6-016C-4718-B84C-EEC8EF579958}" srcId="{E0D1C254-0683-4B53-A9CD-D7BC33E76403}" destId="{D4273659-245D-49F3-B5F5-9A7D8FD5C4DC}" srcOrd="0" destOrd="0" parTransId="{D451ADC4-53DE-4CBF-AA13-971985D402B4}" sibTransId="{109D2DA7-17C8-4AE4-AF56-3791D421E3ED}"/>
    <dgm:cxn modelId="{6B0395C7-B389-43C6-A06C-4C2984D6EA7E}" srcId="{E0D1C254-0683-4B53-A9CD-D7BC33E76403}" destId="{2E15B902-CF19-41E9-865A-8512D531C83F}" srcOrd="1" destOrd="0" parTransId="{10F3F88B-8340-4EC3-8338-A6A54215C90D}" sibTransId="{C87E5F2C-5245-42E3-A965-D74FB850DC86}"/>
    <dgm:cxn modelId="{B95C37CA-505E-49D6-B841-84D1CEFF9455}" srcId="{18FD6775-094F-4980-BBDB-01E3234A29F1}" destId="{0EF91ACA-EAC1-4D1D-8715-480BB95BACDD}" srcOrd="1" destOrd="0" parTransId="{B2635298-F2C6-4B3D-9390-160A6E8DBA45}" sibTransId="{983718ED-E7BD-484A-9B02-858D5881842C}"/>
    <dgm:cxn modelId="{E4BA4CD7-AD6D-46DF-A3CD-2DC48929533E}" srcId="{18FD6775-094F-4980-BBDB-01E3234A29F1}" destId="{24457E4F-B409-44B9-8F7B-407F7497A159}" srcOrd="0" destOrd="0" parTransId="{A531DD2E-6DFA-412F-B847-93E86E04D768}" sibTransId="{A6D2179D-1B09-4321-B6D4-E042664B911A}"/>
    <dgm:cxn modelId="{3C9F8BDD-840A-44FC-B00F-AC6AD16E71D3}" srcId="{2E15B902-CF19-41E9-865A-8512D531C83F}" destId="{7D81DA35-2A86-4DEA-A2F8-98F89219465F}" srcOrd="0" destOrd="0" parTransId="{0649F292-6DA9-488B-B608-1608884DD0A5}" sibTransId="{F743171F-46B2-4BB6-BFF0-4A0F7C49612A}"/>
    <dgm:cxn modelId="{9709D6DD-6876-4CAE-990E-7AB738E383D4}" type="presOf" srcId="{7D81DA35-2A86-4DEA-A2F8-98F89219465F}" destId="{EA858C3B-AF64-4447-8AE9-1623D2AED7A5}" srcOrd="0" destOrd="2" presId="urn:microsoft.com/office/officeart/2005/8/layout/vList6"/>
    <dgm:cxn modelId="{145F7EDF-D527-4F1D-A4F7-D7DABA77CAC0}" type="presOf" srcId="{2E15B902-CF19-41E9-865A-8512D531C83F}" destId="{EA858C3B-AF64-4447-8AE9-1623D2AED7A5}" srcOrd="0" destOrd="1" presId="urn:microsoft.com/office/officeart/2005/8/layout/vList6"/>
    <dgm:cxn modelId="{5BD562E0-D265-443F-B78C-C2115C47D843}" srcId="{18FD6775-094F-4980-BBDB-01E3234A29F1}" destId="{2C70B8D9-6861-4D43-B6F0-918E6E7257C0}" srcOrd="3" destOrd="0" parTransId="{41019777-6DC9-4806-B788-33DD2A7D02DC}" sibTransId="{520E0E1F-64DE-40B8-810D-69F6BEB42459}"/>
    <dgm:cxn modelId="{7BA518FB-8F07-4D47-AF5A-AE2397F86285}" type="presOf" srcId="{E0D1C254-0683-4B53-A9CD-D7BC33E76403}" destId="{B8DDB9A4-9B96-4DA7-A7A5-BD7785590B75}" srcOrd="0" destOrd="0" presId="urn:microsoft.com/office/officeart/2005/8/layout/vList6"/>
    <dgm:cxn modelId="{893DD9FD-FA02-4D12-968B-79A0D68304D7}" type="presOf" srcId="{18FD6775-094F-4980-BBDB-01E3234A29F1}" destId="{F7433A7A-1F76-4B0B-8633-CEA2D6A5B9DF}" srcOrd="0" destOrd="0" presId="urn:microsoft.com/office/officeart/2005/8/layout/vList6"/>
    <dgm:cxn modelId="{9295B13D-2150-40BF-9AA0-1E92FD9E374D}" type="presParOf" srcId="{1044BE4F-580C-4AAD-B217-4EF10FD4A521}" destId="{66919A05-4043-435E-9D9F-6503BD5B5DD6}" srcOrd="0" destOrd="0" presId="urn:microsoft.com/office/officeart/2005/8/layout/vList6"/>
    <dgm:cxn modelId="{99439741-FF41-4D24-971D-549D4A620A3D}" type="presParOf" srcId="{66919A05-4043-435E-9D9F-6503BD5B5DD6}" destId="{F7433A7A-1F76-4B0B-8633-CEA2D6A5B9DF}" srcOrd="0" destOrd="0" presId="urn:microsoft.com/office/officeart/2005/8/layout/vList6"/>
    <dgm:cxn modelId="{D53C7C6A-9068-4E2B-9249-86B60B08D0EA}" type="presParOf" srcId="{66919A05-4043-435E-9D9F-6503BD5B5DD6}" destId="{00DE88D7-ACFC-4777-AA24-101D89CD90E4}" srcOrd="1" destOrd="0" presId="urn:microsoft.com/office/officeart/2005/8/layout/vList6"/>
    <dgm:cxn modelId="{AA460B9B-90BD-488B-9FFD-0F23E950F429}" type="presParOf" srcId="{1044BE4F-580C-4AAD-B217-4EF10FD4A521}" destId="{A8BE81AE-092E-464A-8DED-13F1CFF3189C}" srcOrd="1" destOrd="0" presId="urn:microsoft.com/office/officeart/2005/8/layout/vList6"/>
    <dgm:cxn modelId="{D5AED25B-DB53-4E4D-833E-B555831BBAAF}" type="presParOf" srcId="{1044BE4F-580C-4AAD-B217-4EF10FD4A521}" destId="{4D99680D-9C7E-4DD8-8904-579A71CA4F77}" srcOrd="2" destOrd="0" presId="urn:microsoft.com/office/officeart/2005/8/layout/vList6"/>
    <dgm:cxn modelId="{D0E68267-C4ED-4F14-B184-14EF5DA4665F}" type="presParOf" srcId="{4D99680D-9C7E-4DD8-8904-579A71CA4F77}" destId="{B8DDB9A4-9B96-4DA7-A7A5-BD7785590B75}" srcOrd="0" destOrd="0" presId="urn:microsoft.com/office/officeart/2005/8/layout/vList6"/>
    <dgm:cxn modelId="{9CD8E108-CAD8-420B-A675-E456C840D4B4}" type="presParOf" srcId="{4D99680D-9C7E-4DD8-8904-579A71CA4F77}" destId="{EA858C3B-AF64-4447-8AE9-1623D2AED7A5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A31BDD-63EF-4C89-89DF-749232386FC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4D0ECE-AAB5-4E9E-A955-BFD4F9931156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Biodex Medical Systems</a:t>
          </a:r>
          <a:endParaRPr lang="en-US"/>
        </a:p>
      </dgm:t>
    </dgm:pt>
    <dgm:pt modelId="{425573A0-6401-4D7B-A95F-77ADC2669D04}" type="parTrans" cxnId="{76F659B0-8075-41DB-9543-B25220052521}">
      <dgm:prSet/>
      <dgm:spPr/>
      <dgm:t>
        <a:bodyPr/>
        <a:lstStyle/>
        <a:p>
          <a:endParaRPr lang="en-US"/>
        </a:p>
      </dgm:t>
    </dgm:pt>
    <dgm:pt modelId="{3385E87E-9279-46ED-BE07-DBBE2B2BE9D2}" type="sibTrans" cxnId="{76F659B0-8075-41DB-9543-B25220052521}">
      <dgm:prSet/>
      <dgm:spPr/>
      <dgm:t>
        <a:bodyPr/>
        <a:lstStyle/>
        <a:p>
          <a:endParaRPr lang="en-US"/>
        </a:p>
      </dgm:t>
    </dgm:pt>
    <dgm:pt modelId="{1AA295A7-F202-43AC-90C2-3EDB47A10F09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Biodex Gait Trainer- $22,000</a:t>
          </a:r>
          <a:endParaRPr lang="en-US"/>
        </a:p>
      </dgm:t>
    </dgm:pt>
    <dgm:pt modelId="{343082E5-EB33-492E-A81D-F49D057459D7}" type="parTrans" cxnId="{9491E5CC-B3DC-4C75-AFA0-63946DB4C857}">
      <dgm:prSet/>
      <dgm:spPr/>
      <dgm:t>
        <a:bodyPr/>
        <a:lstStyle/>
        <a:p>
          <a:endParaRPr lang="en-US"/>
        </a:p>
      </dgm:t>
    </dgm:pt>
    <dgm:pt modelId="{757AE122-2598-452A-8670-8879884E4D25}" type="sibTrans" cxnId="{9491E5CC-B3DC-4C75-AFA0-63946DB4C857}">
      <dgm:prSet/>
      <dgm:spPr/>
      <dgm:t>
        <a:bodyPr/>
        <a:lstStyle/>
        <a:p>
          <a:endParaRPr lang="en-US"/>
        </a:p>
      </dgm:t>
    </dgm:pt>
    <dgm:pt modelId="{845ED597-DBEC-493D-AF18-167E577BBCC6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Biodex Unweighing System</a:t>
          </a:r>
          <a:endParaRPr lang="en-US"/>
        </a:p>
      </dgm:t>
    </dgm:pt>
    <dgm:pt modelId="{751524D0-88F9-49FA-9672-E5D9FD106561}" type="parTrans" cxnId="{1516B4FC-413C-49E6-9E82-F59DAD8170C7}">
      <dgm:prSet/>
      <dgm:spPr/>
      <dgm:t>
        <a:bodyPr/>
        <a:lstStyle/>
        <a:p>
          <a:endParaRPr lang="en-US"/>
        </a:p>
      </dgm:t>
    </dgm:pt>
    <dgm:pt modelId="{2AFA9B21-8D9A-4920-AFEA-101627535A66}" type="sibTrans" cxnId="{1516B4FC-413C-49E6-9E82-F59DAD8170C7}">
      <dgm:prSet/>
      <dgm:spPr/>
      <dgm:t>
        <a:bodyPr/>
        <a:lstStyle/>
        <a:p>
          <a:endParaRPr lang="en-US"/>
        </a:p>
      </dgm:t>
    </dgm:pt>
    <dgm:pt modelId="{1032EFF9-71F9-4086-9ACC-BDC8DC59EEEB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Biodex Balance System</a:t>
          </a:r>
        </a:p>
      </dgm:t>
    </dgm:pt>
    <dgm:pt modelId="{58BCC8EB-57F3-41C0-8F04-AE7AD7356A94}" type="parTrans" cxnId="{7DD99B7E-8F61-4A9E-8519-C1DC9A87A0FC}">
      <dgm:prSet/>
      <dgm:spPr/>
    </dgm:pt>
    <dgm:pt modelId="{9F3611B5-C1BA-43E7-92EE-5F99977A9164}" type="sibTrans" cxnId="{7DD99B7E-8F61-4A9E-8519-C1DC9A87A0FC}">
      <dgm:prSet/>
      <dgm:spPr/>
    </dgm:pt>
    <dgm:pt modelId="{30918142-F0CB-46F5-A523-BADCB2FADBDF}">
      <dgm:prSet phldr="0"/>
      <dgm:spPr/>
      <dgm:t>
        <a:bodyPr/>
        <a:lstStyle/>
        <a:p>
          <a:pPr rtl="0"/>
          <a:r>
            <a:rPr lang="en-US" err="1">
              <a:latin typeface="Calibri Light" panose="020F0302020204030204"/>
            </a:rPr>
            <a:t>Medisport</a:t>
          </a:r>
          <a:r>
            <a:rPr lang="en-US">
              <a:latin typeface="Calibri Light" panose="020F0302020204030204"/>
            </a:rPr>
            <a:t> IT</a:t>
          </a:r>
        </a:p>
      </dgm:t>
    </dgm:pt>
    <dgm:pt modelId="{EF7CB9E8-731A-4021-A882-30EBEF3FCCDA}" type="parTrans" cxnId="{E46FCA94-FF51-4C98-B65C-7F777C9C3490}">
      <dgm:prSet/>
      <dgm:spPr/>
    </dgm:pt>
    <dgm:pt modelId="{076CEEF0-5CC6-4B19-A16A-DD651C6E631C}" type="sibTrans" cxnId="{E46FCA94-FF51-4C98-B65C-7F777C9C3490}">
      <dgm:prSet/>
      <dgm:spPr/>
    </dgm:pt>
    <dgm:pt modelId="{AA82F3E4-0D54-4FA3-ADEB-B09410013252}">
      <dgm:prSet phldr="0"/>
      <dgm:spPr/>
      <dgm:t>
        <a:bodyPr/>
        <a:lstStyle/>
        <a:p>
          <a:pPr rtl="0"/>
          <a:r>
            <a:rPr lang="en-US" err="1">
              <a:latin typeface="Calibri Light" panose="020F0302020204030204"/>
            </a:rPr>
            <a:t>Medislipper</a:t>
          </a:r>
          <a:r>
            <a:rPr lang="en-US">
              <a:latin typeface="Calibri Light" panose="020F0302020204030204"/>
            </a:rPr>
            <a:t> 1000</a:t>
          </a:r>
        </a:p>
      </dgm:t>
    </dgm:pt>
    <dgm:pt modelId="{8B07F27D-022B-4911-8233-C4F80660F317}" type="parTrans" cxnId="{55B1BDB1-D3E2-4420-85E3-5E5ABBA64244}">
      <dgm:prSet/>
      <dgm:spPr/>
    </dgm:pt>
    <dgm:pt modelId="{C5EDE8D3-4DC0-46CE-A4EB-4BB73DB1F73A}" type="sibTrans" cxnId="{55B1BDB1-D3E2-4420-85E3-5E5ABBA64244}">
      <dgm:prSet/>
      <dgm:spPr/>
    </dgm:pt>
    <dgm:pt modelId="{21280FD0-0746-410D-BB48-2C776A30F61F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Elgin Division</a:t>
          </a:r>
        </a:p>
      </dgm:t>
    </dgm:pt>
    <dgm:pt modelId="{67D5CB38-333B-44EE-9025-D53BA62F1291}" type="parTrans" cxnId="{B65D072C-E371-4D62-9639-5CCBC2C921F2}">
      <dgm:prSet/>
      <dgm:spPr/>
    </dgm:pt>
    <dgm:pt modelId="{BB99F185-F371-4B60-8C67-AB87E8D6B2F3}" type="sibTrans" cxnId="{B65D072C-E371-4D62-9639-5CCBC2C921F2}">
      <dgm:prSet/>
      <dgm:spPr/>
    </dgm:pt>
    <dgm:pt modelId="{FBA578E3-21FA-4931-9424-065872942E29}">
      <dgm:prSet phldr="0"/>
      <dgm:spPr/>
      <dgm:t>
        <a:bodyPr/>
        <a:lstStyle/>
        <a:p>
          <a:pPr rtl="0"/>
          <a:r>
            <a:rPr lang="en-US" err="1">
              <a:latin typeface="Calibri Light" panose="020F0302020204030204"/>
            </a:rPr>
            <a:t>Elginex</a:t>
          </a:r>
          <a:r>
            <a:rPr lang="en-US">
              <a:latin typeface="Calibri Light" panose="020F0302020204030204"/>
            </a:rPr>
            <a:t> Elgin Leg and Ankle Exerciser - $1,500</a:t>
          </a:r>
        </a:p>
      </dgm:t>
    </dgm:pt>
    <dgm:pt modelId="{3B8EB3EA-96E6-48DB-B053-D978B3C6CA94}" type="parTrans" cxnId="{5E64920E-0E49-4FB7-B5DF-9643454D2E30}">
      <dgm:prSet/>
      <dgm:spPr/>
    </dgm:pt>
    <dgm:pt modelId="{F59D1735-FD27-4625-915C-D985D0CD1E90}" type="sibTrans" cxnId="{5E64920E-0E49-4FB7-B5DF-9643454D2E30}">
      <dgm:prSet/>
      <dgm:spPr/>
    </dgm:pt>
    <dgm:pt modelId="{5DA30A13-2934-450A-B2CD-1670B4A2477A}" type="pres">
      <dgm:prSet presAssocID="{35A31BDD-63EF-4C89-89DF-749232386FC0}" presName="linear" presStyleCnt="0">
        <dgm:presLayoutVars>
          <dgm:dir/>
          <dgm:animLvl val="lvl"/>
          <dgm:resizeHandles val="exact"/>
        </dgm:presLayoutVars>
      </dgm:prSet>
      <dgm:spPr/>
    </dgm:pt>
    <dgm:pt modelId="{E9D1D3CB-A53E-4CD4-B9DA-95F36D99EA6E}" type="pres">
      <dgm:prSet presAssocID="{C44D0ECE-AAB5-4E9E-A955-BFD4F9931156}" presName="parentLin" presStyleCnt="0"/>
      <dgm:spPr/>
    </dgm:pt>
    <dgm:pt modelId="{0169C1BC-F775-4F00-BFB2-B00BB770BC46}" type="pres">
      <dgm:prSet presAssocID="{C44D0ECE-AAB5-4E9E-A955-BFD4F9931156}" presName="parentLeftMargin" presStyleLbl="node1" presStyleIdx="0" presStyleCnt="3"/>
      <dgm:spPr/>
    </dgm:pt>
    <dgm:pt modelId="{1DB23B7C-0D3B-43EF-9ADE-2432A74CA3CC}" type="pres">
      <dgm:prSet presAssocID="{C44D0ECE-AAB5-4E9E-A955-BFD4F993115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1968A1F-B448-4243-A14D-4857850FB1F1}" type="pres">
      <dgm:prSet presAssocID="{C44D0ECE-AAB5-4E9E-A955-BFD4F9931156}" presName="negativeSpace" presStyleCnt="0"/>
      <dgm:spPr/>
    </dgm:pt>
    <dgm:pt modelId="{7F659BDF-DD2A-48C0-B03E-E031D24B418A}" type="pres">
      <dgm:prSet presAssocID="{C44D0ECE-AAB5-4E9E-A955-BFD4F9931156}" presName="childText" presStyleLbl="conFgAcc1" presStyleIdx="0" presStyleCnt="3">
        <dgm:presLayoutVars>
          <dgm:bulletEnabled val="1"/>
        </dgm:presLayoutVars>
      </dgm:prSet>
      <dgm:spPr/>
    </dgm:pt>
    <dgm:pt modelId="{32C5DF62-4BE6-4ACB-A6BC-411463AB8EF9}" type="pres">
      <dgm:prSet presAssocID="{3385E87E-9279-46ED-BE07-DBBE2B2BE9D2}" presName="spaceBetweenRectangles" presStyleCnt="0"/>
      <dgm:spPr/>
    </dgm:pt>
    <dgm:pt modelId="{64C903AC-CDDD-47CD-8522-17F65432B11D}" type="pres">
      <dgm:prSet presAssocID="{30918142-F0CB-46F5-A523-BADCB2FADBDF}" presName="parentLin" presStyleCnt="0"/>
      <dgm:spPr/>
    </dgm:pt>
    <dgm:pt modelId="{8FA22D28-6FDC-497F-A14D-9B041AD3BADC}" type="pres">
      <dgm:prSet presAssocID="{30918142-F0CB-46F5-A523-BADCB2FADBDF}" presName="parentLeftMargin" presStyleLbl="node1" presStyleIdx="0" presStyleCnt="3"/>
      <dgm:spPr/>
    </dgm:pt>
    <dgm:pt modelId="{D9C3C8D3-FA6F-413A-A5FB-1DF349D6FFEF}" type="pres">
      <dgm:prSet presAssocID="{30918142-F0CB-46F5-A523-BADCB2FADBD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147BF2A-DE80-4502-AF82-696492CFD8C7}" type="pres">
      <dgm:prSet presAssocID="{30918142-F0CB-46F5-A523-BADCB2FADBDF}" presName="negativeSpace" presStyleCnt="0"/>
      <dgm:spPr/>
    </dgm:pt>
    <dgm:pt modelId="{83EC7980-D05C-4758-ACE3-76BDDB03D2C1}" type="pres">
      <dgm:prSet presAssocID="{30918142-F0CB-46F5-A523-BADCB2FADBDF}" presName="childText" presStyleLbl="conFgAcc1" presStyleIdx="1" presStyleCnt="3">
        <dgm:presLayoutVars>
          <dgm:bulletEnabled val="1"/>
        </dgm:presLayoutVars>
      </dgm:prSet>
      <dgm:spPr/>
    </dgm:pt>
    <dgm:pt modelId="{1AF2F732-2C98-42A4-AE5D-28E66F698E2E}" type="pres">
      <dgm:prSet presAssocID="{076CEEF0-5CC6-4B19-A16A-DD651C6E631C}" presName="spaceBetweenRectangles" presStyleCnt="0"/>
      <dgm:spPr/>
    </dgm:pt>
    <dgm:pt modelId="{4922AD6E-78C2-4C20-AAFB-3A4DF2F54FC5}" type="pres">
      <dgm:prSet presAssocID="{21280FD0-0746-410D-BB48-2C776A30F61F}" presName="parentLin" presStyleCnt="0"/>
      <dgm:spPr/>
    </dgm:pt>
    <dgm:pt modelId="{D2C15979-AD4D-42AE-B2AD-001CB7015C1A}" type="pres">
      <dgm:prSet presAssocID="{21280FD0-0746-410D-BB48-2C776A30F61F}" presName="parentLeftMargin" presStyleLbl="node1" presStyleIdx="1" presStyleCnt="3"/>
      <dgm:spPr/>
    </dgm:pt>
    <dgm:pt modelId="{D70FF44A-AC61-4141-B724-7EC695C487DA}" type="pres">
      <dgm:prSet presAssocID="{21280FD0-0746-410D-BB48-2C776A30F61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2C6A6D3-B35C-4B41-9513-239A00E69A34}" type="pres">
      <dgm:prSet presAssocID="{21280FD0-0746-410D-BB48-2C776A30F61F}" presName="negativeSpace" presStyleCnt="0"/>
      <dgm:spPr/>
    </dgm:pt>
    <dgm:pt modelId="{80C321A3-255F-420A-8D40-95A23DD4C826}" type="pres">
      <dgm:prSet presAssocID="{21280FD0-0746-410D-BB48-2C776A30F61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E64920E-0E49-4FB7-B5DF-9643454D2E30}" srcId="{21280FD0-0746-410D-BB48-2C776A30F61F}" destId="{FBA578E3-21FA-4931-9424-065872942E29}" srcOrd="0" destOrd="0" parTransId="{3B8EB3EA-96E6-48DB-B053-D978B3C6CA94}" sibTransId="{F59D1735-FD27-4625-915C-D985D0CD1E90}"/>
    <dgm:cxn modelId="{441A791C-83AB-490D-B4B5-C9FD99726650}" type="presOf" srcId="{35A31BDD-63EF-4C89-89DF-749232386FC0}" destId="{5DA30A13-2934-450A-B2CD-1670B4A2477A}" srcOrd="0" destOrd="0" presId="urn:microsoft.com/office/officeart/2005/8/layout/list1"/>
    <dgm:cxn modelId="{BFE74F2A-F229-4995-A96B-8839631B5BF3}" type="presOf" srcId="{21280FD0-0746-410D-BB48-2C776A30F61F}" destId="{D70FF44A-AC61-4141-B724-7EC695C487DA}" srcOrd="1" destOrd="0" presId="urn:microsoft.com/office/officeart/2005/8/layout/list1"/>
    <dgm:cxn modelId="{B65D072C-E371-4D62-9639-5CCBC2C921F2}" srcId="{35A31BDD-63EF-4C89-89DF-749232386FC0}" destId="{21280FD0-0746-410D-BB48-2C776A30F61F}" srcOrd="2" destOrd="0" parTransId="{67D5CB38-333B-44EE-9025-D53BA62F1291}" sibTransId="{BB99F185-F371-4B60-8C67-AB87E8D6B2F3}"/>
    <dgm:cxn modelId="{77E4504A-3E18-41CF-815E-58660B10742D}" type="presOf" srcId="{AA82F3E4-0D54-4FA3-ADEB-B09410013252}" destId="{83EC7980-D05C-4758-ACE3-76BDDB03D2C1}" srcOrd="0" destOrd="0" presId="urn:microsoft.com/office/officeart/2005/8/layout/list1"/>
    <dgm:cxn modelId="{7DD99B7E-8F61-4A9E-8519-C1DC9A87A0FC}" srcId="{C44D0ECE-AAB5-4E9E-A955-BFD4F9931156}" destId="{1032EFF9-71F9-4086-9ACC-BDC8DC59EEEB}" srcOrd="2" destOrd="0" parTransId="{58BCC8EB-57F3-41C0-8F04-AE7AD7356A94}" sibTransId="{9F3611B5-C1BA-43E7-92EE-5F99977A9164}"/>
    <dgm:cxn modelId="{54896988-07DA-4CBC-A453-D8879997A0EB}" type="presOf" srcId="{845ED597-DBEC-493D-AF18-167E577BBCC6}" destId="{7F659BDF-DD2A-48C0-B03E-E031D24B418A}" srcOrd="0" destOrd="1" presId="urn:microsoft.com/office/officeart/2005/8/layout/list1"/>
    <dgm:cxn modelId="{E46FCA94-FF51-4C98-B65C-7F777C9C3490}" srcId="{35A31BDD-63EF-4C89-89DF-749232386FC0}" destId="{30918142-F0CB-46F5-A523-BADCB2FADBDF}" srcOrd="1" destOrd="0" parTransId="{EF7CB9E8-731A-4021-A882-30EBEF3FCCDA}" sibTransId="{076CEEF0-5CC6-4B19-A16A-DD651C6E631C}"/>
    <dgm:cxn modelId="{57C9DB9C-F7D9-4415-B2E4-F32BB8014D09}" type="presOf" srcId="{30918142-F0CB-46F5-A523-BADCB2FADBDF}" destId="{8FA22D28-6FDC-497F-A14D-9B041AD3BADC}" srcOrd="0" destOrd="0" presId="urn:microsoft.com/office/officeart/2005/8/layout/list1"/>
    <dgm:cxn modelId="{37E2DA9D-C9F6-4B82-88FA-5B6667C63385}" type="presOf" srcId="{1AA295A7-F202-43AC-90C2-3EDB47A10F09}" destId="{7F659BDF-DD2A-48C0-B03E-E031D24B418A}" srcOrd="0" destOrd="0" presId="urn:microsoft.com/office/officeart/2005/8/layout/list1"/>
    <dgm:cxn modelId="{388B13AA-E379-432E-AA58-D916F56F0A1E}" type="presOf" srcId="{C44D0ECE-AAB5-4E9E-A955-BFD4F9931156}" destId="{0169C1BC-F775-4F00-BFB2-B00BB770BC46}" srcOrd="0" destOrd="0" presId="urn:microsoft.com/office/officeart/2005/8/layout/list1"/>
    <dgm:cxn modelId="{76F659B0-8075-41DB-9543-B25220052521}" srcId="{35A31BDD-63EF-4C89-89DF-749232386FC0}" destId="{C44D0ECE-AAB5-4E9E-A955-BFD4F9931156}" srcOrd="0" destOrd="0" parTransId="{425573A0-6401-4D7B-A95F-77ADC2669D04}" sibTransId="{3385E87E-9279-46ED-BE07-DBBE2B2BE9D2}"/>
    <dgm:cxn modelId="{55B1BDB1-D3E2-4420-85E3-5E5ABBA64244}" srcId="{30918142-F0CB-46F5-A523-BADCB2FADBDF}" destId="{AA82F3E4-0D54-4FA3-ADEB-B09410013252}" srcOrd="0" destOrd="0" parTransId="{8B07F27D-022B-4911-8233-C4F80660F317}" sibTransId="{C5EDE8D3-4DC0-46CE-A4EB-4BB73DB1F73A}"/>
    <dgm:cxn modelId="{F3CF23BE-79A7-4A77-8279-7270308F4884}" type="presOf" srcId="{1032EFF9-71F9-4086-9ACC-BDC8DC59EEEB}" destId="{7F659BDF-DD2A-48C0-B03E-E031D24B418A}" srcOrd="0" destOrd="2" presId="urn:microsoft.com/office/officeart/2005/8/layout/list1"/>
    <dgm:cxn modelId="{9491E5CC-B3DC-4C75-AFA0-63946DB4C857}" srcId="{C44D0ECE-AAB5-4E9E-A955-BFD4F9931156}" destId="{1AA295A7-F202-43AC-90C2-3EDB47A10F09}" srcOrd="0" destOrd="0" parTransId="{343082E5-EB33-492E-A81D-F49D057459D7}" sibTransId="{757AE122-2598-452A-8670-8879884E4D25}"/>
    <dgm:cxn modelId="{771820DF-1BE8-4F39-8019-F98D65A99712}" type="presOf" srcId="{FBA578E3-21FA-4931-9424-065872942E29}" destId="{80C321A3-255F-420A-8D40-95A23DD4C826}" srcOrd="0" destOrd="0" presId="urn:microsoft.com/office/officeart/2005/8/layout/list1"/>
    <dgm:cxn modelId="{0E1B2EEC-E934-4D51-8E94-F7DCA25C7F8C}" type="presOf" srcId="{21280FD0-0746-410D-BB48-2C776A30F61F}" destId="{D2C15979-AD4D-42AE-B2AD-001CB7015C1A}" srcOrd="0" destOrd="0" presId="urn:microsoft.com/office/officeart/2005/8/layout/list1"/>
    <dgm:cxn modelId="{3ECC75ED-FB09-4E2E-BC25-E7A404E878B6}" type="presOf" srcId="{30918142-F0CB-46F5-A523-BADCB2FADBDF}" destId="{D9C3C8D3-FA6F-413A-A5FB-1DF349D6FFEF}" srcOrd="1" destOrd="0" presId="urn:microsoft.com/office/officeart/2005/8/layout/list1"/>
    <dgm:cxn modelId="{0C3DBCEF-835E-4A5C-B36F-C06F8AC46D46}" type="presOf" srcId="{C44D0ECE-AAB5-4E9E-A955-BFD4F9931156}" destId="{1DB23B7C-0D3B-43EF-9ADE-2432A74CA3CC}" srcOrd="1" destOrd="0" presId="urn:microsoft.com/office/officeart/2005/8/layout/list1"/>
    <dgm:cxn modelId="{1516B4FC-413C-49E6-9E82-F59DAD8170C7}" srcId="{C44D0ECE-AAB5-4E9E-A955-BFD4F9931156}" destId="{845ED597-DBEC-493D-AF18-167E577BBCC6}" srcOrd="1" destOrd="0" parTransId="{751524D0-88F9-49FA-9672-E5D9FD106561}" sibTransId="{2AFA9B21-8D9A-4920-AFEA-101627535A66}"/>
    <dgm:cxn modelId="{3EF0A3A5-2411-49C9-BB93-04C4F8E97A5E}" type="presParOf" srcId="{5DA30A13-2934-450A-B2CD-1670B4A2477A}" destId="{E9D1D3CB-A53E-4CD4-B9DA-95F36D99EA6E}" srcOrd="0" destOrd="0" presId="urn:microsoft.com/office/officeart/2005/8/layout/list1"/>
    <dgm:cxn modelId="{7BF122E8-C8D5-485F-86F7-F1466CA04F5D}" type="presParOf" srcId="{E9D1D3CB-A53E-4CD4-B9DA-95F36D99EA6E}" destId="{0169C1BC-F775-4F00-BFB2-B00BB770BC46}" srcOrd="0" destOrd="0" presId="urn:microsoft.com/office/officeart/2005/8/layout/list1"/>
    <dgm:cxn modelId="{22D3A7D8-8E88-4A61-9697-FC842AE6C913}" type="presParOf" srcId="{E9D1D3CB-A53E-4CD4-B9DA-95F36D99EA6E}" destId="{1DB23B7C-0D3B-43EF-9ADE-2432A74CA3CC}" srcOrd="1" destOrd="0" presId="urn:microsoft.com/office/officeart/2005/8/layout/list1"/>
    <dgm:cxn modelId="{3AAE8F70-3F38-45BD-AF98-44F01837A717}" type="presParOf" srcId="{5DA30A13-2934-450A-B2CD-1670B4A2477A}" destId="{E1968A1F-B448-4243-A14D-4857850FB1F1}" srcOrd="1" destOrd="0" presId="urn:microsoft.com/office/officeart/2005/8/layout/list1"/>
    <dgm:cxn modelId="{8523FBC8-5C6B-4890-AA7C-B3AFDA9E9190}" type="presParOf" srcId="{5DA30A13-2934-450A-B2CD-1670B4A2477A}" destId="{7F659BDF-DD2A-48C0-B03E-E031D24B418A}" srcOrd="2" destOrd="0" presId="urn:microsoft.com/office/officeart/2005/8/layout/list1"/>
    <dgm:cxn modelId="{A01FF150-BCE0-41E4-8827-5D65A9C7E229}" type="presParOf" srcId="{5DA30A13-2934-450A-B2CD-1670B4A2477A}" destId="{32C5DF62-4BE6-4ACB-A6BC-411463AB8EF9}" srcOrd="3" destOrd="0" presId="urn:microsoft.com/office/officeart/2005/8/layout/list1"/>
    <dgm:cxn modelId="{350D8F81-CCE6-4205-87D4-E02CF5D39F90}" type="presParOf" srcId="{5DA30A13-2934-450A-B2CD-1670B4A2477A}" destId="{64C903AC-CDDD-47CD-8522-17F65432B11D}" srcOrd="4" destOrd="0" presId="urn:microsoft.com/office/officeart/2005/8/layout/list1"/>
    <dgm:cxn modelId="{736E3462-3106-4440-95BB-A2C443706FF6}" type="presParOf" srcId="{64C903AC-CDDD-47CD-8522-17F65432B11D}" destId="{8FA22D28-6FDC-497F-A14D-9B041AD3BADC}" srcOrd="0" destOrd="0" presId="urn:microsoft.com/office/officeart/2005/8/layout/list1"/>
    <dgm:cxn modelId="{5E31ECCB-1F7D-4507-A474-EE2D25CF233D}" type="presParOf" srcId="{64C903AC-CDDD-47CD-8522-17F65432B11D}" destId="{D9C3C8D3-FA6F-413A-A5FB-1DF349D6FFEF}" srcOrd="1" destOrd="0" presId="urn:microsoft.com/office/officeart/2005/8/layout/list1"/>
    <dgm:cxn modelId="{FC42C623-E83E-4B57-9FF5-8A5BC5E1D10C}" type="presParOf" srcId="{5DA30A13-2934-450A-B2CD-1670B4A2477A}" destId="{7147BF2A-DE80-4502-AF82-696492CFD8C7}" srcOrd="5" destOrd="0" presId="urn:microsoft.com/office/officeart/2005/8/layout/list1"/>
    <dgm:cxn modelId="{E1A18F32-830E-4C63-89F4-E88C5BC256DD}" type="presParOf" srcId="{5DA30A13-2934-450A-B2CD-1670B4A2477A}" destId="{83EC7980-D05C-4758-ACE3-76BDDB03D2C1}" srcOrd="6" destOrd="0" presId="urn:microsoft.com/office/officeart/2005/8/layout/list1"/>
    <dgm:cxn modelId="{55FDE214-ED36-42A5-8DF5-96FFE875644B}" type="presParOf" srcId="{5DA30A13-2934-450A-B2CD-1670B4A2477A}" destId="{1AF2F732-2C98-42A4-AE5D-28E66F698E2E}" srcOrd="7" destOrd="0" presId="urn:microsoft.com/office/officeart/2005/8/layout/list1"/>
    <dgm:cxn modelId="{9A7769D7-6FD2-4275-B1F9-6F949D01B2FF}" type="presParOf" srcId="{5DA30A13-2934-450A-B2CD-1670B4A2477A}" destId="{4922AD6E-78C2-4C20-AAFB-3A4DF2F54FC5}" srcOrd="8" destOrd="0" presId="urn:microsoft.com/office/officeart/2005/8/layout/list1"/>
    <dgm:cxn modelId="{2A4B9288-7132-4414-880C-73582FC97269}" type="presParOf" srcId="{4922AD6E-78C2-4C20-AAFB-3A4DF2F54FC5}" destId="{D2C15979-AD4D-42AE-B2AD-001CB7015C1A}" srcOrd="0" destOrd="0" presId="urn:microsoft.com/office/officeart/2005/8/layout/list1"/>
    <dgm:cxn modelId="{F76B5B3E-06EB-497D-89FE-3DFDF8743FFB}" type="presParOf" srcId="{4922AD6E-78C2-4C20-AAFB-3A4DF2F54FC5}" destId="{D70FF44A-AC61-4141-B724-7EC695C487DA}" srcOrd="1" destOrd="0" presId="urn:microsoft.com/office/officeart/2005/8/layout/list1"/>
    <dgm:cxn modelId="{46230DF0-7EDD-4382-85AB-8835851AB89F}" type="presParOf" srcId="{5DA30A13-2934-450A-B2CD-1670B4A2477A}" destId="{A2C6A6D3-B35C-4B41-9513-239A00E69A34}" srcOrd="9" destOrd="0" presId="urn:microsoft.com/office/officeart/2005/8/layout/list1"/>
    <dgm:cxn modelId="{DFCFB957-978C-4CF4-B4FC-9CCE26362870}" type="presParOf" srcId="{5DA30A13-2934-450A-B2CD-1670B4A2477A}" destId="{80C321A3-255F-420A-8D40-95A23DD4C82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E7F881-9A9D-4BF2-80C4-1E311206AF7D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F1952D-CBB7-466C-8120-E77BCF77A5E9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Class I Medical Device</a:t>
          </a:r>
          <a:endParaRPr lang="en-US"/>
        </a:p>
      </dgm:t>
    </dgm:pt>
    <dgm:pt modelId="{C6E1CD35-30FA-423D-B81B-C49C449C8B54}" type="parTrans" cxnId="{FB9E51D4-62EF-482E-A557-92E603254EEB}">
      <dgm:prSet/>
      <dgm:spPr/>
      <dgm:t>
        <a:bodyPr/>
        <a:lstStyle/>
        <a:p>
          <a:endParaRPr lang="en-US"/>
        </a:p>
      </dgm:t>
    </dgm:pt>
    <dgm:pt modelId="{5F54C065-2FE3-4249-AC0C-4775B8CD8D6D}" type="sibTrans" cxnId="{FB9E51D4-62EF-482E-A557-92E603254EEB}">
      <dgm:prSet/>
      <dgm:spPr/>
      <dgm:t>
        <a:bodyPr/>
        <a:lstStyle/>
        <a:p>
          <a:endParaRPr lang="en-US"/>
        </a:p>
      </dgm:t>
    </dgm:pt>
    <dgm:pt modelId="{C69AA7C6-39A8-4CE2-9747-15E00457C672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No design controls</a:t>
          </a:r>
          <a:endParaRPr lang="en-US"/>
        </a:p>
      </dgm:t>
    </dgm:pt>
    <dgm:pt modelId="{1D72ADEA-49AF-4FB8-8978-3D399704CD9B}" type="parTrans" cxnId="{615870E1-AFF7-420A-98CA-F98A28C38868}">
      <dgm:prSet/>
      <dgm:spPr/>
      <dgm:t>
        <a:bodyPr/>
        <a:lstStyle/>
        <a:p>
          <a:endParaRPr lang="en-US"/>
        </a:p>
      </dgm:t>
    </dgm:pt>
    <dgm:pt modelId="{5B6A48F2-3FB3-4E43-AC6D-3493467D2EAA}" type="sibTrans" cxnId="{615870E1-AFF7-420A-98CA-F98A28C38868}">
      <dgm:prSet/>
      <dgm:spPr/>
      <dgm:t>
        <a:bodyPr/>
        <a:lstStyle/>
        <a:p>
          <a:endParaRPr lang="en-US"/>
        </a:p>
      </dgm:t>
    </dgm:pt>
    <dgm:pt modelId="{1EA79F65-841A-42FD-89C6-968E1B6AF501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Reasonable</a:t>
          </a:r>
          <a:r>
            <a:rPr lang="en-US"/>
            <a:t> assurance of the device's safety and effectiveness</a:t>
          </a:r>
        </a:p>
      </dgm:t>
    </dgm:pt>
    <dgm:pt modelId="{B70089A1-F1F0-49D1-9C67-4AABD7F79B4C}" type="parTrans" cxnId="{8309CF92-E057-4CA4-864D-239DB262629D}">
      <dgm:prSet/>
      <dgm:spPr/>
      <dgm:t>
        <a:bodyPr/>
        <a:lstStyle/>
        <a:p>
          <a:endParaRPr lang="en-US"/>
        </a:p>
      </dgm:t>
    </dgm:pt>
    <dgm:pt modelId="{29EC40DD-D575-4A90-9B5D-0A755FAE599F}" type="sibTrans" cxnId="{8309CF92-E057-4CA4-864D-239DB262629D}">
      <dgm:prSet/>
      <dgm:spPr/>
      <dgm:t>
        <a:bodyPr/>
        <a:lstStyle/>
        <a:p>
          <a:endParaRPr lang="en-US"/>
        </a:p>
      </dgm:t>
    </dgm:pt>
    <dgm:pt modelId="{B808CD4B-1E3C-4F65-80DC-CEE53567D438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Utilizes general controls</a:t>
          </a:r>
          <a:endParaRPr lang="en-US"/>
        </a:p>
      </dgm:t>
    </dgm:pt>
    <dgm:pt modelId="{097EEA64-DCB4-4BC1-B733-543CBE2C9C20}" type="parTrans" cxnId="{DF8DFC83-BF6D-42E7-B62A-51CFF47ADE64}">
      <dgm:prSet/>
      <dgm:spPr/>
      <dgm:t>
        <a:bodyPr/>
        <a:lstStyle/>
        <a:p>
          <a:endParaRPr lang="en-US"/>
        </a:p>
      </dgm:t>
    </dgm:pt>
    <dgm:pt modelId="{F8A72B95-512D-49F4-B672-B681B6BC7BEF}" type="sibTrans" cxnId="{DF8DFC83-BF6D-42E7-B62A-51CFF47ADE64}">
      <dgm:prSet/>
      <dgm:spPr/>
      <dgm:t>
        <a:bodyPr/>
        <a:lstStyle/>
        <a:p>
          <a:endParaRPr lang="en-US"/>
        </a:p>
      </dgm:t>
    </dgm:pt>
    <dgm:pt modelId="{BFE494A6-EAF3-4AF1-ACF7-0C69A1417738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Examples: Standard disposable masks, stethoscopes, bandages</a:t>
          </a:r>
          <a:endParaRPr lang="en-US"/>
        </a:p>
      </dgm:t>
    </dgm:pt>
    <dgm:pt modelId="{639295C6-1110-4749-98EC-FBC709472350}" type="parTrans" cxnId="{1F809AD7-F10D-4551-A1D9-29EFCC371E81}">
      <dgm:prSet/>
      <dgm:spPr/>
      <dgm:t>
        <a:bodyPr/>
        <a:lstStyle/>
        <a:p>
          <a:endParaRPr lang="en-US"/>
        </a:p>
      </dgm:t>
    </dgm:pt>
    <dgm:pt modelId="{06202FE9-0238-4E74-B70E-C697EA683D34}" type="sibTrans" cxnId="{1F809AD7-F10D-4551-A1D9-29EFCC371E81}">
      <dgm:prSet/>
      <dgm:spPr/>
      <dgm:t>
        <a:bodyPr/>
        <a:lstStyle/>
        <a:p>
          <a:endParaRPr lang="en-US"/>
        </a:p>
      </dgm:t>
    </dgm:pt>
    <dgm:pt modelId="{BE4B3865-1971-4C7C-8BCB-D1BDDBE64AFF}">
      <dgm:prSet phldrT="[Text]" phldr="0"/>
      <dgm:spPr/>
      <dgm:t>
        <a:bodyPr/>
        <a:lstStyle/>
        <a:p>
          <a:pPr rtl="0"/>
          <a:r>
            <a:rPr lang="en-US"/>
            <a:t>Class </a:t>
          </a:r>
          <a:r>
            <a:rPr lang="en-US">
              <a:latin typeface="Calibri Light" panose="020F0302020204030204"/>
            </a:rPr>
            <a:t>II</a:t>
          </a:r>
          <a:r>
            <a:rPr lang="en-US"/>
            <a:t> </a:t>
          </a:r>
          <a:r>
            <a:rPr lang="en-US">
              <a:latin typeface="Calibri Light" panose="020F0302020204030204"/>
            </a:rPr>
            <a:t>Medical</a:t>
          </a:r>
          <a:r>
            <a:rPr lang="en-US"/>
            <a:t> Device</a:t>
          </a:r>
        </a:p>
      </dgm:t>
    </dgm:pt>
    <dgm:pt modelId="{C4CE6CBD-31BE-47ED-909A-C5DCE179CA9E}" type="parTrans" cxnId="{A39294E3-9A21-452E-AE96-03263988361D}">
      <dgm:prSet/>
      <dgm:spPr/>
      <dgm:t>
        <a:bodyPr/>
        <a:lstStyle/>
        <a:p>
          <a:endParaRPr lang="en-US"/>
        </a:p>
      </dgm:t>
    </dgm:pt>
    <dgm:pt modelId="{59CEC422-C11F-4D8B-BA25-4A05D06B0ACC}" type="sibTrans" cxnId="{A39294E3-9A21-452E-AE96-03263988361D}">
      <dgm:prSet/>
      <dgm:spPr/>
      <dgm:t>
        <a:bodyPr/>
        <a:lstStyle/>
        <a:p>
          <a:endParaRPr lang="en-US"/>
        </a:p>
      </dgm:t>
    </dgm:pt>
    <dgm:pt modelId="{9EE280E8-88CC-4606-B898-428BEE8F82BC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Design</a:t>
          </a:r>
          <a:r>
            <a:rPr lang="en-US"/>
            <a:t> controls</a:t>
          </a:r>
          <a:r>
            <a:rPr lang="en-US">
              <a:latin typeface="Calibri Light" panose="020F0302020204030204"/>
            </a:rPr>
            <a:t> present</a:t>
          </a:r>
        </a:p>
      </dgm:t>
    </dgm:pt>
    <dgm:pt modelId="{9ED7A536-66C3-438F-A60F-63D398548E34}" type="parTrans" cxnId="{3B2F46C7-2D9F-4E7D-A94C-BAA139D1BC93}">
      <dgm:prSet/>
      <dgm:spPr/>
    </dgm:pt>
    <dgm:pt modelId="{A71CAA16-6C2D-4140-B21B-E86E29081198}" type="sibTrans" cxnId="{3B2F46C7-2D9F-4E7D-A94C-BAA139D1BC93}">
      <dgm:prSet/>
      <dgm:spPr/>
    </dgm:pt>
    <dgm:pt modelId="{D4D8E8D6-B42F-47DA-AA3F-AFE2A3187EA8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Moderate risk to safety and effectiveness</a:t>
          </a:r>
        </a:p>
      </dgm:t>
    </dgm:pt>
    <dgm:pt modelId="{3A630741-0F21-473D-AA38-6261DC662FD6}" type="parTrans" cxnId="{39286CCE-8939-496F-B68C-A840729FFFE9}">
      <dgm:prSet/>
      <dgm:spPr/>
    </dgm:pt>
    <dgm:pt modelId="{926A0E75-B6BA-41E9-921B-0CE079F3525F}" type="sibTrans" cxnId="{39286CCE-8939-496F-B68C-A840729FFFE9}">
      <dgm:prSet/>
      <dgm:spPr/>
    </dgm:pt>
    <dgm:pt modelId="{33EACD80-5756-420A-9385-F56E9F330CBA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Utilizes special controls</a:t>
          </a:r>
        </a:p>
      </dgm:t>
    </dgm:pt>
    <dgm:pt modelId="{99E7607B-8CFA-461B-AAE1-0FB2E82A6E1E}" type="parTrans" cxnId="{5E66E514-B3C7-496E-A6EA-B17E1C1B3DAA}">
      <dgm:prSet/>
      <dgm:spPr/>
    </dgm:pt>
    <dgm:pt modelId="{2B97BE7A-A5E2-4808-8B30-45052106118A}" type="sibTrans" cxnId="{5E66E514-B3C7-496E-A6EA-B17E1C1B3DAA}">
      <dgm:prSet/>
      <dgm:spPr/>
    </dgm:pt>
    <dgm:pt modelId="{A0FEFB15-A9DC-4029-83CE-AB2B5B6FDCC7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Examples: blood</a:t>
          </a:r>
          <a:r>
            <a:rPr lang="en-US"/>
            <a:t> </a:t>
          </a:r>
          <a:r>
            <a:rPr lang="en-US">
              <a:latin typeface="Calibri Light" panose="020F0302020204030204"/>
            </a:rPr>
            <a:t>pressure</a:t>
          </a:r>
          <a:r>
            <a:rPr lang="en-US"/>
            <a:t> </a:t>
          </a:r>
          <a:r>
            <a:rPr lang="en-US">
              <a:latin typeface="Calibri Light" panose="020F0302020204030204"/>
            </a:rPr>
            <a:t>cuffs, contact lens, wheelchairs Apple Watch</a:t>
          </a:r>
          <a:endParaRPr lang="en-US"/>
        </a:p>
      </dgm:t>
    </dgm:pt>
    <dgm:pt modelId="{DA67F5C7-8678-495F-A06C-554807032742}" type="parTrans" cxnId="{C36E27C9-2D5D-48B8-A7A5-EB08F5565466}">
      <dgm:prSet/>
      <dgm:spPr/>
    </dgm:pt>
    <dgm:pt modelId="{2F1FF2E9-C999-4B83-824E-91DF0356A511}" type="sibTrans" cxnId="{C36E27C9-2D5D-48B8-A7A5-EB08F5565466}">
      <dgm:prSet/>
      <dgm:spPr/>
    </dgm:pt>
    <dgm:pt modelId="{F52793CB-C0C6-4ACC-97DC-39516E76E4E2}" type="pres">
      <dgm:prSet presAssocID="{F9E7F881-9A9D-4BF2-80C4-1E311206AF7D}" presName="linearFlow" presStyleCnt="0">
        <dgm:presLayoutVars>
          <dgm:dir/>
          <dgm:animLvl val="lvl"/>
          <dgm:resizeHandles val="exact"/>
        </dgm:presLayoutVars>
      </dgm:prSet>
      <dgm:spPr/>
    </dgm:pt>
    <dgm:pt modelId="{19463818-E7EB-4A7C-8B19-FC342BFA6835}" type="pres">
      <dgm:prSet presAssocID="{B5F1952D-CBB7-466C-8120-E77BCF77A5E9}" presName="composite" presStyleCnt="0"/>
      <dgm:spPr/>
    </dgm:pt>
    <dgm:pt modelId="{CB1876DA-C7CE-41F3-8BF2-CB29F9B7012A}" type="pres">
      <dgm:prSet presAssocID="{B5F1952D-CBB7-466C-8120-E77BCF77A5E9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FF568740-9552-45E8-AA99-74F68CFB8657}" type="pres">
      <dgm:prSet presAssocID="{B5F1952D-CBB7-466C-8120-E77BCF77A5E9}" presName="descendantText" presStyleLbl="alignAcc1" presStyleIdx="0" presStyleCnt="2">
        <dgm:presLayoutVars>
          <dgm:bulletEnabled val="1"/>
        </dgm:presLayoutVars>
      </dgm:prSet>
      <dgm:spPr/>
    </dgm:pt>
    <dgm:pt modelId="{C061DC34-53E7-4CB2-A8C5-2C8E7E91513F}" type="pres">
      <dgm:prSet presAssocID="{5F54C065-2FE3-4249-AC0C-4775B8CD8D6D}" presName="sp" presStyleCnt="0"/>
      <dgm:spPr/>
    </dgm:pt>
    <dgm:pt modelId="{4D358DFA-78CC-4299-9FE7-FAEA5B3B5582}" type="pres">
      <dgm:prSet presAssocID="{BE4B3865-1971-4C7C-8BCB-D1BDDBE64AFF}" presName="composite" presStyleCnt="0"/>
      <dgm:spPr/>
    </dgm:pt>
    <dgm:pt modelId="{DE237DF9-B7C2-4AB1-8390-1CEDCE0525FF}" type="pres">
      <dgm:prSet presAssocID="{BE4B3865-1971-4C7C-8BCB-D1BDDBE64AFF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1BF580E0-5622-49C5-BB31-372984882023}" type="pres">
      <dgm:prSet presAssocID="{BE4B3865-1971-4C7C-8BCB-D1BDDBE64AFF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EDE99A07-ACAC-4E93-A044-032C56F3D457}" type="presOf" srcId="{D4D8E8D6-B42F-47DA-AA3F-AFE2A3187EA8}" destId="{1BF580E0-5622-49C5-BB31-372984882023}" srcOrd="0" destOrd="1" presId="urn:microsoft.com/office/officeart/2005/8/layout/chevron2"/>
    <dgm:cxn modelId="{FC01DD14-B2CF-4881-A503-0BF65E56014D}" type="presOf" srcId="{1EA79F65-841A-42FD-89C6-968E1B6AF501}" destId="{FF568740-9552-45E8-AA99-74F68CFB8657}" srcOrd="0" destOrd="1" presId="urn:microsoft.com/office/officeart/2005/8/layout/chevron2"/>
    <dgm:cxn modelId="{5E66E514-B3C7-496E-A6EA-B17E1C1B3DAA}" srcId="{9EE280E8-88CC-4606-B898-428BEE8F82BC}" destId="{33EACD80-5756-420A-9385-F56E9F330CBA}" srcOrd="1" destOrd="0" parTransId="{99E7607B-8CFA-461B-AAE1-0FB2E82A6E1E}" sibTransId="{2B97BE7A-A5E2-4808-8B30-45052106118A}"/>
    <dgm:cxn modelId="{9D0F671E-7F52-48C7-A9A0-52380BC488A1}" type="presOf" srcId="{A0FEFB15-A9DC-4029-83CE-AB2B5B6FDCC7}" destId="{1BF580E0-5622-49C5-BB31-372984882023}" srcOrd="0" destOrd="3" presId="urn:microsoft.com/office/officeart/2005/8/layout/chevron2"/>
    <dgm:cxn modelId="{6A8CA328-39F1-4BB8-AE29-9116491C320F}" type="presOf" srcId="{BE4B3865-1971-4C7C-8BCB-D1BDDBE64AFF}" destId="{DE237DF9-B7C2-4AB1-8390-1CEDCE0525FF}" srcOrd="0" destOrd="0" presId="urn:microsoft.com/office/officeart/2005/8/layout/chevron2"/>
    <dgm:cxn modelId="{4A757A31-9DAE-4C3B-BC96-F16EB8E986C4}" type="presOf" srcId="{C69AA7C6-39A8-4CE2-9747-15E00457C672}" destId="{FF568740-9552-45E8-AA99-74F68CFB8657}" srcOrd="0" destOrd="0" presId="urn:microsoft.com/office/officeart/2005/8/layout/chevron2"/>
    <dgm:cxn modelId="{1DCC6433-418B-4C85-99FC-23892652CEEA}" type="presOf" srcId="{B808CD4B-1E3C-4F65-80DC-CEE53567D438}" destId="{FF568740-9552-45E8-AA99-74F68CFB8657}" srcOrd="0" destOrd="2" presId="urn:microsoft.com/office/officeart/2005/8/layout/chevron2"/>
    <dgm:cxn modelId="{4FAFF53E-6DED-4F84-9FF3-0AC95E6FBFD9}" type="presOf" srcId="{BFE494A6-EAF3-4AF1-ACF7-0C69A1417738}" destId="{FF568740-9552-45E8-AA99-74F68CFB8657}" srcOrd="0" destOrd="3" presId="urn:microsoft.com/office/officeart/2005/8/layout/chevron2"/>
    <dgm:cxn modelId="{29327356-6C7F-4BBB-B54F-B2141075A733}" type="presOf" srcId="{F9E7F881-9A9D-4BF2-80C4-1E311206AF7D}" destId="{F52793CB-C0C6-4ACC-97DC-39516E76E4E2}" srcOrd="0" destOrd="0" presId="urn:microsoft.com/office/officeart/2005/8/layout/chevron2"/>
    <dgm:cxn modelId="{DF8DFC83-BF6D-42E7-B62A-51CFF47ADE64}" srcId="{C69AA7C6-39A8-4CE2-9747-15E00457C672}" destId="{B808CD4B-1E3C-4F65-80DC-CEE53567D438}" srcOrd="1" destOrd="0" parTransId="{097EEA64-DCB4-4BC1-B733-543CBE2C9C20}" sibTransId="{F8A72B95-512D-49F4-B672-B681B6BC7BEF}"/>
    <dgm:cxn modelId="{8309CF92-E057-4CA4-864D-239DB262629D}" srcId="{C69AA7C6-39A8-4CE2-9747-15E00457C672}" destId="{1EA79F65-841A-42FD-89C6-968E1B6AF501}" srcOrd="0" destOrd="0" parTransId="{B70089A1-F1F0-49D1-9C67-4AABD7F79B4C}" sibTransId="{29EC40DD-D575-4A90-9B5D-0A755FAE599F}"/>
    <dgm:cxn modelId="{956615A1-9D81-43C6-926D-951289DA1183}" type="presOf" srcId="{33EACD80-5756-420A-9385-F56E9F330CBA}" destId="{1BF580E0-5622-49C5-BB31-372984882023}" srcOrd="0" destOrd="2" presId="urn:microsoft.com/office/officeart/2005/8/layout/chevron2"/>
    <dgm:cxn modelId="{8A8734A1-BB36-4AEF-9202-D2E1D23DBE7F}" type="presOf" srcId="{9EE280E8-88CC-4606-B898-428BEE8F82BC}" destId="{1BF580E0-5622-49C5-BB31-372984882023}" srcOrd="0" destOrd="0" presId="urn:microsoft.com/office/officeart/2005/8/layout/chevron2"/>
    <dgm:cxn modelId="{3B2F46C7-2D9F-4E7D-A94C-BAA139D1BC93}" srcId="{BE4B3865-1971-4C7C-8BCB-D1BDDBE64AFF}" destId="{9EE280E8-88CC-4606-B898-428BEE8F82BC}" srcOrd="0" destOrd="0" parTransId="{9ED7A536-66C3-438F-A60F-63D398548E34}" sibTransId="{A71CAA16-6C2D-4140-B21B-E86E29081198}"/>
    <dgm:cxn modelId="{C36E27C9-2D5D-48B8-A7A5-EB08F5565466}" srcId="{BE4B3865-1971-4C7C-8BCB-D1BDDBE64AFF}" destId="{A0FEFB15-A9DC-4029-83CE-AB2B5B6FDCC7}" srcOrd="1" destOrd="0" parTransId="{DA67F5C7-8678-495F-A06C-554807032742}" sibTransId="{2F1FF2E9-C999-4B83-824E-91DF0356A511}"/>
    <dgm:cxn modelId="{39286CCE-8939-496F-B68C-A840729FFFE9}" srcId="{9EE280E8-88CC-4606-B898-428BEE8F82BC}" destId="{D4D8E8D6-B42F-47DA-AA3F-AFE2A3187EA8}" srcOrd="0" destOrd="0" parTransId="{3A630741-0F21-473D-AA38-6261DC662FD6}" sibTransId="{926A0E75-B6BA-41E9-921B-0CE079F3525F}"/>
    <dgm:cxn modelId="{FB9E51D4-62EF-482E-A557-92E603254EEB}" srcId="{F9E7F881-9A9D-4BF2-80C4-1E311206AF7D}" destId="{B5F1952D-CBB7-466C-8120-E77BCF77A5E9}" srcOrd="0" destOrd="0" parTransId="{C6E1CD35-30FA-423D-B81B-C49C449C8B54}" sibTransId="{5F54C065-2FE3-4249-AC0C-4775B8CD8D6D}"/>
    <dgm:cxn modelId="{1F809AD7-F10D-4551-A1D9-29EFCC371E81}" srcId="{B5F1952D-CBB7-466C-8120-E77BCF77A5E9}" destId="{BFE494A6-EAF3-4AF1-ACF7-0C69A1417738}" srcOrd="1" destOrd="0" parTransId="{639295C6-1110-4749-98EC-FBC709472350}" sibTransId="{06202FE9-0238-4E74-B70E-C697EA683D34}"/>
    <dgm:cxn modelId="{615870E1-AFF7-420A-98CA-F98A28C38868}" srcId="{B5F1952D-CBB7-466C-8120-E77BCF77A5E9}" destId="{C69AA7C6-39A8-4CE2-9747-15E00457C672}" srcOrd="0" destOrd="0" parTransId="{1D72ADEA-49AF-4FB8-8978-3D399704CD9B}" sibTransId="{5B6A48F2-3FB3-4E43-AC6D-3493467D2EAA}"/>
    <dgm:cxn modelId="{A39294E3-9A21-452E-AE96-03263988361D}" srcId="{F9E7F881-9A9D-4BF2-80C4-1E311206AF7D}" destId="{BE4B3865-1971-4C7C-8BCB-D1BDDBE64AFF}" srcOrd="1" destOrd="0" parTransId="{C4CE6CBD-31BE-47ED-909A-C5DCE179CA9E}" sibTransId="{59CEC422-C11F-4D8B-BA25-4A05D06B0ACC}"/>
    <dgm:cxn modelId="{D21085E9-42AF-4F1F-BD1C-1F2293A01BB7}" type="presOf" srcId="{B5F1952D-CBB7-466C-8120-E77BCF77A5E9}" destId="{CB1876DA-C7CE-41F3-8BF2-CB29F9B7012A}" srcOrd="0" destOrd="0" presId="urn:microsoft.com/office/officeart/2005/8/layout/chevron2"/>
    <dgm:cxn modelId="{75C2F2CC-128C-4BC9-AF8B-79388A8515EA}" type="presParOf" srcId="{F52793CB-C0C6-4ACC-97DC-39516E76E4E2}" destId="{19463818-E7EB-4A7C-8B19-FC342BFA6835}" srcOrd="0" destOrd="0" presId="urn:microsoft.com/office/officeart/2005/8/layout/chevron2"/>
    <dgm:cxn modelId="{26EE22FA-2985-4633-8A70-ECBF919945EE}" type="presParOf" srcId="{19463818-E7EB-4A7C-8B19-FC342BFA6835}" destId="{CB1876DA-C7CE-41F3-8BF2-CB29F9B7012A}" srcOrd="0" destOrd="0" presId="urn:microsoft.com/office/officeart/2005/8/layout/chevron2"/>
    <dgm:cxn modelId="{B7E9278A-BB8D-4E1F-8B55-69EC1D7C3A45}" type="presParOf" srcId="{19463818-E7EB-4A7C-8B19-FC342BFA6835}" destId="{FF568740-9552-45E8-AA99-74F68CFB8657}" srcOrd="1" destOrd="0" presId="urn:microsoft.com/office/officeart/2005/8/layout/chevron2"/>
    <dgm:cxn modelId="{6E1B945A-9BBA-48CA-A681-DBB6A4781ACD}" type="presParOf" srcId="{F52793CB-C0C6-4ACC-97DC-39516E76E4E2}" destId="{C061DC34-53E7-4CB2-A8C5-2C8E7E91513F}" srcOrd="1" destOrd="0" presId="urn:microsoft.com/office/officeart/2005/8/layout/chevron2"/>
    <dgm:cxn modelId="{3C7F9935-0EA7-4749-BDE5-1529719E64A0}" type="presParOf" srcId="{F52793CB-C0C6-4ACC-97DC-39516E76E4E2}" destId="{4D358DFA-78CC-4299-9FE7-FAEA5B3B5582}" srcOrd="2" destOrd="0" presId="urn:microsoft.com/office/officeart/2005/8/layout/chevron2"/>
    <dgm:cxn modelId="{0F5ACA88-A9EB-41A9-8BFE-99003FD2C113}" type="presParOf" srcId="{4D358DFA-78CC-4299-9FE7-FAEA5B3B5582}" destId="{DE237DF9-B7C2-4AB1-8390-1CEDCE0525FF}" srcOrd="0" destOrd="0" presId="urn:microsoft.com/office/officeart/2005/8/layout/chevron2"/>
    <dgm:cxn modelId="{57DF1008-F317-4C6C-8FE8-DF2727728749}" type="presParOf" srcId="{4D358DFA-78CC-4299-9FE7-FAEA5B3B5582}" destId="{1BF580E0-5622-49C5-BB31-37298488202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60F82B-576C-438E-9D0B-C882284D6BFD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FDD449F2-4CBC-4BBF-A02F-7C1582814B0B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Price Point</a:t>
          </a:r>
          <a:endParaRPr lang="en-US"/>
        </a:p>
      </dgm:t>
    </dgm:pt>
    <dgm:pt modelId="{7896F140-E7AA-485E-B9CD-D6C8E10AACC1}" type="parTrans" cxnId="{0782022C-D0DA-4D64-A444-83533751CBDC}">
      <dgm:prSet/>
      <dgm:spPr/>
      <dgm:t>
        <a:bodyPr/>
        <a:lstStyle/>
        <a:p>
          <a:endParaRPr lang="en-US"/>
        </a:p>
      </dgm:t>
    </dgm:pt>
    <dgm:pt modelId="{26A8E558-6A1A-4B76-BF7C-0E1F455722BF}" type="sibTrans" cxnId="{0782022C-D0DA-4D64-A444-83533751CBDC}">
      <dgm:prSet/>
      <dgm:spPr/>
      <dgm:t>
        <a:bodyPr/>
        <a:lstStyle/>
        <a:p>
          <a:endParaRPr lang="en-US"/>
        </a:p>
      </dgm:t>
    </dgm:pt>
    <dgm:pt modelId="{43438571-FAC9-4F50-A8AB-F9839C0D1ECB}">
      <dgm:prSet phldrT="[Text]" phldr="0"/>
      <dgm:spPr/>
      <dgm:t>
        <a:bodyPr/>
        <a:lstStyle/>
        <a:p>
          <a:r>
            <a:rPr lang="en-US">
              <a:latin typeface="Calibri Light" panose="020F0302020204030204"/>
            </a:rPr>
            <a:t>$15,000</a:t>
          </a:r>
          <a:endParaRPr lang="en-US"/>
        </a:p>
      </dgm:t>
    </dgm:pt>
    <dgm:pt modelId="{9267BC70-A58A-4F10-882D-38884FBAE55B}" type="parTrans" cxnId="{93A16A9E-6E4B-47A1-AE86-4E7A1C8F715B}">
      <dgm:prSet/>
      <dgm:spPr/>
      <dgm:t>
        <a:bodyPr/>
        <a:lstStyle/>
        <a:p>
          <a:endParaRPr lang="en-US"/>
        </a:p>
      </dgm:t>
    </dgm:pt>
    <dgm:pt modelId="{32C28DE3-6C8D-458D-B1C5-8208F081B5BA}" type="sibTrans" cxnId="{93A16A9E-6E4B-47A1-AE86-4E7A1C8F715B}">
      <dgm:prSet/>
      <dgm:spPr/>
      <dgm:t>
        <a:bodyPr/>
        <a:lstStyle/>
        <a:p>
          <a:endParaRPr lang="en-US"/>
        </a:p>
      </dgm:t>
    </dgm:pt>
    <dgm:pt modelId="{7DA96F20-1C00-4E7E-A4EC-0E927CE113C9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Recurring Streams of Income</a:t>
          </a:r>
          <a:endParaRPr lang="en-US"/>
        </a:p>
      </dgm:t>
    </dgm:pt>
    <dgm:pt modelId="{E24FCFFD-29B0-4965-8CB1-0CC7D91FF0B5}" type="parTrans" cxnId="{C3DCE4A2-61AF-4BC5-B991-238F054CBC47}">
      <dgm:prSet/>
      <dgm:spPr/>
      <dgm:t>
        <a:bodyPr/>
        <a:lstStyle/>
        <a:p>
          <a:endParaRPr lang="en-US"/>
        </a:p>
      </dgm:t>
    </dgm:pt>
    <dgm:pt modelId="{593B73DD-CBF1-4094-A3AA-49AF90BAE629}" type="sibTrans" cxnId="{C3DCE4A2-61AF-4BC5-B991-238F054CBC47}">
      <dgm:prSet/>
      <dgm:spPr/>
      <dgm:t>
        <a:bodyPr/>
        <a:lstStyle/>
        <a:p>
          <a:endParaRPr lang="en-US"/>
        </a:p>
      </dgm:t>
    </dgm:pt>
    <dgm:pt modelId="{A14F0307-44ED-4F25-8E66-53280880D0E3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Physical equipment leasing </a:t>
          </a:r>
          <a:endParaRPr lang="en-US"/>
        </a:p>
      </dgm:t>
    </dgm:pt>
    <dgm:pt modelId="{C03DB053-DA1D-40DD-BCBA-3354BEE80EB3}" type="parTrans" cxnId="{53C901EC-709B-4BF8-BC69-932630F866B2}">
      <dgm:prSet/>
      <dgm:spPr/>
      <dgm:t>
        <a:bodyPr/>
        <a:lstStyle/>
        <a:p>
          <a:endParaRPr lang="en-US"/>
        </a:p>
      </dgm:t>
    </dgm:pt>
    <dgm:pt modelId="{501106C4-342F-4DEC-A0D7-124BDC3C44FA}" type="sibTrans" cxnId="{53C901EC-709B-4BF8-BC69-932630F866B2}">
      <dgm:prSet/>
      <dgm:spPr/>
      <dgm:t>
        <a:bodyPr/>
        <a:lstStyle/>
        <a:p>
          <a:endParaRPr lang="en-US"/>
        </a:p>
      </dgm:t>
    </dgm:pt>
    <dgm:pt modelId="{C151A64A-DC9B-4756-8B3D-12C764713A16}">
      <dgm:prSet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Software subscription based model</a:t>
          </a:r>
        </a:p>
      </dgm:t>
    </dgm:pt>
    <dgm:pt modelId="{6A99DA98-66D2-4B30-9EB5-319614C421B3}" type="parTrans" cxnId="{A828A910-CF95-4B57-9E5D-1CF9405B4CB4}">
      <dgm:prSet/>
      <dgm:spPr/>
    </dgm:pt>
    <dgm:pt modelId="{2FBC4B46-2931-4472-9B2C-4567D6570F7C}" type="sibTrans" cxnId="{A828A910-CF95-4B57-9E5D-1CF9405B4CB4}">
      <dgm:prSet/>
      <dgm:spPr/>
    </dgm:pt>
    <dgm:pt modelId="{2F8D5119-DD1A-4687-A247-DDF16A3E33A4}" type="pres">
      <dgm:prSet presAssocID="{F260F82B-576C-438E-9D0B-C882284D6BFD}" presName="linear" presStyleCnt="0">
        <dgm:presLayoutVars>
          <dgm:animLvl val="lvl"/>
          <dgm:resizeHandles val="exact"/>
        </dgm:presLayoutVars>
      </dgm:prSet>
      <dgm:spPr/>
    </dgm:pt>
    <dgm:pt modelId="{AABF0E2A-866B-4366-93BD-8E3A95490ED3}" type="pres">
      <dgm:prSet presAssocID="{FDD449F2-4CBC-4BBF-A02F-7C1582814B0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5C179FA-2BE2-49F9-B39D-66BFF29009B8}" type="pres">
      <dgm:prSet presAssocID="{FDD449F2-4CBC-4BBF-A02F-7C1582814B0B}" presName="childText" presStyleLbl="revTx" presStyleIdx="0" presStyleCnt="2">
        <dgm:presLayoutVars>
          <dgm:bulletEnabled val="1"/>
        </dgm:presLayoutVars>
      </dgm:prSet>
      <dgm:spPr/>
    </dgm:pt>
    <dgm:pt modelId="{6B7185FF-BC82-4BA1-A406-E6DED82C846E}" type="pres">
      <dgm:prSet presAssocID="{7DA96F20-1C00-4E7E-A4EC-0E927CE113C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9DC8A68-EA84-44DC-9910-E59C12785EE3}" type="pres">
      <dgm:prSet presAssocID="{7DA96F20-1C00-4E7E-A4EC-0E927CE113C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828A910-CF95-4B57-9E5D-1CF9405B4CB4}" srcId="{7DA96F20-1C00-4E7E-A4EC-0E927CE113C9}" destId="{C151A64A-DC9B-4756-8B3D-12C764713A16}" srcOrd="1" destOrd="0" parTransId="{6A99DA98-66D2-4B30-9EB5-319614C421B3}" sibTransId="{2FBC4B46-2931-4472-9B2C-4567D6570F7C}"/>
    <dgm:cxn modelId="{29A81826-1ADD-471D-A768-B83BE5A08787}" type="presOf" srcId="{7DA96F20-1C00-4E7E-A4EC-0E927CE113C9}" destId="{6B7185FF-BC82-4BA1-A406-E6DED82C846E}" srcOrd="0" destOrd="0" presId="urn:microsoft.com/office/officeart/2005/8/layout/vList2"/>
    <dgm:cxn modelId="{0782022C-D0DA-4D64-A444-83533751CBDC}" srcId="{F260F82B-576C-438E-9D0B-C882284D6BFD}" destId="{FDD449F2-4CBC-4BBF-A02F-7C1582814B0B}" srcOrd="0" destOrd="0" parTransId="{7896F140-E7AA-485E-B9CD-D6C8E10AACC1}" sibTransId="{26A8E558-6A1A-4B76-BF7C-0E1F455722BF}"/>
    <dgm:cxn modelId="{B6E8C95F-4F9E-4D70-A1BC-AAC0BA2A431E}" type="presOf" srcId="{43438571-FAC9-4F50-A8AB-F9839C0D1ECB}" destId="{B5C179FA-2BE2-49F9-B39D-66BFF29009B8}" srcOrd="0" destOrd="0" presId="urn:microsoft.com/office/officeart/2005/8/layout/vList2"/>
    <dgm:cxn modelId="{496F0645-7C16-4CEF-8AA1-970A8523A7CA}" type="presOf" srcId="{FDD449F2-4CBC-4BBF-A02F-7C1582814B0B}" destId="{AABF0E2A-866B-4366-93BD-8E3A95490ED3}" srcOrd="0" destOrd="0" presId="urn:microsoft.com/office/officeart/2005/8/layout/vList2"/>
    <dgm:cxn modelId="{ED0E4B49-0955-4C88-AF82-415C48DCA6BF}" type="presOf" srcId="{A14F0307-44ED-4F25-8E66-53280880D0E3}" destId="{49DC8A68-EA84-44DC-9910-E59C12785EE3}" srcOrd="0" destOrd="0" presId="urn:microsoft.com/office/officeart/2005/8/layout/vList2"/>
    <dgm:cxn modelId="{93A16A9E-6E4B-47A1-AE86-4E7A1C8F715B}" srcId="{FDD449F2-4CBC-4BBF-A02F-7C1582814B0B}" destId="{43438571-FAC9-4F50-A8AB-F9839C0D1ECB}" srcOrd="0" destOrd="0" parTransId="{9267BC70-A58A-4F10-882D-38884FBAE55B}" sibTransId="{32C28DE3-6C8D-458D-B1C5-8208F081B5BA}"/>
    <dgm:cxn modelId="{C3DCE4A2-61AF-4BC5-B991-238F054CBC47}" srcId="{F260F82B-576C-438E-9D0B-C882284D6BFD}" destId="{7DA96F20-1C00-4E7E-A4EC-0E927CE113C9}" srcOrd="1" destOrd="0" parTransId="{E24FCFFD-29B0-4965-8CB1-0CC7D91FF0B5}" sibTransId="{593B73DD-CBF1-4094-A3AA-49AF90BAE629}"/>
    <dgm:cxn modelId="{97ED35A5-FEC3-4257-9EA1-5DC2E6F5520B}" type="presOf" srcId="{F260F82B-576C-438E-9D0B-C882284D6BFD}" destId="{2F8D5119-DD1A-4687-A247-DDF16A3E33A4}" srcOrd="0" destOrd="0" presId="urn:microsoft.com/office/officeart/2005/8/layout/vList2"/>
    <dgm:cxn modelId="{A10274E4-8BFE-4D07-82A6-15136C99510D}" type="presOf" srcId="{C151A64A-DC9B-4756-8B3D-12C764713A16}" destId="{49DC8A68-EA84-44DC-9910-E59C12785EE3}" srcOrd="0" destOrd="1" presId="urn:microsoft.com/office/officeart/2005/8/layout/vList2"/>
    <dgm:cxn modelId="{53C901EC-709B-4BF8-BC69-932630F866B2}" srcId="{7DA96F20-1C00-4E7E-A4EC-0E927CE113C9}" destId="{A14F0307-44ED-4F25-8E66-53280880D0E3}" srcOrd="0" destOrd="0" parTransId="{C03DB053-DA1D-40DD-BCBA-3354BEE80EB3}" sibTransId="{501106C4-342F-4DEC-A0D7-124BDC3C44FA}"/>
    <dgm:cxn modelId="{A720E42D-39A5-456B-A77E-28A15FD3A5EF}" type="presParOf" srcId="{2F8D5119-DD1A-4687-A247-DDF16A3E33A4}" destId="{AABF0E2A-866B-4366-93BD-8E3A95490ED3}" srcOrd="0" destOrd="0" presId="urn:microsoft.com/office/officeart/2005/8/layout/vList2"/>
    <dgm:cxn modelId="{32ACC57A-B9E3-4E86-AF03-9ABD97454266}" type="presParOf" srcId="{2F8D5119-DD1A-4687-A247-DDF16A3E33A4}" destId="{B5C179FA-2BE2-49F9-B39D-66BFF29009B8}" srcOrd="1" destOrd="0" presId="urn:microsoft.com/office/officeart/2005/8/layout/vList2"/>
    <dgm:cxn modelId="{107D5E47-7A76-45DC-ABB3-DCD42B8F74FD}" type="presParOf" srcId="{2F8D5119-DD1A-4687-A247-DDF16A3E33A4}" destId="{6B7185FF-BC82-4BA1-A406-E6DED82C846E}" srcOrd="2" destOrd="0" presId="urn:microsoft.com/office/officeart/2005/8/layout/vList2"/>
    <dgm:cxn modelId="{2D6DF0DE-8DB5-4371-AA80-B60767F03D0F}" type="presParOf" srcId="{2F8D5119-DD1A-4687-A247-DDF16A3E33A4}" destId="{49DC8A68-EA84-44DC-9910-E59C12785EE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E88D7-ACFC-4777-AA24-101D89CD90E4}">
      <dsp:nvSpPr>
        <dsp:cNvPr id="0" name=""/>
        <dsp:cNvSpPr/>
      </dsp:nvSpPr>
      <dsp:spPr>
        <a:xfrm>
          <a:off x="2330244" y="471"/>
          <a:ext cx="3495367" cy="183783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Calibri Light" panose="020F0302020204030204"/>
            </a:rPr>
            <a:t>Global market currently at $14.9B in 2022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Calibri Light" panose="020F0302020204030204"/>
            </a:rPr>
            <a:t>Projections to reach $19.8B in 2027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Calibri Light" panose="020F0302020204030204"/>
            </a:rPr>
            <a:t>Projected growth rate of 5.9%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Calibri Light" panose="020F0302020204030204"/>
            </a:rPr>
            <a:t>Lack of consolidation in marketplace</a:t>
          </a:r>
          <a:endParaRPr lang="en-US" sz="1300" kern="1200"/>
        </a:p>
      </dsp:txBody>
      <dsp:txXfrm>
        <a:off x="2330244" y="230200"/>
        <a:ext cx="2806180" cy="1378374"/>
      </dsp:txXfrm>
    </dsp:sp>
    <dsp:sp modelId="{F7433A7A-1F76-4B0B-8633-CEA2D6A5B9DF}">
      <dsp:nvSpPr>
        <dsp:cNvPr id="0" name=""/>
        <dsp:cNvSpPr/>
      </dsp:nvSpPr>
      <dsp:spPr>
        <a:xfrm>
          <a:off x="0" y="471"/>
          <a:ext cx="2330244" cy="18378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l" defTabSz="1155700" rtl="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Rehabilitation Equipment Market </a:t>
          </a:r>
          <a:endParaRPr lang="en-US" sz="2600" kern="1200"/>
        </a:p>
      </dsp:txBody>
      <dsp:txXfrm>
        <a:off x="89716" y="90187"/>
        <a:ext cx="2150812" cy="1658400"/>
      </dsp:txXfrm>
    </dsp:sp>
    <dsp:sp modelId="{EA858C3B-AF64-4447-8AE9-1623D2AED7A5}">
      <dsp:nvSpPr>
        <dsp:cNvPr id="0" name=""/>
        <dsp:cNvSpPr/>
      </dsp:nvSpPr>
      <dsp:spPr>
        <a:xfrm>
          <a:off x="2330244" y="2022086"/>
          <a:ext cx="3495367" cy="1837832"/>
        </a:xfrm>
        <a:prstGeom prst="rightArrow">
          <a:avLst>
            <a:gd name="adj1" fmla="val 75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t" anchorCtr="0">
          <a:noAutofit/>
        </a:bodyPr>
        <a:lstStyle/>
        <a:p>
          <a:pPr marL="114300" lvl="1" indent="-114300" algn="l" defTabSz="577850">
            <a:lnSpc>
              <a:spcPct val="12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Calibri Light" panose="020F0302020204030204"/>
            </a:rPr>
            <a:t>174 professional sports teams in the US</a:t>
          </a:r>
          <a:endParaRPr lang="en-US" sz="1300" kern="1200"/>
        </a:p>
        <a:p>
          <a:pPr marL="114300" lvl="1" indent="-114300" algn="l" defTabSz="577850">
            <a:lnSpc>
              <a:spcPct val="12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Calibri Light" panose="020F0302020204030204"/>
            </a:rPr>
            <a:t>5 cities with sports teams in all professional sports leagues</a:t>
          </a:r>
          <a:endParaRPr lang="en-US" sz="1300" kern="1200"/>
        </a:p>
        <a:p>
          <a:pPr marL="228600" lvl="2" indent="-114300" algn="l" defTabSz="577850">
            <a:lnSpc>
              <a:spcPct val="12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Calibri Light" panose="020F0302020204030204"/>
            </a:rPr>
            <a:t>Chicago, Los Angeles, New York, Seattle, Washington</a:t>
          </a:r>
          <a:endParaRPr lang="en-US" sz="1300" kern="1200"/>
        </a:p>
      </dsp:txBody>
      <dsp:txXfrm>
        <a:off x="2330244" y="2251815"/>
        <a:ext cx="2806180" cy="1378374"/>
      </dsp:txXfrm>
    </dsp:sp>
    <dsp:sp modelId="{B8DDB9A4-9B96-4DA7-A7A5-BD7785590B75}">
      <dsp:nvSpPr>
        <dsp:cNvPr id="0" name=""/>
        <dsp:cNvSpPr/>
      </dsp:nvSpPr>
      <dsp:spPr>
        <a:xfrm>
          <a:off x="0" y="2022086"/>
          <a:ext cx="2330244" cy="183783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l" defTabSz="1155700">
            <a:lnSpc>
              <a:spcPct val="12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Calibri Light" panose="020F0302020204030204"/>
            </a:rPr>
            <a:t>Professional Sports Team Focus</a:t>
          </a:r>
          <a:endParaRPr lang="en-US" sz="2600" kern="1200"/>
        </a:p>
      </dsp:txBody>
      <dsp:txXfrm>
        <a:off x="89716" y="2111802"/>
        <a:ext cx="2150812" cy="16584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659BDF-DD2A-48C0-B03E-E031D24B418A}">
      <dsp:nvSpPr>
        <dsp:cNvPr id="0" name=""/>
        <dsp:cNvSpPr/>
      </dsp:nvSpPr>
      <dsp:spPr>
        <a:xfrm>
          <a:off x="0" y="440514"/>
          <a:ext cx="4768645" cy="120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0100" tIns="333248" rIns="370100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 Light" panose="020F0302020204030204"/>
            </a:rPr>
            <a:t>Biodex Gait Trainer- $22,000</a:t>
          </a:r>
          <a:endParaRPr lang="en-US" sz="16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 Light" panose="020F0302020204030204"/>
            </a:rPr>
            <a:t>Biodex Unweighing System</a:t>
          </a:r>
          <a:endParaRPr lang="en-US" sz="16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Calibri Light" panose="020F0302020204030204"/>
            </a:rPr>
            <a:t>Biodex Balance System</a:t>
          </a:r>
        </a:p>
      </dsp:txBody>
      <dsp:txXfrm>
        <a:off x="0" y="440514"/>
        <a:ext cx="4768645" cy="1209600"/>
      </dsp:txXfrm>
    </dsp:sp>
    <dsp:sp modelId="{1DB23B7C-0D3B-43EF-9ADE-2432A74CA3CC}">
      <dsp:nvSpPr>
        <dsp:cNvPr id="0" name=""/>
        <dsp:cNvSpPr/>
      </dsp:nvSpPr>
      <dsp:spPr>
        <a:xfrm>
          <a:off x="238432" y="204354"/>
          <a:ext cx="333805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170" tIns="0" rIns="126170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 Light" panose="020F0302020204030204"/>
            </a:rPr>
            <a:t>Biodex Medical Systems</a:t>
          </a:r>
          <a:endParaRPr lang="en-US" sz="1600" kern="1200"/>
        </a:p>
      </dsp:txBody>
      <dsp:txXfrm>
        <a:off x="261489" y="227411"/>
        <a:ext cx="3291937" cy="426206"/>
      </dsp:txXfrm>
    </dsp:sp>
    <dsp:sp modelId="{83EC7980-D05C-4758-ACE3-76BDDB03D2C1}">
      <dsp:nvSpPr>
        <dsp:cNvPr id="0" name=""/>
        <dsp:cNvSpPr/>
      </dsp:nvSpPr>
      <dsp:spPr>
        <a:xfrm>
          <a:off x="0" y="1972674"/>
          <a:ext cx="4768645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0100" tIns="333248" rIns="370100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err="1">
              <a:latin typeface="Calibri Light" panose="020F0302020204030204"/>
            </a:rPr>
            <a:t>Medislipper</a:t>
          </a:r>
          <a:r>
            <a:rPr lang="en-US" sz="1600" kern="1200">
              <a:latin typeface="Calibri Light" panose="020F0302020204030204"/>
            </a:rPr>
            <a:t> 1000</a:t>
          </a:r>
        </a:p>
      </dsp:txBody>
      <dsp:txXfrm>
        <a:off x="0" y="1972674"/>
        <a:ext cx="4768645" cy="680400"/>
      </dsp:txXfrm>
    </dsp:sp>
    <dsp:sp modelId="{D9C3C8D3-FA6F-413A-A5FB-1DF349D6FFEF}">
      <dsp:nvSpPr>
        <dsp:cNvPr id="0" name=""/>
        <dsp:cNvSpPr/>
      </dsp:nvSpPr>
      <dsp:spPr>
        <a:xfrm>
          <a:off x="238432" y="1736514"/>
          <a:ext cx="333805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170" tIns="0" rIns="126170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err="1">
              <a:latin typeface="Calibri Light" panose="020F0302020204030204"/>
            </a:rPr>
            <a:t>Medisport</a:t>
          </a:r>
          <a:r>
            <a:rPr lang="en-US" sz="1600" kern="1200">
              <a:latin typeface="Calibri Light" panose="020F0302020204030204"/>
            </a:rPr>
            <a:t> IT</a:t>
          </a:r>
        </a:p>
      </dsp:txBody>
      <dsp:txXfrm>
        <a:off x="261489" y="1759571"/>
        <a:ext cx="3291937" cy="426206"/>
      </dsp:txXfrm>
    </dsp:sp>
    <dsp:sp modelId="{80C321A3-255F-420A-8D40-95A23DD4C826}">
      <dsp:nvSpPr>
        <dsp:cNvPr id="0" name=""/>
        <dsp:cNvSpPr/>
      </dsp:nvSpPr>
      <dsp:spPr>
        <a:xfrm>
          <a:off x="0" y="2975635"/>
          <a:ext cx="4768645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0100" tIns="333248" rIns="370100" bIns="113792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err="1">
              <a:latin typeface="Calibri Light" panose="020F0302020204030204"/>
            </a:rPr>
            <a:t>Elginex</a:t>
          </a:r>
          <a:r>
            <a:rPr lang="en-US" sz="1600" kern="1200">
              <a:latin typeface="Calibri Light" panose="020F0302020204030204"/>
            </a:rPr>
            <a:t> Elgin Leg and Ankle Exerciser - $1,500</a:t>
          </a:r>
        </a:p>
      </dsp:txBody>
      <dsp:txXfrm>
        <a:off x="0" y="2975635"/>
        <a:ext cx="4768645" cy="680400"/>
      </dsp:txXfrm>
    </dsp:sp>
    <dsp:sp modelId="{D70FF44A-AC61-4141-B724-7EC695C487DA}">
      <dsp:nvSpPr>
        <dsp:cNvPr id="0" name=""/>
        <dsp:cNvSpPr/>
      </dsp:nvSpPr>
      <dsp:spPr>
        <a:xfrm>
          <a:off x="238432" y="2739475"/>
          <a:ext cx="3338051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170" tIns="0" rIns="126170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>
              <a:latin typeface="Calibri Light" panose="020F0302020204030204"/>
            </a:rPr>
            <a:t>Elgin Division</a:t>
          </a:r>
        </a:p>
      </dsp:txBody>
      <dsp:txXfrm>
        <a:off x="261489" y="2762532"/>
        <a:ext cx="3291937" cy="426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1876DA-C7CE-41F3-8BF2-CB29F9B7012A}">
      <dsp:nvSpPr>
        <dsp:cNvPr id="0" name=""/>
        <dsp:cNvSpPr/>
      </dsp:nvSpPr>
      <dsp:spPr>
        <a:xfrm rot="5400000">
          <a:off x="-289254" y="290927"/>
          <a:ext cx="1928366" cy="1349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 Light" panose="020F0302020204030204"/>
            </a:rPr>
            <a:t>Class I Medical Device</a:t>
          </a:r>
          <a:endParaRPr lang="en-US" sz="1700" kern="1200"/>
        </a:p>
      </dsp:txBody>
      <dsp:txXfrm rot="-5400000">
        <a:off x="1" y="676600"/>
        <a:ext cx="1349856" cy="578510"/>
      </dsp:txXfrm>
    </dsp:sp>
    <dsp:sp modelId="{FF568740-9552-45E8-AA99-74F68CFB8657}">
      <dsp:nvSpPr>
        <dsp:cNvPr id="0" name=""/>
        <dsp:cNvSpPr/>
      </dsp:nvSpPr>
      <dsp:spPr>
        <a:xfrm rot="5400000">
          <a:off x="5015677" y="-3664147"/>
          <a:ext cx="1253437" cy="85850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Calibri Light" panose="020F0302020204030204"/>
            </a:rPr>
            <a:t>No design controls</a:t>
          </a:r>
          <a:endParaRPr lang="en-US" sz="1700" kern="1200"/>
        </a:p>
        <a:p>
          <a:pPr marL="342900" lvl="2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Calibri Light" panose="020F0302020204030204"/>
            </a:rPr>
            <a:t>Reasonable</a:t>
          </a:r>
          <a:r>
            <a:rPr lang="en-US" sz="1700" kern="1200"/>
            <a:t> assurance of the device's safety and effectiveness</a:t>
          </a:r>
        </a:p>
        <a:p>
          <a:pPr marL="342900" lvl="2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Calibri Light" panose="020F0302020204030204"/>
            </a:rPr>
            <a:t>Utilizes general controls</a:t>
          </a:r>
          <a:endParaRPr lang="en-US" sz="1700" kern="120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Calibri Light" panose="020F0302020204030204"/>
            </a:rPr>
            <a:t>Examples: Standard disposable masks, stethoscopes, bandages</a:t>
          </a:r>
          <a:endParaRPr lang="en-US" sz="1700" kern="1200"/>
        </a:p>
      </dsp:txBody>
      <dsp:txXfrm rot="-5400000">
        <a:off x="1349856" y="62862"/>
        <a:ext cx="8523891" cy="1131061"/>
      </dsp:txXfrm>
    </dsp:sp>
    <dsp:sp modelId="{DE237DF9-B7C2-4AB1-8390-1CEDCE0525FF}">
      <dsp:nvSpPr>
        <dsp:cNvPr id="0" name=""/>
        <dsp:cNvSpPr/>
      </dsp:nvSpPr>
      <dsp:spPr>
        <a:xfrm rot="5400000">
          <a:off x="-289254" y="1930005"/>
          <a:ext cx="1928366" cy="134985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Class </a:t>
          </a:r>
          <a:r>
            <a:rPr lang="en-US" sz="1700" kern="1200">
              <a:latin typeface="Calibri Light" panose="020F0302020204030204"/>
            </a:rPr>
            <a:t>II</a:t>
          </a:r>
          <a:r>
            <a:rPr lang="en-US" sz="1700" kern="1200"/>
            <a:t> </a:t>
          </a:r>
          <a:r>
            <a:rPr lang="en-US" sz="1700" kern="1200">
              <a:latin typeface="Calibri Light" panose="020F0302020204030204"/>
            </a:rPr>
            <a:t>Medical</a:t>
          </a:r>
          <a:r>
            <a:rPr lang="en-US" sz="1700" kern="1200"/>
            <a:t> Device</a:t>
          </a:r>
        </a:p>
      </dsp:txBody>
      <dsp:txXfrm rot="-5400000">
        <a:off x="1" y="2315678"/>
        <a:ext cx="1349856" cy="578510"/>
      </dsp:txXfrm>
    </dsp:sp>
    <dsp:sp modelId="{1BF580E0-5622-49C5-BB31-372984882023}">
      <dsp:nvSpPr>
        <dsp:cNvPr id="0" name=""/>
        <dsp:cNvSpPr/>
      </dsp:nvSpPr>
      <dsp:spPr>
        <a:xfrm rot="5400000">
          <a:off x="5015677" y="-2025069"/>
          <a:ext cx="1253437" cy="85850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Calibri Light" panose="020F0302020204030204"/>
            </a:rPr>
            <a:t>Design</a:t>
          </a:r>
          <a:r>
            <a:rPr lang="en-US" sz="1700" kern="1200"/>
            <a:t> controls</a:t>
          </a:r>
          <a:r>
            <a:rPr lang="en-US" sz="1700" kern="1200">
              <a:latin typeface="Calibri Light" panose="020F0302020204030204"/>
            </a:rPr>
            <a:t> present</a:t>
          </a:r>
        </a:p>
        <a:p>
          <a:pPr marL="342900" lvl="2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Calibri Light" panose="020F0302020204030204"/>
            </a:rPr>
            <a:t>Moderate risk to safety and effectiveness</a:t>
          </a:r>
        </a:p>
        <a:p>
          <a:pPr marL="342900" lvl="2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Calibri Light" panose="020F0302020204030204"/>
            </a:rPr>
            <a:t>Utilizes special controls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Calibri Light" panose="020F0302020204030204"/>
            </a:rPr>
            <a:t>Examples: blood</a:t>
          </a:r>
          <a:r>
            <a:rPr lang="en-US" sz="1700" kern="1200"/>
            <a:t> </a:t>
          </a:r>
          <a:r>
            <a:rPr lang="en-US" sz="1700" kern="1200">
              <a:latin typeface="Calibri Light" panose="020F0302020204030204"/>
            </a:rPr>
            <a:t>pressure</a:t>
          </a:r>
          <a:r>
            <a:rPr lang="en-US" sz="1700" kern="1200"/>
            <a:t> </a:t>
          </a:r>
          <a:r>
            <a:rPr lang="en-US" sz="1700" kern="1200">
              <a:latin typeface="Calibri Light" panose="020F0302020204030204"/>
            </a:rPr>
            <a:t>cuffs, contact lens, wheelchairs Apple Watch</a:t>
          </a:r>
          <a:endParaRPr lang="en-US" sz="1700" kern="1200"/>
        </a:p>
      </dsp:txBody>
      <dsp:txXfrm rot="-5400000">
        <a:off x="1349856" y="1701940"/>
        <a:ext cx="8523891" cy="11310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BF0E2A-866B-4366-93BD-8E3A95490ED3}">
      <dsp:nvSpPr>
        <dsp:cNvPr id="0" name=""/>
        <dsp:cNvSpPr/>
      </dsp:nvSpPr>
      <dsp:spPr>
        <a:xfrm>
          <a:off x="0" y="396816"/>
          <a:ext cx="4770244" cy="71954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Calibri Light" panose="020F0302020204030204"/>
            </a:rPr>
            <a:t>Price Point</a:t>
          </a:r>
          <a:endParaRPr lang="en-US" sz="3000" kern="1200"/>
        </a:p>
      </dsp:txBody>
      <dsp:txXfrm>
        <a:off x="35125" y="431941"/>
        <a:ext cx="4699994" cy="649299"/>
      </dsp:txXfrm>
    </dsp:sp>
    <dsp:sp modelId="{B5C179FA-2BE2-49F9-B39D-66BFF29009B8}">
      <dsp:nvSpPr>
        <dsp:cNvPr id="0" name=""/>
        <dsp:cNvSpPr/>
      </dsp:nvSpPr>
      <dsp:spPr>
        <a:xfrm>
          <a:off x="0" y="1116366"/>
          <a:ext cx="4770244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55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>
              <a:latin typeface="Calibri Light" panose="020F0302020204030204"/>
            </a:rPr>
            <a:t>$15,000</a:t>
          </a:r>
          <a:endParaRPr lang="en-US" sz="2300" kern="1200"/>
        </a:p>
      </dsp:txBody>
      <dsp:txXfrm>
        <a:off x="0" y="1116366"/>
        <a:ext cx="4770244" cy="496800"/>
      </dsp:txXfrm>
    </dsp:sp>
    <dsp:sp modelId="{6B7185FF-BC82-4BA1-A406-E6DED82C846E}">
      <dsp:nvSpPr>
        <dsp:cNvPr id="0" name=""/>
        <dsp:cNvSpPr/>
      </dsp:nvSpPr>
      <dsp:spPr>
        <a:xfrm>
          <a:off x="0" y="1613166"/>
          <a:ext cx="4770244" cy="71954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>
              <a:latin typeface="Calibri Light" panose="020F0302020204030204"/>
            </a:rPr>
            <a:t>Recurring Streams of Income</a:t>
          </a:r>
          <a:endParaRPr lang="en-US" sz="3000" kern="1200"/>
        </a:p>
      </dsp:txBody>
      <dsp:txXfrm>
        <a:off x="35125" y="1648291"/>
        <a:ext cx="4699994" cy="649299"/>
      </dsp:txXfrm>
    </dsp:sp>
    <dsp:sp modelId="{49DC8A68-EA84-44DC-9910-E59C12785EE3}">
      <dsp:nvSpPr>
        <dsp:cNvPr id="0" name=""/>
        <dsp:cNvSpPr/>
      </dsp:nvSpPr>
      <dsp:spPr>
        <a:xfrm>
          <a:off x="0" y="2332715"/>
          <a:ext cx="4770244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455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>
              <a:latin typeface="Calibri Light" panose="020F0302020204030204"/>
            </a:rPr>
            <a:t>Physical equipment leasing </a:t>
          </a:r>
          <a:endParaRPr lang="en-US" sz="2300" kern="1200"/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>
              <a:latin typeface="Calibri Light" panose="020F0302020204030204"/>
            </a:rPr>
            <a:t>Software subscription based model</a:t>
          </a:r>
        </a:p>
      </dsp:txBody>
      <dsp:txXfrm>
        <a:off x="0" y="2332715"/>
        <a:ext cx="4770244" cy="7917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CFB6A-7390-4568-A3D8-3850E6F3594B}" type="datetimeFigureOut">
              <a:t>7/3/2022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CDE46-0196-4A13-BD36-2A576D8D867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0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rdorintelligence.com/industry-reports/rehabilitation-equipment-market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ealthproductsforyou.com/p-elginex-elgin-leg-and-ankle-exerciser.html" TargetMode="External"/><Relationship Id="rId3" Type="http://schemas.openxmlformats.org/officeDocument/2006/relationships/hyperlink" Target="https://www.biodex.com/sites/default/files/900521lateral.pdf" TargetMode="External"/><Relationship Id="rId7" Type="http://schemas.openxmlformats.org/officeDocument/2006/relationships/hyperlink" Target="https://www.healthproductsforyou.com/m-elginex-corporation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medisport.it/site/en/MedisportElettromedicale?sku=EL202" TargetMode="External"/><Relationship Id="rId5" Type="http://schemas.openxmlformats.org/officeDocument/2006/relationships/hyperlink" Target="https://payamehrco.com/sites/default/files/catalog/MEDI%20SLIPPER%201000.pdf" TargetMode="External"/><Relationship Id="rId4" Type="http://schemas.openxmlformats.org/officeDocument/2006/relationships/hyperlink" Target="https://www.biodex.com/physical-medicine/products/treadmills/gait-trainer-3/biodex-gait-training-system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Hosphttps:/www.hss.edu/professional.asp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yortho.com/2009/07/the-best-orthopedic-hospitals-in-america/" TargetMode="External"/><Relationship Id="rId4" Type="http://schemas.openxmlformats.org/officeDocument/2006/relationships/hyperlink" Target="https://www.nyp.org/about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Hosphttps:/www.hss.edu/professional.asp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yortho.com/2009/07/the-best-orthopedic-hospitals-in-america/" TargetMode="External"/><Relationship Id="rId4" Type="http://schemas.openxmlformats.org/officeDocument/2006/relationships/hyperlink" Target="https://www.nyp.org/about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Hosphttps:/www.hss.edu/professional.asp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ryortho.com/2009/07/the-best-orthopedic-hospitals-in-america/" TargetMode="External"/><Relationship Id="rId4" Type="http://schemas.openxmlformats.org/officeDocument/2006/relationships/hyperlink" Target="https://www.nyp.org/abou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https://www.mordorintelligence.com/industry-reports/rehabilitation-equipment-market</a:t>
            </a:r>
            <a:endParaRPr lang="en-US"/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CDE46-0196-4A13-BD36-2A576D8D8671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79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Biodex Medical Systems:</a:t>
            </a:r>
          </a:p>
          <a:p>
            <a:r>
              <a:rPr lang="en-US">
                <a:hlinkClick r:id="rId3"/>
              </a:rPr>
              <a:t>https://www.biodex.com/sites/default/files/900521lateral.pdf</a:t>
            </a:r>
            <a:endParaRPr lang="en-US">
              <a:cs typeface="Calibri"/>
              <a:hlinkClick r:id="rId3"/>
            </a:endParaRPr>
          </a:p>
          <a:p>
            <a:r>
              <a:rPr lang="en-US">
                <a:hlinkClick r:id="rId4"/>
              </a:rPr>
              <a:t>https://www.biodex.com/physical-medicine/products/treadmills/gait-trainer-3/biodex-gait-training-system</a:t>
            </a:r>
            <a:endParaRPr lang="en-US">
              <a:cs typeface="Calibri"/>
              <a:hlinkClick r:id="rId4"/>
            </a:endParaRPr>
          </a:p>
          <a:p>
            <a:endParaRPr lang="en-US">
              <a:cs typeface="Calibri"/>
            </a:endParaRPr>
          </a:p>
          <a:p>
            <a:r>
              <a:rPr lang="en-US" err="1">
                <a:cs typeface="Calibri"/>
              </a:rPr>
              <a:t>Medisport</a:t>
            </a:r>
            <a:r>
              <a:rPr lang="en-US">
                <a:cs typeface="Calibri"/>
              </a:rPr>
              <a:t> IT:</a:t>
            </a:r>
            <a:endParaRPr lang="en-US"/>
          </a:p>
          <a:p>
            <a:r>
              <a:rPr lang="en-US">
                <a:hlinkClick r:id="rId5"/>
              </a:rPr>
              <a:t>https://payamehrco.com/sites/default/files/catalog/MEDI%20SLIPPER%201000.pdf</a:t>
            </a:r>
            <a:endParaRPr lang="en-US">
              <a:cs typeface="Calibri"/>
              <a:hlinkClick r:id="rId5"/>
            </a:endParaRPr>
          </a:p>
          <a:p>
            <a:r>
              <a:rPr lang="en-US">
                <a:hlinkClick r:id="rId6"/>
              </a:rPr>
              <a:t>https://www.medisport.it/site/en/MedisportElettromedicale?sku=EL202</a:t>
            </a:r>
            <a:endParaRPr lang="en-US">
              <a:cs typeface="Calibri"/>
              <a:hlinkClick r:id="rId6"/>
            </a:endParaRP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Elgin Division:</a:t>
            </a:r>
          </a:p>
          <a:p>
            <a:r>
              <a:rPr lang="en-US">
                <a:hlinkClick r:id="rId7"/>
              </a:rPr>
              <a:t>https://www.healthproductsforyou.com/m-elginex-corporation.html</a:t>
            </a:r>
            <a:endParaRPr lang="en-US">
              <a:cs typeface="Calibri"/>
              <a:hlinkClick r:id="rId7"/>
            </a:endParaRPr>
          </a:p>
          <a:p>
            <a:r>
              <a:rPr lang="en-US">
                <a:hlinkClick r:id="rId8"/>
              </a:rPr>
              <a:t>https://www.healthproductsforyou.com/p-elginex-elgin-leg-and-ankle-exerciser.html</a:t>
            </a:r>
            <a:endParaRPr lang="en-US">
              <a:cs typeface="Calibri"/>
              <a:hlinkClick r:id="rId8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CDE46-0196-4A13-BD36-2A576D8D8671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44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Quality system regulations 21 CFR Part 80020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CDE46-0196-4A13-BD36-2A576D8D8671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69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Hospital for Special Surgery:</a:t>
            </a:r>
            <a:endParaRPr lang="en-US"/>
          </a:p>
          <a:p>
            <a:r>
              <a:rPr lang="en-US">
                <a:hlinkClick r:id="rId3"/>
              </a:rPr>
              <a:t>https://www.hss.edu/professional.asp</a:t>
            </a:r>
            <a:endParaRPr lang="en-US"/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NY Presbyterian: </a:t>
            </a:r>
          </a:p>
          <a:p>
            <a:r>
              <a:rPr lang="en-US">
                <a:hlinkClick r:id="rId4"/>
              </a:rPr>
              <a:t>https://www.nyp.org/about</a:t>
            </a:r>
            <a:endParaRPr lang="en-US">
              <a:cs typeface="Calibri"/>
              <a:hlinkClick r:id="rId4"/>
            </a:endParaRP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Hospital Rankings:</a:t>
            </a:r>
          </a:p>
          <a:p>
            <a:r>
              <a:rPr lang="en-US">
                <a:hlinkClick r:id="rId5"/>
              </a:rPr>
              <a:t>https://ryortho.com/2009/07/the-best-orthopedic-hospitals-in-america/</a:t>
            </a:r>
            <a:endParaRPr lang="en-US"/>
          </a:p>
          <a:p>
            <a:endParaRPr lang="en-US"/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CDE46-0196-4A13-BD36-2A576D8D8671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836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Hospital for Special Surgery:</a:t>
            </a:r>
            <a:endParaRPr lang="en-US"/>
          </a:p>
          <a:p>
            <a:r>
              <a:rPr lang="en-US">
                <a:hlinkClick r:id="rId3"/>
              </a:rPr>
              <a:t>https://www.hss.edu/professional.asp</a:t>
            </a:r>
            <a:endParaRPr lang="en-US"/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NY Presbyterian: </a:t>
            </a:r>
          </a:p>
          <a:p>
            <a:r>
              <a:rPr lang="en-US">
                <a:hlinkClick r:id="rId4"/>
              </a:rPr>
              <a:t>https://www.nyp.org/about</a:t>
            </a:r>
            <a:endParaRPr lang="en-US">
              <a:cs typeface="Calibri"/>
              <a:hlinkClick r:id="rId4"/>
            </a:endParaRP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Hospital Rankings:</a:t>
            </a:r>
          </a:p>
          <a:p>
            <a:r>
              <a:rPr lang="en-US">
                <a:hlinkClick r:id="rId5"/>
              </a:rPr>
              <a:t>https://ryortho.com/2009/07/the-best-orthopedic-hospitals-in-america/</a:t>
            </a:r>
            <a:endParaRPr lang="en-US"/>
          </a:p>
          <a:p>
            <a:endParaRPr lang="en-US"/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CDE46-0196-4A13-BD36-2A576D8D8671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42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Hospital for Special Surgery:</a:t>
            </a:r>
            <a:endParaRPr lang="en-US"/>
          </a:p>
          <a:p>
            <a:r>
              <a:rPr lang="en-US">
                <a:hlinkClick r:id="rId3"/>
              </a:rPr>
              <a:t>https://www.hss.edu/professional.asp</a:t>
            </a:r>
            <a:endParaRPr lang="en-US"/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NY Presbyterian: </a:t>
            </a:r>
          </a:p>
          <a:p>
            <a:r>
              <a:rPr lang="en-US">
                <a:hlinkClick r:id="rId4"/>
              </a:rPr>
              <a:t>https://www.nyp.org/about</a:t>
            </a:r>
            <a:endParaRPr lang="en-US">
              <a:cs typeface="Calibri"/>
              <a:hlinkClick r:id="rId4"/>
            </a:endParaRP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Hospital Rankings:</a:t>
            </a:r>
          </a:p>
          <a:p>
            <a:r>
              <a:rPr lang="en-US">
                <a:hlinkClick r:id="rId5"/>
              </a:rPr>
              <a:t>https://ryortho.com/2009/07/the-best-orthopedic-hospitals-in-america/</a:t>
            </a:r>
            <a:endParaRPr lang="en-US"/>
          </a:p>
          <a:p>
            <a:endParaRPr lang="en-US"/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CDE46-0196-4A13-BD36-2A576D8D8671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27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4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spn.com/wnba/teams" TargetMode="External"/><Relationship Id="rId13" Type="http://schemas.openxmlformats.org/officeDocument/2006/relationships/hyperlink" Target="https://www.ibisworld.com/industry-statistics/market-size/colleges-universities-united-states/" TargetMode="External"/><Relationship Id="rId3" Type="http://schemas.openxmlformats.org/officeDocument/2006/relationships/hyperlink" Target="https://www.atlantichealth.org/about-us/partnerships/ny-jets-partnership.html" TargetMode="External"/><Relationship Id="rId7" Type="http://schemas.openxmlformats.org/officeDocument/2006/relationships/hyperlink" Target="https://www.accessdata.fda.gov/scripts/cdrh/cfdocs/cfcfr/CFRSearch.cfm?CFRPart=890&amp;showFR=1&amp;subpartNode=21%3A8.0.1.1.32.6" TargetMode="External"/><Relationship Id="rId12" Type="http://schemas.openxmlformats.org/officeDocument/2006/relationships/hyperlink" Target="https://news.hss.edu/the-new-york-knicks-and-hospital-for-special-surgery-announce-renewed-and-expanded-multi-year-marketing-partnership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da.gov/medical-devices/postmarket-requirements-devices/quality-system-qs-regulationmedical-device-good-manufacturing-practices" TargetMode="External"/><Relationship Id="rId11" Type="http://schemas.openxmlformats.org/officeDocument/2006/relationships/hyperlink" Target="https://www.hss.edu/professional.asp" TargetMode="External"/><Relationship Id="rId5" Type="http://schemas.openxmlformats.org/officeDocument/2006/relationships/hyperlink" Target="https://www.biodex.com/physical-medicine/products/balance/balance-system-sd" TargetMode="External"/><Relationship Id="rId10" Type="http://schemas.openxmlformats.org/officeDocument/2006/relationships/hyperlink" Target="https://www.healthproductsforyou.com/error404" TargetMode="External"/><Relationship Id="rId4" Type="http://schemas.openxmlformats.org/officeDocument/2006/relationships/hyperlink" Target="https://atlanticyardsreport.blogspot.com/2019/12/the-barclays-center-brooklyn-nets-and.html" TargetMode="External"/><Relationship Id="rId9" Type="http://schemas.openxmlformats.org/officeDocument/2006/relationships/hyperlink" Target="https://www.gothamfc.com/partners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ba.com/" TargetMode="External"/><Relationship Id="rId13" Type="http://schemas.openxmlformats.org/officeDocument/2006/relationships/hyperlink" Target="https://www.stadium-maps.com/facts/sports-franchises.html" TargetMode="External"/><Relationship Id="rId3" Type="http://schemas.openxmlformats.org/officeDocument/2006/relationships/hyperlink" Target="https://www.mlb.com/press-release/mets-extend-partnership-with-hospital-for-special-surgery" TargetMode="External"/><Relationship Id="rId7" Type="http://schemas.openxmlformats.org/officeDocument/2006/relationships/hyperlink" Target="https://www.nwslsoccer.com/" TargetMode="External"/><Relationship Id="rId12" Type="http://schemas.openxmlformats.org/officeDocument/2006/relationships/hyperlink" Target="https://ryortho.com/2009/07/the-best-orthopedic-hospitals-in-america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rdorintelligence.com/industry-reports/rehabilitation-equipment-market" TargetMode="External"/><Relationship Id="rId11" Type="http://schemas.openxmlformats.org/officeDocument/2006/relationships/hyperlink" Target="https://policies.unc.edu/TDClient/2833/Portal/KB/?CategoryID=21547" TargetMode="External"/><Relationship Id="rId5" Type="http://schemas.openxmlformats.org/officeDocument/2006/relationships/hyperlink" Target="https://www.mlb.com/" TargetMode="External"/><Relationship Id="rId10" Type="http://schemas.openxmlformats.org/officeDocument/2006/relationships/hyperlink" Target="https://www.nyp.org/sponsorships" TargetMode="External"/><Relationship Id="rId4" Type="http://schemas.openxmlformats.org/officeDocument/2006/relationships/hyperlink" Target="https://www.medisport.it/site/en/MedisportElettromedicale?sku=EL202" TargetMode="External"/><Relationship Id="rId9" Type="http://schemas.openxmlformats.org/officeDocument/2006/relationships/hyperlink" Target="https://www.nyp.org/abou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B9008973-65FB-40C1-893A-A58712593D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360" y="999067"/>
            <a:ext cx="6465757" cy="4856480"/>
          </a:xfrm>
        </p:spPr>
        <p:txBody>
          <a:bodyPr anchor="ctr">
            <a:normAutofit/>
          </a:bodyPr>
          <a:lstStyle/>
          <a:p>
            <a:pPr algn="l"/>
            <a:br>
              <a:rPr lang="en-US" sz="6600">
                <a:cs typeface="Calibri Light"/>
              </a:rPr>
            </a:br>
            <a:br>
              <a:rPr lang="en-US" sz="6600">
                <a:cs typeface="Calibri Light"/>
              </a:rPr>
            </a:br>
            <a:r>
              <a:rPr lang="en-US" sz="6600">
                <a:cs typeface="Calibri Light"/>
              </a:rPr>
              <a:t>  US Market Entry</a:t>
            </a:r>
            <a:endParaRPr lang="en-US" sz="66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558829B-C7EF-4D51-94DF-A8B1A80C2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0605" y="1"/>
            <a:ext cx="268139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90A6D10-3F68-4EAB-9085-93C36B5FC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4507" y="767714"/>
            <a:ext cx="3860055" cy="53225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80073" y="1002453"/>
            <a:ext cx="3392353" cy="4856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rgbClr val="FFFFFF"/>
                </a:solidFill>
                <a:cs typeface="Calibri"/>
              </a:rPr>
              <a:t>MBA 741</a:t>
            </a:r>
          </a:p>
          <a:p>
            <a:endParaRPr lang="en-US" sz="2800">
              <a:solidFill>
                <a:srgbClr val="FFFFFF"/>
              </a:solidFill>
              <a:cs typeface="Calibri"/>
            </a:endParaRPr>
          </a:p>
          <a:p>
            <a:r>
              <a:rPr lang="en-US" sz="2800">
                <a:solidFill>
                  <a:srgbClr val="FFFFFF"/>
                </a:solidFill>
                <a:cs typeface="Calibri"/>
              </a:rPr>
              <a:t>Group 3:</a:t>
            </a:r>
          </a:p>
          <a:p>
            <a:r>
              <a:rPr lang="en-US" sz="2800" i="1">
                <a:solidFill>
                  <a:srgbClr val="FFFFFF"/>
                </a:solidFill>
                <a:cs typeface="Calibri"/>
              </a:rPr>
              <a:t>Tony Chase</a:t>
            </a:r>
          </a:p>
          <a:p>
            <a:r>
              <a:rPr lang="en-US" sz="2800" i="1">
                <a:solidFill>
                  <a:srgbClr val="FFFFFF"/>
                </a:solidFill>
                <a:cs typeface="Calibri"/>
              </a:rPr>
              <a:t>Megan Parmelee</a:t>
            </a:r>
            <a:endParaRPr lang="en-US" i="1">
              <a:solidFill>
                <a:srgbClr val="000000"/>
              </a:solidFill>
              <a:cs typeface="Calibri"/>
            </a:endParaRPr>
          </a:p>
          <a:p>
            <a:r>
              <a:rPr lang="en-US" sz="2800" i="1">
                <a:solidFill>
                  <a:srgbClr val="FFFFFF"/>
                </a:solidFill>
                <a:cs typeface="Calibri"/>
              </a:rPr>
              <a:t> Shakira Pena</a:t>
            </a:r>
            <a:endParaRPr lang="en-US" i="1">
              <a:cs typeface="Calibri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38C6B01-5C30-47AE-94D3-B54B34D68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167" y="2761488"/>
            <a:ext cx="242107" cy="1340860"/>
            <a:chOff x="56167" y="2761488"/>
            <a:chExt cx="242107" cy="1340860"/>
          </a:xfrm>
        </p:grpSpPr>
        <p:sp>
          <p:nvSpPr>
            <p:cNvPr id="81" name="Rectangle 2">
              <a:extLst>
                <a:ext uri="{FF2B5EF4-FFF2-40B4-BE49-F238E27FC236}">
                  <a16:creationId xmlns:a16="http://schemas.microsoft.com/office/drawing/2014/main" id="{8C957847-7C0E-48CD-A0C7-E8F76FCB0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59">
              <a:extLst>
                <a:ext uri="{FF2B5EF4-FFF2-40B4-BE49-F238E27FC236}">
                  <a16:creationId xmlns:a16="http://schemas.microsoft.com/office/drawing/2014/main" id="{750A171B-FE02-4328-8218-84B8A73D22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33124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2">
              <a:extLst>
                <a:ext uri="{FF2B5EF4-FFF2-40B4-BE49-F238E27FC236}">
                  <a16:creationId xmlns:a16="http://schemas.microsoft.com/office/drawing/2014/main" id="{D250ED76-8AAB-4BA3-8FB9-7D9DAD1EFC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59">
              <a:extLst>
                <a:ext uri="{FF2B5EF4-FFF2-40B4-BE49-F238E27FC236}">
                  <a16:creationId xmlns:a16="http://schemas.microsoft.com/office/drawing/2014/main" id="{90E9A077-3D43-42CE-A80F-4D77A9640A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18913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2">
              <a:extLst>
                <a:ext uri="{FF2B5EF4-FFF2-40B4-BE49-F238E27FC236}">
                  <a16:creationId xmlns:a16="http://schemas.microsoft.com/office/drawing/2014/main" id="{13B87A5D-9EA1-4543-A4CB-0E744C224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59">
              <a:extLst>
                <a:ext uri="{FF2B5EF4-FFF2-40B4-BE49-F238E27FC236}">
                  <a16:creationId xmlns:a16="http://schemas.microsoft.com/office/drawing/2014/main" id="{95211382-25DA-4D78-8A2A-65BF812E1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04701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2">
              <a:extLst>
                <a:ext uri="{FF2B5EF4-FFF2-40B4-BE49-F238E27FC236}">
                  <a16:creationId xmlns:a16="http://schemas.microsoft.com/office/drawing/2014/main" id="{DB854E96-4BF7-41B7-98ED-218896E4B1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59">
              <a:extLst>
                <a:ext uri="{FF2B5EF4-FFF2-40B4-BE49-F238E27FC236}">
                  <a16:creationId xmlns:a16="http://schemas.microsoft.com/office/drawing/2014/main" id="{37D8D120-EF4A-4300-A248-1F0A6EF04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90490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2">
              <a:extLst>
                <a:ext uri="{FF2B5EF4-FFF2-40B4-BE49-F238E27FC236}">
                  <a16:creationId xmlns:a16="http://schemas.microsoft.com/office/drawing/2014/main" id="{AC2782E1-E97A-4860-805A-381C628EF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59">
              <a:extLst>
                <a:ext uri="{FF2B5EF4-FFF2-40B4-BE49-F238E27FC236}">
                  <a16:creationId xmlns:a16="http://schemas.microsoft.com/office/drawing/2014/main" id="{DA923931-3C79-451C-B0DD-D8C5C9B12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276279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2">
              <a:extLst>
                <a:ext uri="{FF2B5EF4-FFF2-40B4-BE49-F238E27FC236}">
                  <a16:creationId xmlns:a16="http://schemas.microsoft.com/office/drawing/2014/main" id="{96552411-1484-4559-9B19-D82BA727FE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59">
              <a:extLst>
                <a:ext uri="{FF2B5EF4-FFF2-40B4-BE49-F238E27FC236}">
                  <a16:creationId xmlns:a16="http://schemas.microsoft.com/office/drawing/2014/main" id="{96625486-87AB-40D0-B29C-F061F36B0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4041817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2">
              <a:extLst>
                <a:ext uri="{FF2B5EF4-FFF2-40B4-BE49-F238E27FC236}">
                  <a16:creationId xmlns:a16="http://schemas.microsoft.com/office/drawing/2014/main" id="{5CF69521-6B14-449B-AFAD-5246F7BBF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59">
              <a:extLst>
                <a:ext uri="{FF2B5EF4-FFF2-40B4-BE49-F238E27FC236}">
                  <a16:creationId xmlns:a16="http://schemas.microsoft.com/office/drawing/2014/main" id="{FCCB1E40-AD9F-4FDE-9794-BA67A8F09D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899703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2">
              <a:extLst>
                <a:ext uri="{FF2B5EF4-FFF2-40B4-BE49-F238E27FC236}">
                  <a16:creationId xmlns:a16="http://schemas.microsoft.com/office/drawing/2014/main" id="{072A675B-C9E6-4B87-B488-FB7450C0A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59">
              <a:extLst>
                <a:ext uri="{FF2B5EF4-FFF2-40B4-BE49-F238E27FC236}">
                  <a16:creationId xmlns:a16="http://schemas.microsoft.com/office/drawing/2014/main" id="{07438C80-8A3A-4E13-838D-B676C615B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757589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2">
              <a:extLst>
                <a:ext uri="{FF2B5EF4-FFF2-40B4-BE49-F238E27FC236}">
                  <a16:creationId xmlns:a16="http://schemas.microsoft.com/office/drawing/2014/main" id="{03A1462E-5653-41AA-9086-553DD10C1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59">
              <a:extLst>
                <a:ext uri="{FF2B5EF4-FFF2-40B4-BE49-F238E27FC236}">
                  <a16:creationId xmlns:a16="http://schemas.microsoft.com/office/drawing/2014/main" id="{C5D0C27E-61AE-48DC-95B4-5FEBCE413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615475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2">
              <a:extLst>
                <a:ext uri="{FF2B5EF4-FFF2-40B4-BE49-F238E27FC236}">
                  <a16:creationId xmlns:a16="http://schemas.microsoft.com/office/drawing/2014/main" id="{AE1C1E45-C712-4F12-B421-9DBD634FCE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3774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59">
              <a:extLst>
                <a:ext uri="{FF2B5EF4-FFF2-40B4-BE49-F238E27FC236}">
                  <a16:creationId xmlns:a16="http://schemas.microsoft.com/office/drawing/2014/main" id="{6537F337-22CC-46D3-8A70-335E1E44E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4864" y="347336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4">
            <a:extLst>
              <a:ext uri="{FF2B5EF4-FFF2-40B4-BE49-F238E27FC236}">
                <a16:creationId xmlns:a16="http://schemas.microsoft.com/office/drawing/2014/main" id="{CD535DB5-17E8-45B7-02E5-767BC7B58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426" y="747162"/>
            <a:ext cx="3661507" cy="268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1054121"/>
            <a:ext cx="9465131" cy="1184111"/>
          </a:xfrm>
        </p:spPr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465564" cy="34009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Methods of Research</a:t>
            </a:r>
            <a:endParaRPr lang="en-US" sz="2400"/>
          </a:p>
          <a:p>
            <a:r>
              <a:rPr lang="en-US">
                <a:ea typeface="+mn-lt"/>
                <a:cs typeface="+mn-lt"/>
              </a:rPr>
              <a:t>Market Focus</a:t>
            </a:r>
          </a:p>
          <a:p>
            <a:r>
              <a:rPr lang="en-US">
                <a:cs typeface="Calibri"/>
              </a:rPr>
              <a:t>Understanding the Competition</a:t>
            </a:r>
          </a:p>
          <a:p>
            <a:r>
              <a:rPr lang="en-US">
                <a:cs typeface="Calibri"/>
              </a:rPr>
              <a:t>Understanding FDA Requirements</a:t>
            </a:r>
          </a:p>
          <a:p>
            <a:r>
              <a:rPr lang="en-US">
                <a:cs typeface="Calibri"/>
              </a:rPr>
              <a:t>Recommendations</a:t>
            </a:r>
          </a:p>
          <a:p>
            <a:pPr marL="0" indent="0">
              <a:buNone/>
            </a:pP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328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1054121"/>
            <a:ext cx="9465131" cy="1184111"/>
          </a:xfrm>
        </p:spPr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Methods of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735951" cy="35115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 rtl="0">
              <a:buChar char="•"/>
            </a:pPr>
            <a:r>
              <a:rPr lang="en-US" sz="1600">
                <a:latin typeface="Calibri Light"/>
                <a:ea typeface="Arial"/>
                <a:cs typeface="Arial"/>
              </a:rPr>
              <a:t>Dun and Bradstreet​</a:t>
            </a:r>
          </a:p>
          <a:p>
            <a:pPr lvl="1" rtl="0">
              <a:buChar char="•"/>
            </a:pPr>
            <a:r>
              <a:rPr lang="en-US" sz="1600">
                <a:latin typeface="Calibri Light"/>
                <a:ea typeface="Arial"/>
                <a:cs typeface="Arial"/>
              </a:rPr>
              <a:t>Competitors overview, size, financial statements, etc. ​</a:t>
            </a:r>
          </a:p>
          <a:p>
            <a:pPr lvl="0" rtl="0">
              <a:buChar char="•"/>
            </a:pPr>
            <a:r>
              <a:rPr lang="en-US" sz="1600">
                <a:latin typeface="Calibri Light"/>
                <a:ea typeface="Arial"/>
                <a:cs typeface="Arial"/>
              </a:rPr>
              <a:t>Mordor Intelligence​</a:t>
            </a:r>
          </a:p>
          <a:p>
            <a:pPr lvl="1" rtl="0">
              <a:buChar char="•"/>
            </a:pPr>
            <a:r>
              <a:rPr lang="en-US" sz="1600">
                <a:latin typeface="Calibri Light"/>
                <a:ea typeface="Arial"/>
                <a:cs typeface="Arial"/>
              </a:rPr>
              <a:t>Rehabilitation Device Market details now and in the future​</a:t>
            </a:r>
          </a:p>
          <a:p>
            <a:pPr lvl="0" rtl="0">
              <a:buChar char="•"/>
            </a:pPr>
            <a:r>
              <a:rPr lang="en-US" sz="1600">
                <a:latin typeface="Calibri Light"/>
                <a:ea typeface="Arial"/>
                <a:cs typeface="Arial"/>
              </a:rPr>
              <a:t>Donna Haire; CEO, The Eriah Group - Global Regulatory, Quality, Clinical, &amp; Medical Affairs Consulting​</a:t>
            </a:r>
          </a:p>
          <a:p>
            <a:pPr lvl="1"/>
            <a:r>
              <a:rPr lang="en-US" sz="1600">
                <a:latin typeface="Calibri Light"/>
                <a:ea typeface="Arial"/>
                <a:cs typeface="Arial"/>
              </a:rPr>
              <a:t>Understanding US regulations for medical devices</a:t>
            </a:r>
          </a:p>
          <a:p>
            <a:r>
              <a:rPr lang="en-US" sz="1600">
                <a:latin typeface="Calibri Light"/>
                <a:ea typeface="Arial"/>
                <a:cs typeface="Arial"/>
              </a:rPr>
              <a:t>New York Sports Teams Websites</a:t>
            </a:r>
            <a:endParaRPr lang="en-US" sz="1600">
              <a:latin typeface="Calibri Light"/>
              <a:ea typeface="Arial"/>
              <a:cs typeface="Calibri"/>
            </a:endParaRPr>
          </a:p>
          <a:p>
            <a:pPr lvl="1"/>
            <a:r>
              <a:rPr lang="en-US" sz="1600">
                <a:latin typeface="Calibri Light"/>
                <a:cs typeface="Arial"/>
              </a:rPr>
              <a:t>To identify orthopedic and hospital partnership trends </a:t>
            </a:r>
          </a:p>
          <a:p>
            <a:endParaRPr lang="en-US" sz="2000">
              <a:latin typeface="Calibri Ligh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861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943508"/>
            <a:ext cx="9465131" cy="1184111"/>
          </a:xfrm>
        </p:spPr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Market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465564" cy="340096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>
              <a:cs typeface="Calibri"/>
            </a:endParaRPr>
          </a:p>
          <a:p>
            <a:pPr marL="0" indent="0">
              <a:buNone/>
            </a:pPr>
            <a:endParaRPr lang="en-US" sz="2400"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4F9858F-E574-6102-A8F1-E2B70D9CF49D}"/>
              </a:ext>
            </a:extLst>
          </p:cNvPr>
          <p:cNvSpPr txBox="1">
            <a:spLocks/>
          </p:cNvSpPr>
          <p:nvPr/>
        </p:nvSpPr>
        <p:spPr>
          <a:xfrm>
            <a:off x="1524000" y="2288486"/>
            <a:ext cx="9735951" cy="35115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>
              <a:latin typeface="Calibri Light"/>
              <a:cs typeface="Calibri"/>
            </a:endParaRPr>
          </a:p>
        </p:txBody>
      </p:sp>
      <p:graphicFrame>
        <p:nvGraphicFramePr>
          <p:cNvPr id="6" name="Diagram 6">
            <a:extLst>
              <a:ext uri="{FF2B5EF4-FFF2-40B4-BE49-F238E27FC236}">
                <a16:creationId xmlns:a16="http://schemas.microsoft.com/office/drawing/2014/main" id="{F88FE653-1EFA-E51B-EF21-26C6DC632B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1553308"/>
              </p:ext>
            </p:extLst>
          </p:nvPr>
        </p:nvGraphicFramePr>
        <p:xfrm>
          <a:off x="3342968" y="1938184"/>
          <a:ext cx="5825612" cy="3860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19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1054121"/>
            <a:ext cx="9465131" cy="1184111"/>
          </a:xfrm>
        </p:spPr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Understanding the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465564" cy="340096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>
              <a:cs typeface="Calibri"/>
            </a:endParaRPr>
          </a:p>
          <a:p>
            <a:endParaRPr lang="en-US" sz="2400">
              <a:cs typeface="Calibri"/>
            </a:endParaRPr>
          </a:p>
        </p:txBody>
      </p:sp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74EE641E-AD69-FADE-C198-A5B2FC1E59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2145939"/>
              </p:ext>
            </p:extLst>
          </p:nvPr>
        </p:nvGraphicFramePr>
        <p:xfrm>
          <a:off x="1929581" y="1796845"/>
          <a:ext cx="4768645" cy="3860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97" name="Picture 797">
            <a:extLst>
              <a:ext uri="{FF2B5EF4-FFF2-40B4-BE49-F238E27FC236}">
                <a16:creationId xmlns:a16="http://schemas.microsoft.com/office/drawing/2014/main" id="{BE9653CD-CB44-968E-2F58-6879133DDA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384" y="3943965"/>
            <a:ext cx="1956620" cy="1962765"/>
          </a:xfrm>
          <a:prstGeom prst="rect">
            <a:avLst/>
          </a:prstGeom>
        </p:spPr>
      </p:pic>
      <p:pic>
        <p:nvPicPr>
          <p:cNvPr id="798" name="Picture 798" descr="A picture containing sport, exercise device, automaton&#10;&#10;Description automatically generated">
            <a:extLst>
              <a:ext uri="{FF2B5EF4-FFF2-40B4-BE49-F238E27FC236}">
                <a16:creationId xmlns:a16="http://schemas.microsoft.com/office/drawing/2014/main" id="{ACACB81C-7868-6362-0083-F8BDEEA29D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4948" y="3378581"/>
            <a:ext cx="2743200" cy="1821485"/>
          </a:xfrm>
          <a:prstGeom prst="rect">
            <a:avLst/>
          </a:prstGeom>
        </p:spPr>
      </p:pic>
      <p:pic>
        <p:nvPicPr>
          <p:cNvPr id="806" name="Picture 806" descr="A picture containing sport, exercise device&#10;&#10;Description automatically generated">
            <a:extLst>
              <a:ext uri="{FF2B5EF4-FFF2-40B4-BE49-F238E27FC236}">
                <a16:creationId xmlns:a16="http://schemas.microsoft.com/office/drawing/2014/main" id="{BB38BE0B-1619-CD15-3F4E-7173DF88426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9448" y="2192769"/>
            <a:ext cx="3566651" cy="145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1054121"/>
            <a:ext cx="9465131" cy="1184111"/>
          </a:xfrm>
        </p:spPr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Understanding FDA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465564" cy="340096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>
              <a:cs typeface="Calibri"/>
            </a:endParaRPr>
          </a:p>
          <a:p>
            <a:endParaRPr lang="en-US" sz="2400">
              <a:cs typeface="Calibri"/>
            </a:endParaRPr>
          </a:p>
        </p:txBody>
      </p:sp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31CF3423-BD41-B95C-D710-464CCAB761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0890495"/>
              </p:ext>
            </p:extLst>
          </p:nvPr>
        </p:nvGraphicFramePr>
        <p:xfrm>
          <a:off x="1678329" y="2140352"/>
          <a:ext cx="9934936" cy="3570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802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1054121"/>
            <a:ext cx="9465131" cy="1184111"/>
          </a:xfrm>
        </p:spPr>
        <p:txBody>
          <a:bodyPr>
            <a:normAutofit fontScale="90000"/>
          </a:bodyPr>
          <a:lstStyle/>
          <a:p>
            <a:r>
              <a:rPr lang="en-US" b="1">
                <a:cs typeface="Calibri Light"/>
              </a:rPr>
              <a:t>Recommendation Step 1</a:t>
            </a:r>
            <a:br>
              <a:rPr lang="en-US" b="1">
                <a:cs typeface="Calibri Light"/>
              </a:rPr>
            </a:br>
            <a:r>
              <a:rPr lang="en-US" b="1" i="1">
                <a:cs typeface="Calibri Light"/>
              </a:rPr>
              <a:t>Pre-Market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465564" cy="340096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>
              <a:cs typeface="Calibri"/>
            </a:endParaRPr>
          </a:p>
          <a:p>
            <a:endParaRPr lang="en-US" sz="2400"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75D4814-0E1C-FEA2-E055-F5C58EBE3975}"/>
              </a:ext>
            </a:extLst>
          </p:cNvPr>
          <p:cNvSpPr txBox="1">
            <a:spLocks/>
          </p:cNvSpPr>
          <p:nvPr/>
        </p:nvSpPr>
        <p:spPr>
          <a:xfrm>
            <a:off x="1524000" y="2399099"/>
            <a:ext cx="9735951" cy="367555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Proof of concept will require protocol, target population, and intended outcomes</a:t>
            </a:r>
            <a:endParaRPr lang="en-US">
              <a:cs typeface="Calibri" panose="020F0502020204030204"/>
            </a:endParaRPr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Combined safety study</a:t>
            </a:r>
            <a:endParaRPr lang="en-US"/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Take into account FDA’s feedback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Answer the ‘what’ (Diagnose, treat, and measures) and lay out the ‘design controls’</a:t>
            </a:r>
            <a:endParaRPr lang="en-US">
              <a:cs typeface="Calibri" panose="020F0502020204030204"/>
            </a:endParaRPr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Check for bench testing and provide documentation for verification testing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What data currently exists? How are they testing? Documentation of testing + protocol?</a:t>
            </a:r>
          </a:p>
          <a:p>
            <a:pPr marL="9715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Bring in additional help; how have you tried to raise money so far? Who have you reached out to among investors?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Will need to make connections; consult a think tank potentially 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Consider an ‘investor pitch deck’; great insight of what investors typically ask</a:t>
            </a:r>
          </a:p>
        </p:txBody>
      </p:sp>
    </p:spTree>
    <p:extLst>
      <p:ext uri="{BB962C8B-B14F-4D97-AF65-F5344CB8AC3E}">
        <p14:creationId xmlns:p14="http://schemas.microsoft.com/office/powerpoint/2010/main" val="244277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1054121"/>
            <a:ext cx="9465131" cy="1184111"/>
          </a:xfrm>
        </p:spPr>
        <p:txBody>
          <a:bodyPr>
            <a:normAutofit/>
          </a:bodyPr>
          <a:lstStyle/>
          <a:p>
            <a:r>
              <a:rPr lang="en-US" b="1">
                <a:cs typeface="Calibri Light"/>
              </a:rPr>
              <a:t>Recommendation 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465564" cy="340096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>
              <a:cs typeface="Calibri"/>
            </a:endParaRPr>
          </a:p>
          <a:p>
            <a:endParaRPr lang="en-US" sz="2400"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600BAF-16E3-322E-B621-BC129D0835ED}"/>
              </a:ext>
            </a:extLst>
          </p:cNvPr>
          <p:cNvSpPr txBox="1">
            <a:spLocks/>
          </p:cNvSpPr>
          <p:nvPr/>
        </p:nvSpPr>
        <p:spPr>
          <a:xfrm>
            <a:off x="1524000" y="2399099"/>
            <a:ext cx="9735951" cy="35115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latin typeface="Calibri Light"/>
              <a:cs typeface="Arial"/>
            </a:endParaRPr>
          </a:p>
          <a:p>
            <a:pPr marL="0" indent="0">
              <a:buNone/>
            </a:pPr>
            <a:endParaRPr lang="en-US">
              <a:latin typeface="Calibri Light"/>
              <a:cs typeface="Arial"/>
            </a:endParaRPr>
          </a:p>
          <a:p>
            <a:pPr marL="0" indent="0">
              <a:buNone/>
            </a:pPr>
            <a:endParaRPr lang="en-US">
              <a:latin typeface="Calibri Light"/>
              <a:cs typeface="Arial"/>
            </a:endParaRPr>
          </a:p>
          <a:p>
            <a:pPr marL="0" indent="0">
              <a:buNone/>
            </a:pPr>
            <a:endParaRPr lang="en-US">
              <a:latin typeface="Calibri Light"/>
              <a:cs typeface="Arial"/>
            </a:endParaRPr>
          </a:p>
          <a:p>
            <a:pPr marL="0" indent="0">
              <a:buNone/>
            </a:pPr>
            <a:endParaRPr lang="en-US">
              <a:latin typeface="Calibri Light"/>
              <a:cs typeface="Arial"/>
            </a:endParaRPr>
          </a:p>
          <a:p>
            <a:pPr marL="0" indent="0">
              <a:buNone/>
            </a:pPr>
            <a:endParaRPr lang="en-US">
              <a:latin typeface="Calibri Light"/>
              <a:cs typeface="Arial"/>
            </a:endParaRPr>
          </a:p>
        </p:txBody>
      </p:sp>
      <p:graphicFrame>
        <p:nvGraphicFramePr>
          <p:cNvPr id="4" name="Diagram 5">
            <a:extLst>
              <a:ext uri="{FF2B5EF4-FFF2-40B4-BE49-F238E27FC236}">
                <a16:creationId xmlns:a16="http://schemas.microsoft.com/office/drawing/2014/main" id="{5C773954-5890-994E-6A7D-894846BCA0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9955189"/>
              </p:ext>
            </p:extLst>
          </p:nvPr>
        </p:nvGraphicFramePr>
        <p:xfrm>
          <a:off x="3450683" y="2027664"/>
          <a:ext cx="4770244" cy="3521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5960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1054121"/>
            <a:ext cx="9465131" cy="1184111"/>
          </a:xfrm>
        </p:spPr>
        <p:txBody>
          <a:bodyPr>
            <a:normAutofit fontScale="90000"/>
          </a:bodyPr>
          <a:lstStyle/>
          <a:p>
            <a:r>
              <a:rPr lang="en-US" b="1">
                <a:cs typeface="Calibri Light"/>
              </a:rPr>
              <a:t>Recommendation Step 3</a:t>
            </a:r>
            <a:br>
              <a:rPr lang="en-US" b="1">
                <a:cs typeface="Calibri Light"/>
              </a:rPr>
            </a:br>
            <a:r>
              <a:rPr lang="en-US" b="1" i="1">
                <a:cs typeface="Calibri Light"/>
              </a:rPr>
              <a:t>Market Entry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465564" cy="340096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>
              <a:cs typeface="Calibri"/>
            </a:endParaRPr>
          </a:p>
          <a:p>
            <a:endParaRPr lang="en-US" sz="2400"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EAD0A5-5D84-A494-1F73-7B59F5A469E7}"/>
              </a:ext>
            </a:extLst>
          </p:cNvPr>
          <p:cNvSpPr txBox="1">
            <a:spLocks/>
          </p:cNvSpPr>
          <p:nvPr/>
        </p:nvSpPr>
        <p:spPr>
          <a:xfrm>
            <a:off x="1524000" y="2399099"/>
            <a:ext cx="9735951" cy="35115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Calibri Light"/>
                <a:cs typeface="Arial"/>
              </a:rPr>
              <a:t>Enter New York as first market in the US</a:t>
            </a:r>
            <a:endParaRPr lang="en-US">
              <a:latin typeface="Calibri" panose="020F0502020204030204"/>
              <a:cs typeface="Calibri" panose="020F0502020204030204"/>
            </a:endParaRPr>
          </a:p>
          <a:p>
            <a:endParaRPr lang="en-US">
              <a:cs typeface="Calibri"/>
            </a:endParaRPr>
          </a:p>
        </p:txBody>
      </p:sp>
      <p:graphicFrame>
        <p:nvGraphicFramePr>
          <p:cNvPr id="116" name="Table 116">
            <a:extLst>
              <a:ext uri="{FF2B5EF4-FFF2-40B4-BE49-F238E27FC236}">
                <a16:creationId xmlns:a16="http://schemas.microsoft.com/office/drawing/2014/main" id="{CEDA6EE1-4EA7-4100-FCFB-4B1A43530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251709"/>
              </p:ext>
            </p:extLst>
          </p:nvPr>
        </p:nvGraphicFramePr>
        <p:xfrm>
          <a:off x="2611693" y="2839064"/>
          <a:ext cx="7854806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7403">
                  <a:extLst>
                    <a:ext uri="{9D8B030D-6E8A-4147-A177-3AD203B41FA5}">
                      <a16:colId xmlns:a16="http://schemas.microsoft.com/office/drawing/2014/main" val="2721812752"/>
                    </a:ext>
                  </a:extLst>
                </a:gridCol>
                <a:gridCol w="3927403">
                  <a:extLst>
                    <a:ext uri="{9D8B030D-6E8A-4147-A177-3AD203B41FA5}">
                      <a16:colId xmlns:a16="http://schemas.microsoft.com/office/drawing/2014/main" val="54570607"/>
                    </a:ext>
                  </a:extLst>
                </a:gridCol>
              </a:tblGrid>
              <a:tr h="35641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Hospital for Special 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New York Presbyterian Hospital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473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 Light"/>
                        </a:rPr>
                        <a:t>                            5 Teams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 Light"/>
                        </a:rPr>
                        <a:t>NY Mets (MLB)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 Light"/>
                        </a:rPr>
                        <a:t>NY Knicks and NJ Nets (NBA)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 Light"/>
                        </a:rPr>
                        <a:t>NY Red Bulls (MLS)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 Light"/>
                        </a:rPr>
                        <a:t>NY Liberty (WNBA)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 Light"/>
                        </a:rPr>
                        <a:t>                            3 Teams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 Light"/>
                        </a:rPr>
                        <a:t>NY Yankees (MLB)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 Light"/>
                        </a:rPr>
                        <a:t>NY Giants (NFL)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 Light"/>
                        </a:rPr>
                        <a:t>NYC FC (MLS)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60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#1 Orthopedic Residency Hospital in 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#7 Orthopedic Residency Hospital in 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89267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/>
                        <a:t>- HSS Educational Institute</a:t>
                      </a:r>
                    </a:p>
                    <a:p>
                      <a:pPr lvl="0">
                        <a:buNone/>
                      </a:pPr>
                      <a:r>
                        <a:rPr lang="en-US" b="0"/>
                        <a:t>- HSS Research Institute</a:t>
                      </a:r>
                    </a:p>
                    <a:p>
                      <a:pPr lvl="0">
                        <a:buNone/>
                      </a:pPr>
                      <a:r>
                        <a:rPr lang="en-US" b="0"/>
                        <a:t>- HSS Innovation Institute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- 7 campuses around NY</a:t>
                      </a:r>
                    </a:p>
                    <a:p>
                      <a:pPr lvl="0">
                        <a:buNone/>
                      </a:pPr>
                      <a:r>
                        <a:rPr lang="en-US"/>
                        <a:t>- Over 6,500 physicians, 20,000 employees and over 2m visits annually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431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48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 descr="Yellow question mark">
            <a:extLst>
              <a:ext uri="{FF2B5EF4-FFF2-40B4-BE49-F238E27FC236}">
                <a16:creationId xmlns:a16="http://schemas.microsoft.com/office/drawing/2014/main" id="{818DC982-C187-A41B-D333-840D4CF83E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2" b="6263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6D7930-D0DF-B292-1188-F20E3A11C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1122363"/>
            <a:ext cx="9795637" cy="2220775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  <a:cs typeface="Calibri Light"/>
              </a:rPr>
              <a:t>Questions?</a:t>
            </a:r>
            <a:endParaRPr lang="en-US" sz="52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3772A-6697-A925-FB04-4683AE213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181" y="3514853"/>
            <a:ext cx="9795637" cy="2057043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52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1054121"/>
            <a:ext cx="9465131" cy="1184111"/>
          </a:xfrm>
        </p:spPr>
        <p:txBody>
          <a:bodyPr>
            <a:normAutofit/>
          </a:bodyPr>
          <a:lstStyle/>
          <a:p>
            <a:r>
              <a:rPr lang="en-US" b="1" i="1" dirty="0">
                <a:cs typeface="Calibri Light"/>
              </a:rPr>
              <a:t>Appendix of Resources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465564" cy="340096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EAD0A5-5D84-A494-1F73-7B59F5A469E7}"/>
              </a:ext>
            </a:extLst>
          </p:cNvPr>
          <p:cNvSpPr txBox="1">
            <a:spLocks/>
          </p:cNvSpPr>
          <p:nvPr/>
        </p:nvSpPr>
        <p:spPr>
          <a:xfrm>
            <a:off x="1524000" y="2399099"/>
            <a:ext cx="9735951" cy="35115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dirty="0"/>
              <a:t>Atlantic Health. (n.d.). </a:t>
            </a:r>
            <a:r>
              <a:rPr lang="en-US" i="1" dirty="0"/>
              <a:t>New York Jets Partnership - Atlantic Health</a:t>
            </a:r>
            <a:r>
              <a:rPr lang="en-US" dirty="0"/>
              <a:t>. Retrieved June 17, 2022, from </a:t>
            </a:r>
            <a:r>
              <a:rPr lang="en-US" u="sng" dirty="0">
                <a:hlinkClick r:id="rId3"/>
              </a:rPr>
              <a:t>https://www.atlantichealth.org/about-us/partnerships/ny-jets-partnership.html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Atlantic Yards Report. (2020, November 11). </a:t>
            </a:r>
            <a:r>
              <a:rPr lang="en-US" i="1" dirty="0"/>
              <a:t>The Barclays Center, the Brooklyn Nets, and three hospitals pursuing sponsorships</a:t>
            </a:r>
            <a:r>
              <a:rPr lang="en-US" dirty="0"/>
              <a:t>. Retrieved June 14, 2022, from </a:t>
            </a:r>
            <a:r>
              <a:rPr lang="en-US" u="sng" dirty="0">
                <a:hlinkClick r:id="rId4"/>
              </a:rPr>
              <a:t>https://atlanticyardsreport.blogspot.com/2019/12/the-barclays-center-brooklyn-nets-and.html</a:t>
            </a:r>
            <a:r>
              <a:rPr lang="en-US" dirty="0"/>
              <a:t> </a:t>
            </a:r>
          </a:p>
          <a:p>
            <a:pPr fontAlgn="base"/>
            <a:r>
              <a:rPr lang="en-US" dirty="0" err="1"/>
              <a:t>Biodex</a:t>
            </a:r>
            <a:r>
              <a:rPr lang="en-US" dirty="0"/>
              <a:t> Medical Systems Inc. (n.d.). </a:t>
            </a:r>
            <a:r>
              <a:rPr lang="en-US" i="1" dirty="0"/>
              <a:t>Balance </a:t>
            </a:r>
            <a:r>
              <a:rPr lang="en-US" i="1" dirty="0" err="1"/>
              <a:t>System</a:t>
            </a:r>
            <a:r>
              <a:rPr lang="en-US" i="1" baseline="30000" dirty="0" err="1"/>
              <a:t>TM</a:t>
            </a:r>
            <a:r>
              <a:rPr lang="en-US" i="1" dirty="0"/>
              <a:t> SD - Balance - Physical Medicine | </a:t>
            </a:r>
            <a:r>
              <a:rPr lang="en-US" i="1" dirty="0" err="1"/>
              <a:t>Biodex</a:t>
            </a:r>
            <a:r>
              <a:rPr lang="en-US" dirty="0"/>
              <a:t>. </a:t>
            </a:r>
            <a:r>
              <a:rPr lang="en-US" dirty="0" err="1"/>
              <a:t>Biodex</a:t>
            </a:r>
            <a:r>
              <a:rPr lang="en-US" dirty="0"/>
              <a:t> Medical Systems. Retrieved June 15, 2022, from </a:t>
            </a:r>
            <a:r>
              <a:rPr lang="en-US" u="sng" dirty="0">
                <a:hlinkClick r:id="rId5"/>
              </a:rPr>
              <a:t>https://www.biodex.com/physical-medicine/products/balance/balance-system-sd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Center for Devices and Radiological Health. “QS Regs for Device Good Manufacturing Practices.” U.S. Food and Drug Administration, FDA, </a:t>
            </a:r>
            <a:r>
              <a:rPr lang="en-US" dirty="0">
                <a:hlinkClick r:id="rId6"/>
              </a:rPr>
              <a:t>https://www.fda.gov/medical-devices/postmarket-requirements-devices/quality-system-qs-regulationmedical-device-good-manufacturing-practices</a:t>
            </a:r>
            <a:r>
              <a:rPr lang="en-US" dirty="0"/>
              <a:t>.  </a:t>
            </a:r>
          </a:p>
          <a:p>
            <a:pPr fontAlgn="base"/>
            <a:r>
              <a:rPr lang="en-US" dirty="0"/>
              <a:t>“CFR - Code of Federal Regulations Title 21.” </a:t>
            </a:r>
            <a:r>
              <a:rPr lang="en-US" dirty="0" err="1"/>
              <a:t>Accessdata.fda.gov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https://www.accessdata.fda.gov/scripts/cdrh/cfdocs/cfcfr/CFRSearch.cfm?CFRPart=890&amp;showFR=1&amp;subpartNode=21%3A8.0.1.1.32.6</a:t>
            </a:r>
            <a:r>
              <a:rPr lang="en-US" dirty="0"/>
              <a:t>.  </a:t>
            </a:r>
          </a:p>
          <a:p>
            <a:pPr fontAlgn="base"/>
            <a:r>
              <a:rPr lang="en-US" dirty="0"/>
              <a:t>Chase, Tony, and Donna </a:t>
            </a:r>
            <a:r>
              <a:rPr lang="en-US" dirty="0" err="1"/>
              <a:t>Haire</a:t>
            </a:r>
            <a:r>
              <a:rPr lang="en-US" dirty="0"/>
              <a:t>. “Interview with Donna </a:t>
            </a:r>
            <a:r>
              <a:rPr lang="en-US" dirty="0" err="1"/>
              <a:t>Haire</a:t>
            </a:r>
            <a:r>
              <a:rPr lang="en-US" dirty="0"/>
              <a:t>; CEO, The </a:t>
            </a:r>
            <a:r>
              <a:rPr lang="en-US" dirty="0" err="1"/>
              <a:t>Eriah</a:t>
            </a:r>
            <a:r>
              <a:rPr lang="en-US" dirty="0"/>
              <a:t> Group - Global Regulatory, Quality, Clinical, &amp; Medical Affairs Consulting.” 27 June 2022. </a:t>
            </a:r>
          </a:p>
          <a:p>
            <a:pPr fontAlgn="base"/>
            <a:r>
              <a:rPr lang="en-US" dirty="0"/>
              <a:t>ESPN. (n.d.). </a:t>
            </a:r>
            <a:r>
              <a:rPr lang="en-US" i="1" dirty="0"/>
              <a:t>WNBA Teams</a:t>
            </a:r>
            <a:r>
              <a:rPr lang="en-US" dirty="0"/>
              <a:t>. </a:t>
            </a:r>
            <a:r>
              <a:rPr lang="en-US" dirty="0" err="1"/>
              <a:t>ESPN.Com</a:t>
            </a:r>
            <a:r>
              <a:rPr lang="en-US" dirty="0"/>
              <a:t>. Retrieved June 4, 2022, from </a:t>
            </a:r>
            <a:r>
              <a:rPr lang="en-US" u="sng" dirty="0">
                <a:hlinkClick r:id="rId8"/>
              </a:rPr>
              <a:t>https://www.espn.com/wnba/teams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Gotham FC. (n.d.). </a:t>
            </a:r>
            <a:r>
              <a:rPr lang="en-US" i="1" dirty="0"/>
              <a:t>Partners</a:t>
            </a:r>
            <a:r>
              <a:rPr lang="en-US" dirty="0"/>
              <a:t>. Retrieved June 15, 2022, from </a:t>
            </a:r>
            <a:r>
              <a:rPr lang="en-US" u="sng" dirty="0">
                <a:hlinkClick r:id="rId9"/>
              </a:rPr>
              <a:t>https://www.gothamfc.com/partners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Health Products For You. (n.d.). </a:t>
            </a:r>
            <a:r>
              <a:rPr lang="en-US" i="1" dirty="0"/>
              <a:t>Home Health Care Products &amp; Medical Supplies</a:t>
            </a:r>
            <a:r>
              <a:rPr lang="en-US" dirty="0"/>
              <a:t>. Retrieved June 20, 2022, from </a:t>
            </a:r>
            <a:r>
              <a:rPr lang="en-US" u="sng" dirty="0">
                <a:hlinkClick r:id="rId10"/>
              </a:rPr>
              <a:t>https://www.healthproductsforyou.com/error404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Hospital for Special Surgery. (n.d.). </a:t>
            </a:r>
            <a:r>
              <a:rPr lang="en-US" i="1" dirty="0"/>
              <a:t>Your Partner in Musculoskeletal Health</a:t>
            </a:r>
            <a:r>
              <a:rPr lang="en-US" dirty="0"/>
              <a:t>. Retrieved June 21, 2022, from </a:t>
            </a:r>
            <a:r>
              <a:rPr lang="en-US" u="sng" dirty="0">
                <a:hlinkClick r:id="rId11"/>
              </a:rPr>
              <a:t>https://www.hss.edu/professional.asp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Hospital for Special Surgery. (2019, September 5). </a:t>
            </a:r>
            <a:r>
              <a:rPr lang="en-US" i="1" dirty="0"/>
              <a:t>The New York Knicks and Hospital for Special Surgery Announce Renewed and Expanded Multi-Year Marketing Partnership</a:t>
            </a:r>
            <a:r>
              <a:rPr lang="en-US" dirty="0"/>
              <a:t>. Retrieved June 15, 2022, from </a:t>
            </a:r>
            <a:r>
              <a:rPr lang="en-US" u="sng" dirty="0">
                <a:hlinkClick r:id="rId12"/>
              </a:rPr>
              <a:t>https://news.hss.edu/the-new-york-knicks-and-hospital-for-special-surgery-announce-renewed-and-expanded-multi-year-marketing-partnership/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“Industry Market Research, Reports, and Statistics.” IBISWorld, </a:t>
            </a:r>
            <a:r>
              <a:rPr lang="en-US" dirty="0">
                <a:hlinkClick r:id="rId13"/>
              </a:rPr>
              <a:t>https://www.ibisworld.com/industry-statistics/market-size/colleges-universities-united-states/</a:t>
            </a:r>
            <a:r>
              <a:rPr lang="en-US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599431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7">
            <a:extLst>
              <a:ext uri="{FF2B5EF4-FFF2-40B4-BE49-F238E27FC236}">
                <a16:creationId xmlns:a16="http://schemas.microsoft.com/office/drawing/2014/main" id="{85016AEC-0320-4ED0-8ECB-FE11DDDFE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9">
            <a:extLst>
              <a:ext uri="{FF2B5EF4-FFF2-40B4-BE49-F238E27FC236}">
                <a16:creationId xmlns:a16="http://schemas.microsoft.com/office/drawing/2014/main" id="{D3CDB30C-1F82-41E6-A067-831D6E891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11">
            <a:extLst>
              <a:ext uri="{FF2B5EF4-FFF2-40B4-BE49-F238E27FC236}">
                <a16:creationId xmlns:a16="http://schemas.microsoft.com/office/drawing/2014/main" id="{2DDA86DD-F997-4F66-A87C-5B58AB6D1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91540"/>
            <a:ext cx="722376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D241B827-437E-40A3-A732-669230D6A5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2435" y="891540"/>
            <a:ext cx="10989565" cy="507111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15B69-0567-2222-0372-02A14A129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4" y="1054121"/>
            <a:ext cx="9465131" cy="1184111"/>
          </a:xfrm>
        </p:spPr>
        <p:txBody>
          <a:bodyPr>
            <a:normAutofit/>
          </a:bodyPr>
          <a:lstStyle/>
          <a:p>
            <a:r>
              <a:rPr lang="en-US" b="1" i="1" dirty="0">
                <a:cs typeface="Calibri Light"/>
              </a:rPr>
              <a:t>Appendix of Resources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3D0A-2203-8C0E-FC9B-E8B6734D6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399099"/>
            <a:ext cx="9465564" cy="3400969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EAD0A5-5D84-A494-1F73-7B59F5A469E7}"/>
              </a:ext>
            </a:extLst>
          </p:cNvPr>
          <p:cNvSpPr txBox="1">
            <a:spLocks/>
          </p:cNvSpPr>
          <p:nvPr/>
        </p:nvSpPr>
        <p:spPr>
          <a:xfrm>
            <a:off x="1524000" y="2399099"/>
            <a:ext cx="9735951" cy="35115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dirty="0"/>
              <a:t>Major League Baseball. (2019, April 18). </a:t>
            </a:r>
            <a:r>
              <a:rPr lang="en-US" i="1" dirty="0"/>
              <a:t>The New York Mets extend partnership with Hospital for Special Surgery to be the presenting partner of the Mets Academy in the Dominican Republic</a:t>
            </a:r>
            <a:r>
              <a:rPr lang="en-US" dirty="0"/>
              <a:t>. </a:t>
            </a:r>
            <a:r>
              <a:rPr lang="en-US" dirty="0" err="1"/>
              <a:t>MLB.Com</a:t>
            </a:r>
            <a:r>
              <a:rPr lang="en-US" dirty="0"/>
              <a:t>. Retrieved June 18, 2022, from </a:t>
            </a:r>
            <a:r>
              <a:rPr lang="en-US" u="sng" dirty="0">
                <a:hlinkClick r:id="rId3"/>
              </a:rPr>
              <a:t>https://www.mlb.com/press-release/mets-extend-partnership-with-hospital-for-special-surgery</a:t>
            </a:r>
            <a:r>
              <a:rPr lang="en-US" dirty="0"/>
              <a:t> </a:t>
            </a:r>
          </a:p>
          <a:p>
            <a:pPr fontAlgn="base"/>
            <a:r>
              <a:rPr lang="en-US" dirty="0" err="1"/>
              <a:t>Medisport</a:t>
            </a:r>
            <a:r>
              <a:rPr lang="en-US" dirty="0"/>
              <a:t>. (n.d.). </a:t>
            </a:r>
            <a:r>
              <a:rPr lang="en-US" i="1" dirty="0"/>
              <a:t>MEDISLIPPER 1000 ACTIVE/PASSIVE</a:t>
            </a:r>
            <a:r>
              <a:rPr lang="en-US" dirty="0"/>
              <a:t>. Retrieved June 17, 2022, from </a:t>
            </a:r>
            <a:r>
              <a:rPr lang="en-US" u="sng" dirty="0">
                <a:hlinkClick r:id="rId4"/>
              </a:rPr>
              <a:t>https://www.medisport.it/site/en/MedisportElettromedicale?sku=EL202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MLB. (n.d.). </a:t>
            </a:r>
            <a:r>
              <a:rPr lang="en-US" i="1" dirty="0"/>
              <a:t>The Official Site of Major League Baseball</a:t>
            </a:r>
            <a:r>
              <a:rPr lang="en-US" dirty="0"/>
              <a:t>. </a:t>
            </a:r>
            <a:r>
              <a:rPr lang="en-US" dirty="0" err="1"/>
              <a:t>MLB.Com</a:t>
            </a:r>
            <a:r>
              <a:rPr lang="en-US" dirty="0"/>
              <a:t>. Retrieved June 2, 2022, from </a:t>
            </a:r>
            <a:r>
              <a:rPr lang="en-US" u="sng" dirty="0">
                <a:hlinkClick r:id="rId5"/>
              </a:rPr>
              <a:t>https://www.mlb.com/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Mordor Intelligence. (n.d.). </a:t>
            </a:r>
            <a:r>
              <a:rPr lang="en-US" i="1" dirty="0"/>
              <a:t>Rehabilitation Equipment Market Size, Trends, Analysis (2022 - 27)</a:t>
            </a:r>
            <a:r>
              <a:rPr lang="en-US" dirty="0"/>
              <a:t>. Retrieved June 2, 2022, from </a:t>
            </a:r>
            <a:r>
              <a:rPr lang="en-US" u="sng" dirty="0">
                <a:hlinkClick r:id="rId6"/>
              </a:rPr>
              <a:t>https://www.mordorintelligence.com/industry-reports/rehabilitation-equipment-market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National Women’s Soccer League. (n.d.). </a:t>
            </a:r>
            <a:r>
              <a:rPr lang="en-US" i="1" dirty="0"/>
              <a:t>National Women’s Soccer League Official Site | NWSL</a:t>
            </a:r>
            <a:r>
              <a:rPr lang="en-US" dirty="0"/>
              <a:t>. Retrieved June 5, 2022, from </a:t>
            </a:r>
            <a:r>
              <a:rPr lang="en-US" u="sng" dirty="0">
                <a:hlinkClick r:id="rId7"/>
              </a:rPr>
              <a:t>https://www.nwslsoccer.com/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NBA. (n.d.). </a:t>
            </a:r>
            <a:r>
              <a:rPr lang="en-US" i="1" dirty="0" err="1"/>
              <a:t>NBA.com</a:t>
            </a:r>
            <a:r>
              <a:rPr lang="en-US" i="1" dirty="0"/>
              <a:t> | The official site of the National Basketball Association</a:t>
            </a:r>
            <a:r>
              <a:rPr lang="en-US" dirty="0"/>
              <a:t>. Retrieved June 1, 2022, from </a:t>
            </a:r>
            <a:r>
              <a:rPr lang="en-US" u="sng" dirty="0">
                <a:hlinkClick r:id="rId8"/>
              </a:rPr>
              <a:t>https://www.nba.com/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New York Presbyterian. (n.d.-a). </a:t>
            </a:r>
            <a:r>
              <a:rPr lang="en-US" i="1" dirty="0"/>
              <a:t>About Us | </a:t>
            </a:r>
            <a:r>
              <a:rPr lang="en-US" i="1" dirty="0" err="1"/>
              <a:t>NewYork</a:t>
            </a:r>
            <a:r>
              <a:rPr lang="en-US" i="1" dirty="0"/>
              <a:t>-Presbyterian</a:t>
            </a:r>
            <a:r>
              <a:rPr lang="en-US" dirty="0"/>
              <a:t>. Retrieved June 19, 2022, from </a:t>
            </a:r>
            <a:r>
              <a:rPr lang="en-US" u="sng" dirty="0">
                <a:hlinkClick r:id="rId9"/>
              </a:rPr>
              <a:t>https://www.nyp.org/about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New York Presbyterian. (n.d.-b). </a:t>
            </a:r>
            <a:r>
              <a:rPr lang="en-US" i="1" dirty="0" err="1"/>
              <a:t>NewYork</a:t>
            </a:r>
            <a:r>
              <a:rPr lang="en-US" i="1" dirty="0"/>
              <a:t>-Presbyterian Sponsorships | NYP</a:t>
            </a:r>
            <a:r>
              <a:rPr lang="en-US" dirty="0"/>
              <a:t>. Retrieved June 10, 2022, from </a:t>
            </a:r>
            <a:r>
              <a:rPr lang="en-US" u="sng" dirty="0">
                <a:hlinkClick r:id="rId10"/>
              </a:rPr>
              <a:t>https://www.nyp.org/sponsorships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“Procurement.” University of North Carolina at Chapel Hill - Knowledge Base, </a:t>
            </a:r>
            <a:r>
              <a:rPr lang="en-US" dirty="0">
                <a:hlinkClick r:id="rId11"/>
              </a:rPr>
              <a:t>https://policies.unc.edu/TDClient/2833/Portal/KB/?CategoryID=21547</a:t>
            </a:r>
            <a:r>
              <a:rPr lang="en-US" dirty="0"/>
              <a:t>. </a:t>
            </a:r>
          </a:p>
          <a:p>
            <a:pPr fontAlgn="base"/>
            <a:r>
              <a:rPr lang="en-US" dirty="0" err="1"/>
              <a:t>RyOrtho</a:t>
            </a:r>
            <a:r>
              <a:rPr lang="en-US" dirty="0"/>
              <a:t>. (2009, July 21). </a:t>
            </a:r>
            <a:r>
              <a:rPr lang="en-US" i="1" dirty="0"/>
              <a:t>The Best Orthopedic Hospitals in America</a:t>
            </a:r>
            <a:r>
              <a:rPr lang="en-US" dirty="0"/>
              <a:t>. Orthopedics This Week. Retrieved June 16, 2022, from </a:t>
            </a:r>
            <a:r>
              <a:rPr lang="en-US" u="sng" dirty="0">
                <a:hlinkClick r:id="rId12"/>
              </a:rPr>
              <a:t>https://ryortho.com/2009/07/the-best-orthopedic-hospitals-in-america/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Stadium Maps. (2021, July 9). </a:t>
            </a:r>
            <a:r>
              <a:rPr lang="en-US" i="1" dirty="0"/>
              <a:t>A breakdown of all 151 Major League Sports franchise locations by city</a:t>
            </a:r>
            <a:r>
              <a:rPr lang="en-US" dirty="0"/>
              <a:t>. Retrieved June 3, 2022, from </a:t>
            </a:r>
            <a:r>
              <a:rPr lang="en-US" u="sng" dirty="0">
                <a:hlinkClick r:id="rId13"/>
              </a:rPr>
              <a:t>https://www.stadium-maps.com/facts/sports-franchises.html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38793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438437AFB39A489816FE3F4DDD92CF" ma:contentTypeVersion="4" ma:contentTypeDescription="Create a new document." ma:contentTypeScope="" ma:versionID="7b0036360390ffbdcb6cdbed108d3f2e">
  <xsd:schema xmlns:xsd="http://www.w3.org/2001/XMLSchema" xmlns:xs="http://www.w3.org/2001/XMLSchema" xmlns:p="http://schemas.microsoft.com/office/2006/metadata/properties" xmlns:ns2="5a67f894-06cc-4d83-8f8f-615eff196a62" targetNamespace="http://schemas.microsoft.com/office/2006/metadata/properties" ma:root="true" ma:fieldsID="3ccedc563fadb880b0736f83562dd40e" ns2:_="">
    <xsd:import namespace="5a67f894-06cc-4d83-8f8f-615eff196a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67f894-06cc-4d83-8f8f-615eff196a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B437EC-2834-4CE4-AD05-0720C47D9AA6}">
  <ds:schemaRefs>
    <ds:schemaRef ds:uri="5a67f894-06cc-4d83-8f8f-615eff196a6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5430E93-A0D5-48E7-8309-D5C6685B177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E3A928B-5D4E-4E1F-8699-07EE6614A8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1636</Words>
  <Application>Microsoft Office PowerPoint</Application>
  <PresentationFormat>Widescreen</PresentationFormat>
  <Paragraphs>168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    US Market Entry</vt:lpstr>
      <vt:lpstr>Agenda</vt:lpstr>
      <vt:lpstr>Methods of Research</vt:lpstr>
      <vt:lpstr>Market Focus</vt:lpstr>
      <vt:lpstr>Understanding the Competition</vt:lpstr>
      <vt:lpstr>Understanding FDA Requirements</vt:lpstr>
      <vt:lpstr>Recommendation Step 1 Pre-Market Process</vt:lpstr>
      <vt:lpstr>Recommendation Step 2</vt:lpstr>
      <vt:lpstr>Recommendation Step 3 Market Entry Point</vt:lpstr>
      <vt:lpstr>Questions?</vt:lpstr>
      <vt:lpstr>Appendix of Resources Part 1</vt:lpstr>
      <vt:lpstr>Appendix of Resources Part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Guida</dc:creator>
  <cp:lastModifiedBy>Len Guida</cp:lastModifiedBy>
  <cp:revision>3</cp:revision>
  <dcterms:created xsi:type="dcterms:W3CDTF">2022-06-05T23:44:19Z</dcterms:created>
  <dcterms:modified xsi:type="dcterms:W3CDTF">2022-07-03T15:42:34Z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0x0101004B438437AFB39A489816FE3F4DDD92CF</vt:lpwstr>
  </property>
</Properties>
</file>